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2" r:id="rId1"/>
  </p:sldMasterIdLst>
  <p:notesMasterIdLst>
    <p:notesMasterId r:id="rId14"/>
  </p:notesMasterIdLst>
  <p:sldIdLst>
    <p:sldId id="256" r:id="rId2"/>
    <p:sldId id="269" r:id="rId3"/>
    <p:sldId id="296" r:id="rId4"/>
    <p:sldId id="398" r:id="rId5"/>
    <p:sldId id="395" r:id="rId6"/>
    <p:sldId id="387" r:id="rId7"/>
    <p:sldId id="355" r:id="rId8"/>
    <p:sldId id="350" r:id="rId9"/>
    <p:sldId id="361" r:id="rId10"/>
    <p:sldId id="392" r:id="rId11"/>
    <p:sldId id="272" r:id="rId12"/>
    <p:sldId id="268" r:id="rId1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96" autoAdjust="0"/>
    <p:restoredTop sz="89778" autoAdjust="0"/>
  </p:normalViewPr>
  <p:slideViewPr>
    <p:cSldViewPr>
      <p:cViewPr varScale="1">
        <p:scale>
          <a:sx n="125" d="100"/>
          <a:sy n="125" d="100"/>
        </p:scale>
        <p:origin x="-142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D8348-8BBD-40CC-ACD4-38785057F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5248"/>
            <a:ext cx="7772400" cy="978408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352800"/>
            <a:ext cx="7772400" cy="87782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9141"/>
            <a:ext cx="7770813" cy="425702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67200"/>
            <a:ext cx="7772400" cy="977153"/>
          </a:xfrm>
        </p:spPr>
        <p:txBody>
          <a:bodyPr anchor="b" anchorCtr="0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5257800"/>
            <a:ext cx="7770813" cy="874058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 rot="21540000">
            <a:off x="2056196" y="424650"/>
            <a:ext cx="5031609" cy="337580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0813" cy="1743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756647"/>
            <a:ext cx="7770813" cy="12819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4733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5526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5526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86205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36966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5" y="971550"/>
            <a:ext cx="3657600" cy="116205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457200"/>
            <a:ext cx="3657600" cy="56689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5" y="2133601"/>
            <a:ext cx="3657600" cy="358140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082" y="969264"/>
            <a:ext cx="3657600" cy="1161288"/>
          </a:xfrm>
        </p:spPr>
        <p:txBody>
          <a:bodyPr anchor="b">
            <a:noAutofit/>
          </a:bodyPr>
          <a:lstStyle>
            <a:lvl1pPr algn="l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63388" y="510988"/>
            <a:ext cx="3657600" cy="5553636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853" y="2130552"/>
            <a:ext cx="3657600" cy="3584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1376"/>
            <a:ext cx="7776882" cy="1014984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457199"/>
            <a:ext cx="5486400" cy="3644153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5141"/>
            <a:ext cx="7776882" cy="1013011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68580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>
            <a:off x="341249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>
            <a:off x="341249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18" name="Picture Placeholder 2"/>
          <p:cNvSpPr>
            <a:spLocks noGrp="1"/>
          </p:cNvSpPr>
          <p:nvPr>
            <p:ph type="pic" idx="16"/>
          </p:nvPr>
        </p:nvSpPr>
        <p:spPr>
          <a:xfrm>
            <a:off x="613918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19" name="Picture Placeholder 2"/>
          <p:cNvSpPr>
            <a:spLocks noGrp="1"/>
          </p:cNvSpPr>
          <p:nvPr>
            <p:ph type="pic" idx="17"/>
          </p:nvPr>
        </p:nvSpPr>
        <p:spPr>
          <a:xfrm>
            <a:off x="613918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3400"/>
            <a:ext cx="1600200" cy="5592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6019800" cy="55927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2511"/>
      </p:ext>
    </p:extLst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0813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473" r:id="rId1"/>
    <p:sldLayoutId id="2147484474" r:id="rId2"/>
    <p:sldLayoutId id="2147484475" r:id="rId3"/>
    <p:sldLayoutId id="2147484476" r:id="rId4"/>
    <p:sldLayoutId id="2147484477" r:id="rId5"/>
    <p:sldLayoutId id="2147484478" r:id="rId6"/>
    <p:sldLayoutId id="2147484479" r:id="rId7"/>
    <p:sldLayoutId id="2147484480" r:id="rId8"/>
    <p:sldLayoutId id="2147484481" r:id="rId9"/>
    <p:sldLayoutId id="2147484482" r:id="rId10"/>
    <p:sldLayoutId id="2147484483" r:id="rId11"/>
    <p:sldLayoutId id="2147484484" r:id="rId12"/>
    <p:sldLayoutId id="2147484485" r:id="rId13"/>
    <p:sldLayoutId id="2147484486" r:id="rId14"/>
    <p:sldLayoutId id="2147484487" r:id="rId15"/>
    <p:sldLayoutId id="2147484488" r:id="rId16"/>
    <p:sldLayoutId id="2147484489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FontTx/>
        <a:buBlip>
          <a:blip r:embed="rId19"/>
        </a:buBlip>
        <a:defRPr sz="22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FontTx/>
        <a:buBlip>
          <a:blip r:embed="rId19"/>
        </a:buBlip>
        <a:defRPr sz="20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FontTx/>
        <a:buBlip>
          <a:blip r:embed="rId19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FontTx/>
        <a:buBlip>
          <a:blip r:embed="rId19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FontTx/>
        <a:buBlip>
          <a:blip r:embed="rId19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055813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6pPr>
      <a:lvl7pPr marL="2398713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7pPr>
      <a:lvl8pPr marL="2743200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8pPr>
      <a:lvl9pPr marL="3087688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Coptic Lesson 19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Past Continuous Tense</a:t>
            </a:r>
          </a:p>
        </p:txBody>
      </p:sp>
    </p:spTree>
  </p:cSld>
  <p:clrMapOvr>
    <a:masterClrMapping/>
  </p:clrMapOvr>
  <p:transition xmlns:p14="http://schemas.microsoft.com/office/powerpoint/2010/main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Review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318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cs typeface="Times New Roman" pitchFamily="18" charset="0"/>
              </a:rPr>
              <a:t>pictau-coou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96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/>
              <a:t>=f^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cs typeface="Times New Roman" pitchFamily="18" charset="0"/>
              </a:rPr>
              <a:t>qamne-`smyn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88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=p=y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Martyr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Cheema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[</a:t>
            </a:r>
            <a:endParaRPr lang="ar-EG" sz="4000" dirty="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Veeta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b, v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b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buClr>
                <a:schemeClr val="tx2"/>
              </a:buClr>
              <a:buSzPct val="70000"/>
              <a:tabLst>
                <a:tab pos="914400" algn="l"/>
              </a:tabLst>
            </a:pPr>
            <a:r>
              <a:rPr lang="en-US" sz="4000" dirty="0"/>
              <a:t>¢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/>
              <a:t>} ]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=t=</a:t>
            </a:r>
            <a:r>
              <a:rPr lang="en-US" sz="4000" dirty="0" err="1"/>
              <a:t>i</a:t>
            </a:r>
            <a:r>
              <a:rPr lang="en-US" sz="4000" dirty="0"/>
              <a:t>=y</a:t>
            </a: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 err="1">
                <a:latin typeface="CS Avva Shenouda" charset="0"/>
              </a:rPr>
              <a:t>marteroc</a:t>
            </a:r>
            <a:endParaRPr lang="en-US" sz="2800" dirty="0">
              <a:latin typeface="CS Avva Shenouda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Tee</a:t>
            </a: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000" dirty="0" err="1">
                <a:cs typeface="Times New Roman" pitchFamily="18" charset="0"/>
              </a:rPr>
              <a:t>Somt</a:t>
            </a:r>
            <a:r>
              <a:rPr lang="en-US" sz="2000" dirty="0">
                <a:cs typeface="Times New Roman" pitchFamily="18" charset="0"/>
              </a:rPr>
              <a:t>-se-</a:t>
            </a:r>
            <a:r>
              <a:rPr lang="en-US" sz="2000" dirty="0" err="1">
                <a:cs typeface="Times New Roman" pitchFamily="18" charset="0"/>
              </a:rPr>
              <a:t>myt</a:t>
            </a:r>
            <a:r>
              <a:rPr lang="en-US" sz="2000" dirty="0">
                <a:cs typeface="Times New Roman" pitchFamily="18" charset="0"/>
              </a:rPr>
              <a:t>-`</a:t>
            </a:r>
            <a:r>
              <a:rPr lang="en-US" sz="2000" dirty="0" err="1">
                <a:cs typeface="Times New Roman" pitchFamily="18" charset="0"/>
              </a:rPr>
              <a:t>smyn</a:t>
            </a:r>
            <a:endParaRPr lang="en-US" sz="20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248400" cy="63658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itchFamily="18" charset="0"/>
              </a:rPr>
              <a:t>Rule for the Kei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&lt;</a:t>
            </a:r>
            <a:r>
              <a:rPr lang="en-US" sz="4000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33475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&lt;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sh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429000" y="3352800"/>
            <a:ext cx="762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kh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80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3" name="Text Box 11"/>
          <p:cNvSpPr txBox="1">
            <a:spLocks noChangeArrowheads="1"/>
          </p:cNvSpPr>
          <p:nvPr/>
        </p:nvSpPr>
        <p:spPr bwMode="auto">
          <a:xfrm>
            <a:off x="3962400" y="1371600"/>
            <a:ext cx="4114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a Coptic Word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4" name="Text Box 12"/>
          <p:cNvSpPr txBox="1">
            <a:spLocks noChangeArrowheads="1"/>
          </p:cNvSpPr>
          <p:nvPr/>
        </p:nvSpPr>
        <p:spPr bwMode="auto">
          <a:xfrm>
            <a:off x="3962400" y="2362200"/>
            <a:ext cx="44196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before the e-family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4038600" y="33528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otherwise)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,ymi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,aric</a:t>
            </a:r>
          </a:p>
        </p:txBody>
      </p:sp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,ere</a:t>
            </a:r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`,rwm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Ar,y</a:t>
            </a: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24384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Mona,oc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3" name="Text Box 21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</a:t>
            </a:r>
          </a:p>
        </p:txBody>
      </p: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6781800" y="2895600"/>
            <a:ext cx="2362200" cy="120032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  <p:sp>
        <p:nvSpPr>
          <p:cNvPr id="233495" name="Text Box 23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Lu,nia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6" name="Text Box 24"/>
          <p:cNvSpPr txBox="1">
            <a:spLocks noChangeArrowheads="1"/>
          </p:cNvSpPr>
          <p:nvPr/>
        </p:nvSpPr>
        <p:spPr bwMode="auto">
          <a:xfrm>
            <a:off x="2362200" y="6156325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Pi,iwn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44958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wra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8" name="Text Box 26"/>
          <p:cNvSpPr txBox="1">
            <a:spLocks noChangeArrowheads="1"/>
          </p:cNvSpPr>
          <p:nvPr/>
        </p:nvSpPr>
        <p:spPr bwMode="auto">
          <a:xfrm>
            <a:off x="6324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79" grpId="0"/>
      <p:bldP spid="233483" grpId="0"/>
      <p:bldP spid="233485" grpId="0"/>
      <p:bldP spid="233486" grpId="0"/>
      <p:bldP spid="233487" grpId="0"/>
      <p:bldP spid="233489" grpId="0"/>
      <p:bldP spid="233492" grpId="0"/>
      <p:bldP spid="233493" grpId="0"/>
      <p:bldP spid="233494" grpId="0" animBg="1"/>
      <p:bldP spid="233495" grpId="0"/>
      <p:bldP spid="233496" grpId="0"/>
      <p:bldP spid="233497" grpId="0"/>
      <p:bldP spid="23349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800600" y="35052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appear</a:t>
            </a: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295400" y="3505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ouwnh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800600" y="2667000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want </a:t>
            </a: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371600" y="2667000"/>
            <a:ext cx="2667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ouws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800600" y="1752600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open</a:t>
            </a: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600200" y="18288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ouwn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800600" y="990600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look</a:t>
            </a: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600200" y="9906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nau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800600" y="4267200"/>
            <a:ext cx="24384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send</a:t>
            </a: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371600" y="4267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ouwrp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447800" y="5029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ouwst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800600" y="5029200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worship</a:t>
            </a:r>
          </a:p>
        </p:txBody>
      </p:sp>
    </p:spTree>
    <p:extLst>
      <p:ext uri="{BB962C8B-B14F-4D97-AF65-F5344CB8AC3E}">
        <p14:creationId xmlns:p14="http://schemas.microsoft.com/office/powerpoint/2010/main" val="34492559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79" grpId="0"/>
      <p:bldP spid="249880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err="1">
                <a:latin typeface="CS Avva Shenouda" pitchFamily="34" charset="0"/>
              </a:rPr>
              <a:t>Rasi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qen</a:t>
            </a:r>
            <a:r>
              <a:rPr lang="en-US" sz="3200" dirty="0">
                <a:latin typeface="CS Avva Shenouda" pitchFamily="34" charset="0"/>
              </a:rPr>
              <a:t> `P[</a:t>
            </a:r>
            <a:r>
              <a:rPr lang="en-US" sz="3200" dirty="0" err="1">
                <a:latin typeface="CS Avva Shenouda" pitchFamily="34" charset="0"/>
              </a:rPr>
              <a:t>oic</a:t>
            </a:r>
            <a:r>
              <a:rPr lang="en-US" sz="3200" dirty="0">
                <a:latin typeface="CS Avva Shenouda" pitchFamily="34" charset="0"/>
              </a:rPr>
              <a:t> `</a:t>
            </a:r>
            <a:r>
              <a:rPr lang="en-US" sz="3200" dirty="0" err="1">
                <a:latin typeface="CS Avva Shenouda" pitchFamily="34" charset="0"/>
              </a:rPr>
              <a:t>ncyou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niben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>
                <a:solidFill>
                  <a:srgbClr val="CC3300"/>
                </a:solidFill>
              </a:rPr>
              <a:t>Rejoice in the Lord always. (Phil 4:4)</a:t>
            </a:r>
          </a:p>
          <a:p>
            <a:r>
              <a:rPr lang="en-US" sz="3200" dirty="0" err="1">
                <a:latin typeface="CS Avva Shenouda" pitchFamily="34" charset="0"/>
              </a:rPr>
              <a:t>Twbh</a:t>
            </a:r>
            <a:r>
              <a:rPr lang="en-US" sz="3200" dirty="0">
                <a:latin typeface="CS Avva Shenouda" pitchFamily="34" charset="0"/>
              </a:rPr>
              <a:t> `</a:t>
            </a:r>
            <a:r>
              <a:rPr lang="en-US" sz="3200" dirty="0" err="1">
                <a:latin typeface="CS Avva Shenouda" pitchFamily="34" charset="0"/>
              </a:rPr>
              <a:t>ejen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neten`eryou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2400" dirty="0">
                <a:solidFill>
                  <a:srgbClr val="CC3300"/>
                </a:solidFill>
              </a:rPr>
              <a:t>Pray for one another. (</a:t>
            </a:r>
            <a:r>
              <a:rPr lang="en-US" sz="2400" dirty="0" err="1">
                <a:solidFill>
                  <a:srgbClr val="CC3300"/>
                </a:solidFill>
              </a:rPr>
              <a:t>Jm</a:t>
            </a:r>
            <a:r>
              <a:rPr lang="en-US" sz="2400" dirty="0">
                <a:solidFill>
                  <a:srgbClr val="CC3300"/>
                </a:solidFill>
              </a:rPr>
              <a:t> 5:16)</a:t>
            </a:r>
          </a:p>
          <a:p>
            <a:r>
              <a:rPr lang="en-US" sz="3200" dirty="0" err="1">
                <a:latin typeface="CS Avva Shenouda" pitchFamily="34" charset="0"/>
              </a:rPr>
              <a:t>Vnou</a:t>
            </a:r>
            <a:r>
              <a:rPr lang="en-US" sz="3200" dirty="0">
                <a:latin typeface="CS Avva Shenouda" pitchFamily="34" charset="0"/>
              </a:rPr>
              <a:t>] </a:t>
            </a:r>
            <a:r>
              <a:rPr lang="en-US" sz="3200" dirty="0" err="1">
                <a:latin typeface="CS Avva Shenouda" pitchFamily="34" charset="0"/>
              </a:rPr>
              <a:t>ouagapy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pe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>
                <a:solidFill>
                  <a:srgbClr val="CC3300"/>
                </a:solidFill>
              </a:rPr>
              <a:t>God is love. (I </a:t>
            </a:r>
            <a:r>
              <a:rPr lang="en-US" sz="2400" dirty="0" err="1">
                <a:solidFill>
                  <a:srgbClr val="CC3300"/>
                </a:solidFill>
              </a:rPr>
              <a:t>Jn</a:t>
            </a:r>
            <a:r>
              <a:rPr lang="en-US" sz="2400" dirty="0">
                <a:solidFill>
                  <a:srgbClr val="CC3300"/>
                </a:solidFill>
              </a:rPr>
              <a:t> 4:16)</a:t>
            </a:r>
          </a:p>
          <a:p>
            <a:r>
              <a:rPr lang="en-US" sz="3200" dirty="0" err="1">
                <a:latin typeface="CS Avva Shenouda" pitchFamily="34" charset="0"/>
              </a:rPr>
              <a:t>Jemnom</a:t>
            </a:r>
            <a:r>
              <a:rPr lang="en-US" sz="3200" dirty="0">
                <a:latin typeface="CS Avva Shenouda" pitchFamily="34" charset="0"/>
              </a:rPr>
              <a:t>] </a:t>
            </a:r>
            <a:r>
              <a:rPr lang="en-US" sz="3200" dirty="0" err="1">
                <a:latin typeface="CS Avva Shenouda" pitchFamily="34" charset="0"/>
              </a:rPr>
              <a:t>anok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ai</a:t>
            </a:r>
            <a:r>
              <a:rPr lang="en-US" sz="3200" dirty="0">
                <a:latin typeface="CS Avva Shenouda" pitchFamily="34" charset="0"/>
              </a:rPr>
              <a:t>[</a:t>
            </a:r>
            <a:r>
              <a:rPr lang="en-US" sz="3200" dirty="0" err="1">
                <a:latin typeface="CS Avva Shenouda" pitchFamily="34" charset="0"/>
              </a:rPr>
              <a:t>ro</a:t>
            </a:r>
            <a:r>
              <a:rPr lang="en-US" sz="3200" dirty="0">
                <a:latin typeface="CS Avva Shenouda" pitchFamily="34" charset="0"/>
              </a:rPr>
              <a:t> `</a:t>
            </a:r>
            <a:r>
              <a:rPr lang="en-US" sz="3200" dirty="0" err="1">
                <a:latin typeface="CS Avva Shenouda" pitchFamily="34" charset="0"/>
              </a:rPr>
              <a:t>epikocmoc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>
                <a:solidFill>
                  <a:srgbClr val="CC3300"/>
                </a:solidFill>
              </a:rPr>
              <a:t>Be of good cheer, I have overcome the world. (</a:t>
            </a:r>
            <a:r>
              <a:rPr lang="en-US" sz="2400" dirty="0" err="1">
                <a:solidFill>
                  <a:srgbClr val="CC3300"/>
                </a:solidFill>
              </a:rPr>
              <a:t>Jn</a:t>
            </a:r>
            <a:r>
              <a:rPr lang="en-US" sz="2400" dirty="0">
                <a:solidFill>
                  <a:srgbClr val="CC3300"/>
                </a:solidFill>
              </a:rPr>
              <a:t> 16:33)</a:t>
            </a:r>
          </a:p>
          <a:p>
            <a:r>
              <a:rPr lang="en-US" sz="3200" dirty="0">
                <a:latin typeface="CS Avva Shenouda" pitchFamily="34" charset="0"/>
              </a:rPr>
              <a:t>}</a:t>
            </a:r>
            <a:r>
              <a:rPr lang="en-US" sz="3200" dirty="0" err="1">
                <a:latin typeface="CS Avva Shenouda" pitchFamily="34" charset="0"/>
              </a:rPr>
              <a:t>ar,y</a:t>
            </a:r>
            <a:r>
              <a:rPr lang="en-US" sz="3200" dirty="0">
                <a:latin typeface="CS Avva Shenouda" pitchFamily="34" charset="0"/>
              </a:rPr>
              <a:t> `n]</a:t>
            </a:r>
            <a:r>
              <a:rPr lang="en-US" sz="3200" dirty="0" err="1">
                <a:latin typeface="CS Avva Shenouda" pitchFamily="34" charset="0"/>
              </a:rPr>
              <a:t>covia</a:t>
            </a:r>
            <a:r>
              <a:rPr lang="en-US" sz="3200" dirty="0">
                <a:latin typeface="CS Avva Shenouda" pitchFamily="34" charset="0"/>
              </a:rPr>
              <a:t> ]ho] `</a:t>
            </a:r>
            <a:r>
              <a:rPr lang="en-US" sz="3200" dirty="0" err="1">
                <a:latin typeface="CS Avva Shenouda" pitchFamily="34" charset="0"/>
              </a:rPr>
              <a:t>nte</a:t>
            </a:r>
            <a:r>
              <a:rPr lang="en-US" sz="3200" dirty="0">
                <a:latin typeface="CS Avva Shenouda" pitchFamily="34" charset="0"/>
              </a:rPr>
              <a:t> `P[</a:t>
            </a:r>
            <a:r>
              <a:rPr lang="en-US" sz="3200" dirty="0" err="1">
                <a:latin typeface="CS Avva Shenouda" pitchFamily="34" charset="0"/>
              </a:rPr>
              <a:t>oic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te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2400" dirty="0">
                <a:solidFill>
                  <a:srgbClr val="CC3300"/>
                </a:solidFill>
              </a:rPr>
              <a:t>The fear of the Lord is the beginning of wisdom. (Ps 110:10)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533400"/>
            <a:ext cx="6577928" cy="727055"/>
          </a:xfrm>
        </p:spPr>
        <p:txBody>
          <a:bodyPr>
            <a:normAutofit/>
          </a:bodyPr>
          <a:lstStyle/>
          <a:p>
            <a:r>
              <a:rPr lang="en-US" sz="3200" b="1" dirty="0"/>
              <a:t>Beginner Vocabulary Review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915400" cy="5257800"/>
          </a:xfrm>
        </p:spPr>
        <p:txBody>
          <a:bodyPr>
            <a:noAutofit/>
          </a:bodyPr>
          <a:lstStyle/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romi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kahi</a:t>
            </a:r>
            <a:r>
              <a:rPr lang="en-US" sz="2800" dirty="0">
                <a:latin typeface="CS Avva Shenouda" pitchFamily="34" charset="0"/>
              </a:rPr>
              <a:t>	`</a:t>
            </a:r>
            <a:r>
              <a:rPr lang="en-US" sz="2800" dirty="0" err="1">
                <a:latin typeface="CS Avva Shenouda" pitchFamily="34" charset="0"/>
              </a:rPr>
              <a:t>Vnou</a:t>
            </a:r>
            <a:r>
              <a:rPr lang="en-US" sz="2800" dirty="0">
                <a:latin typeface="CS Avva Shenouda" pitchFamily="34" charset="0"/>
              </a:rPr>
              <a:t>]	`</a:t>
            </a:r>
            <a:r>
              <a:rPr lang="en-US" sz="2800" dirty="0" err="1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ioh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ry</a:t>
            </a:r>
            <a:r>
              <a:rPr lang="en-US" sz="2800" dirty="0">
                <a:latin typeface="CS Avva Shenouda" pitchFamily="34" charset="0"/>
              </a:rPr>
              <a:t>	con	</a:t>
            </a:r>
            <a:r>
              <a:rPr lang="en-US" sz="2800" dirty="0" err="1">
                <a:latin typeface="CS Avva Shenouda" pitchFamily="34" charset="0"/>
              </a:rPr>
              <a:t>syri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iwt</a:t>
            </a:r>
            <a:r>
              <a:rPr lang="en-US" sz="2800" dirty="0">
                <a:latin typeface="CS Avva Shenouda" pitchFamily="34" charset="0"/>
              </a:rPr>
              <a:t>	bal</a:t>
            </a: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yi</a:t>
            </a:r>
            <a:r>
              <a:rPr lang="en-US" sz="2800" dirty="0">
                <a:latin typeface="CS Avva Shenouda" pitchFamily="34" charset="0"/>
              </a:rPr>
              <a:t>	ran	</a:t>
            </a:r>
            <a:r>
              <a:rPr lang="en-US" sz="2800" dirty="0" err="1">
                <a:latin typeface="CS Avva Shenouda" pitchFamily="34" charset="0"/>
              </a:rPr>
              <a:t>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ouro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>
                <a:latin typeface="CS Avva Shenouda" pitchFamily="34" charset="0"/>
              </a:rPr>
              <a:t>`</a:t>
            </a:r>
            <a:r>
              <a:rPr lang="en-US" sz="2800" dirty="0" err="1">
                <a:latin typeface="CS Avva Shenouda" pitchFamily="34" charset="0"/>
              </a:rPr>
              <a:t>chimi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vorsi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ri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ajp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ve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soury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mau</a:t>
            </a:r>
            <a:r>
              <a:rPr lang="en-US" sz="2800" dirty="0">
                <a:latin typeface="CS Avva Shenouda" pitchFamily="34" charset="0"/>
              </a:rPr>
              <a:t>	]`</a:t>
            </a:r>
            <a:r>
              <a:rPr lang="en-US" sz="2800" dirty="0" err="1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jij</a:t>
            </a:r>
            <a:r>
              <a:rPr lang="en-US" sz="2800" dirty="0">
                <a:latin typeface="CS Avva Shenouda" pitchFamily="34" charset="0"/>
              </a:rPr>
              <a:t>	`;</a:t>
            </a:r>
            <a:r>
              <a:rPr lang="en-US" sz="2800" dirty="0" err="1">
                <a:latin typeface="CS Avva Shenouda" pitchFamily="34" charset="0"/>
              </a:rPr>
              <a:t>nyb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hiomi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nicwni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nirwmi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niran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nimau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ni`alou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jom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nibal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niseri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totc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io</a:t>
            </a:r>
            <a:r>
              <a:rPr lang="en-US" sz="2800" dirty="0">
                <a:latin typeface="CS Avva Shenouda" pitchFamily="34" charset="0"/>
              </a:rPr>
              <a:t>]	</a:t>
            </a:r>
            <a:r>
              <a:rPr lang="en-US" sz="2800" dirty="0" err="1">
                <a:latin typeface="CS Avva Shenouda" pitchFamily="34" charset="0"/>
              </a:rPr>
              <a:t>ourwou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vyou`i</a:t>
            </a:r>
            <a:endParaRPr lang="en-US" sz="2800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animBg="1"/>
      <p:bldP spid="1331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Past Continuous Tense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3200400" cy="5486400"/>
          </a:xfrm>
        </p:spPr>
        <p:txBody>
          <a:bodyPr>
            <a:noAutofit/>
          </a:bodyPr>
          <a:lstStyle/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nai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nak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nare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naf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nac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nan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nareten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nau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nau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1295400"/>
            <a:ext cx="5257800" cy="5107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I was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you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were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(masculine)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you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were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(feminine)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he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was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she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was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</a:p>
          <a:p>
            <a:pPr marL="344488" indent="-344488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we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were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</a:p>
          <a:p>
            <a:pPr marL="344488" indent="-344488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you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were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(plural)</a:t>
            </a:r>
          </a:p>
          <a:p>
            <a:pPr marL="344488" indent="-344488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they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were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look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ing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Exercise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905000"/>
            <a:ext cx="3352800" cy="4724400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ouwn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open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ouwnh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to appear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caji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speak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jerjer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play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C00000"/>
                </a:solidFill>
                <a:latin typeface="+mj-lt"/>
              </a:rPr>
              <a:t>Use the following verbs to form a past continuous tense: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905000"/>
            <a:ext cx="4419600" cy="531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>
                <a:cs typeface="+mn-cs"/>
              </a:rPr>
              <a:t>ouwrp</a:t>
            </a:r>
            <a:endParaRPr lang="en-US" sz="3200" dirty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send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>
                <a:cs typeface="+mn-cs"/>
              </a:rPr>
              <a:t>cw</a:t>
            </a:r>
            <a:endParaRPr lang="en-US" sz="3200" dirty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drink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>
                <a:cs typeface="+mn-cs"/>
              </a:rPr>
              <a:t>ouws</a:t>
            </a:r>
            <a:r>
              <a:rPr lang="en-US" sz="3200" dirty="0">
                <a:cs typeface="+mn-cs"/>
              </a:rPr>
              <a:t> `e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want to</a:t>
            </a:r>
          </a:p>
          <a:p>
            <a:pPr marL="514350" lvl="1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200" dirty="0" err="1">
                <a:cs typeface="+mn-cs"/>
              </a:rPr>
              <a:t>ouwst</a:t>
            </a:r>
            <a:endParaRPr lang="en-US" sz="3200" dirty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worship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Exercise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343400" cy="4724400"/>
          </a:xfrm>
        </p:spPr>
        <p:txBody>
          <a:bodyPr>
            <a:normAutofit fontScale="77500" lnSpcReduction="20000"/>
          </a:bodyPr>
          <a:lstStyle/>
          <a:p>
            <a:pPr marL="509588" lvl="1" indent="-509588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Nakmosi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qen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pi[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wm</a:t>
            </a:r>
            <a:endParaRPr lang="en-US" sz="31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You were walking in the garden.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2"/>
            </a:pP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Nai`cqai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mpaws</a:t>
            </a:r>
            <a:endParaRPr lang="en-US" sz="31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I was writing my lesson.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3"/>
            </a:pP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Nac`areh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nje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tacwni</a:t>
            </a:r>
            <a:endParaRPr lang="en-US" sz="31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My sister was studying.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4"/>
            </a:pP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Nan`slyl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nem</a:t>
            </a:r>
            <a:r>
              <a:rPr lang="en-US" sz="3100" b="1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>
                <a:solidFill>
                  <a:srgbClr val="FF0000"/>
                </a:solidFill>
                <a:latin typeface="CS Avva Shenouda" pitchFamily="34" charset="0"/>
              </a:rPr>
              <a:t>nen`cnyou</a:t>
            </a:r>
            <a:endParaRPr lang="en-US" sz="31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We were praying with our brothers.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u="sng" dirty="0">
                <a:solidFill>
                  <a:srgbClr val="C00000"/>
                </a:solidFill>
                <a:latin typeface="+mj-lt"/>
              </a:rPr>
              <a:t>Translate the following into English</a:t>
            </a:r>
            <a:r>
              <a:rPr lang="en-US" sz="2800" dirty="0">
                <a:solidFill>
                  <a:srgbClr val="C00000"/>
                </a:solidFill>
                <a:latin typeface="+mj-lt"/>
              </a:rPr>
              <a:t>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905000"/>
            <a:ext cx="4267200" cy="580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514350" algn="l"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5"/>
            </a:pPr>
            <a:r>
              <a:rPr lang="en-US" sz="2600" b="1" dirty="0" err="1">
                <a:solidFill>
                  <a:srgbClr val="FF0000"/>
                </a:solidFill>
                <a:cs typeface="+mn-cs"/>
              </a:rPr>
              <a:t>Naretenhemci</a:t>
            </a:r>
            <a:r>
              <a:rPr lang="en-US" sz="2600" b="1" dirty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>
                <a:solidFill>
                  <a:srgbClr val="FF0000"/>
                </a:solidFill>
                <a:cs typeface="+mn-cs"/>
              </a:rPr>
              <a:t>mmau</a:t>
            </a:r>
            <a:endParaRPr lang="en-US" sz="2600" b="1" dirty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You were sitting there.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6"/>
            </a:pPr>
            <a:r>
              <a:rPr lang="en-US" sz="2400" b="1" dirty="0" err="1">
                <a:solidFill>
                  <a:srgbClr val="FF0000"/>
                </a:solidFill>
                <a:cs typeface="+mn-cs"/>
              </a:rPr>
              <a:t>Naunau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400" b="1" dirty="0" err="1">
                <a:solidFill>
                  <a:srgbClr val="FF0000"/>
                </a:solidFill>
                <a:cs typeface="+mn-cs"/>
              </a:rPr>
              <a:t>eniaggeloc</a:t>
            </a:r>
            <a:endParaRPr lang="en-US" sz="2400" b="1" dirty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They were looking at the angels.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600" b="1" dirty="0" err="1">
                <a:solidFill>
                  <a:srgbClr val="FF0000"/>
                </a:solidFill>
                <a:cs typeface="+mn-cs"/>
              </a:rPr>
              <a:t>Naretenouwst</a:t>
            </a:r>
            <a:r>
              <a:rPr lang="en-US" sz="2600" b="1" dirty="0">
                <a:solidFill>
                  <a:srgbClr val="FF0000"/>
                </a:solidFill>
                <a:cs typeface="+mn-cs"/>
              </a:rPr>
              <a:t> `mV] </a:t>
            </a:r>
            <a:endParaRPr lang="en-US" sz="26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You were worshipping God.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8"/>
            </a:pPr>
            <a:r>
              <a:rPr lang="en-US" sz="2000" b="1" dirty="0" err="1">
                <a:solidFill>
                  <a:srgbClr val="FF0000"/>
                </a:solidFill>
                <a:cs typeface="+mn-cs"/>
              </a:rPr>
              <a:t>Naf,w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000" b="1" dirty="0" err="1">
                <a:solidFill>
                  <a:srgbClr val="FF0000"/>
                </a:solidFill>
                <a:cs typeface="+mn-cs"/>
              </a:rPr>
              <a:t>ntefjij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+mn-cs"/>
              </a:rPr>
              <a:t>hijen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+mn-cs"/>
              </a:rPr>
              <a:t>tef`ave</a:t>
            </a:r>
            <a:endParaRPr lang="en-US" sz="2000" b="1" dirty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>
                <a:latin typeface="+mn-lt"/>
                <a:cs typeface="+mn-cs"/>
              </a:rPr>
              <a:t>He was putting his hand on his head.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600200" y="4343400"/>
            <a:ext cx="6019800" cy="762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800" dirty="0" err="1">
                <a:latin typeface="CS Avva Shenouda" pitchFamily="34" charset="0"/>
              </a:rPr>
              <a:t>O</a:t>
            </a:r>
            <a:r>
              <a:rPr lang="en-US" sz="4800" cap="none" dirty="0" err="1">
                <a:latin typeface="CS Avva Shenouda" pitchFamily="34" charset="0"/>
              </a:rPr>
              <a:t>ujai</a:t>
            </a:r>
            <a:r>
              <a:rPr lang="en-US" sz="4800" dirty="0">
                <a:latin typeface="CS Avva Shenouda" pitchFamily="34" charset="0"/>
              </a:rPr>
              <a:t> </a:t>
            </a:r>
            <a:r>
              <a:rPr lang="en-US" sz="4800" cap="none" dirty="0" err="1">
                <a:latin typeface="CS Avva Shenouda" pitchFamily="34" charset="0"/>
              </a:rPr>
              <a:t>qen</a:t>
            </a:r>
            <a:r>
              <a:rPr lang="en-US" sz="4800" dirty="0">
                <a:latin typeface="CS Avva Shenouda" pitchFamily="34" charset="0"/>
              </a:rPr>
              <a:t> `P</a:t>
            </a:r>
            <a:r>
              <a:rPr lang="en-US" sz="4800" cap="none" dirty="0">
                <a:latin typeface="CS Avva Shenouda" pitchFamily="34" charset="0"/>
              </a:rPr>
              <a:t>[</a:t>
            </a:r>
            <a:r>
              <a:rPr lang="en-US" sz="4800" cap="none" dirty="0" err="1">
                <a:latin typeface="CS Avva Shenouda" pitchFamily="34" charset="0"/>
              </a:rPr>
              <a:t>oic</a:t>
            </a:r>
            <a:endParaRPr lang="en-US" sz="4800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tory">
  <a:themeElements>
    <a:clrScheme name="Story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Story">
      <a:maj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Story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50000"/>
                <a:lumMod val="120000"/>
              </a:schemeClr>
              <a:schemeClr val="phClr">
                <a:satMod val="350000"/>
                <a:lumMod val="150000"/>
              </a:schemeClr>
            </a:duotone>
          </a:blip>
          <a:tile tx="0" ty="0" sx="20000" sy="20000" flip="none" algn="ctr"/>
        </a:blipFill>
        <a:gradFill rotWithShape="1">
          <a:gsLst>
            <a:gs pos="0">
              <a:schemeClr val="phClr">
                <a:shade val="20000"/>
                <a:satMod val="130000"/>
              </a:schemeClr>
            </a:gs>
            <a:gs pos="50000">
              <a:schemeClr val="phClr">
                <a:shade val="90000"/>
                <a:satMod val="130000"/>
              </a:schemeClr>
            </a:gs>
            <a:gs pos="100000">
              <a:schemeClr val="phClr">
                <a:shade val="100000"/>
                <a:satMod val="200000"/>
                <a:lumMod val="12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2100000" sx="104000" sy="104000" algn="br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127000" dist="63500" dir="5400000" sx="103000" sy="103000" rotWithShape="0">
              <a:srgbClr val="000000">
                <a:alpha val="75000"/>
              </a:srgbClr>
            </a:outerShdw>
          </a:effectLst>
          <a:scene3d>
            <a:camera prst="perspectiveFront" fov="3000000"/>
            <a:lightRig rig="balanced" dir="t">
              <a:rot lat="0" lon="0" rev="18000000"/>
            </a:lightRig>
          </a:scene3d>
          <a:sp3d prstMaterial="plastic">
            <a:bevelT w="254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50000"/>
              </a:schemeClr>
              <a:schemeClr val="phClr">
                <a:tint val="60000"/>
                <a:satMod val="4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Story.thmx</Template>
  <TotalTime>3748</TotalTime>
  <Words>395</Words>
  <Application>Microsoft Macintosh PowerPoint</Application>
  <PresentationFormat>On-screen Show (4:3)</PresentationFormat>
  <Paragraphs>136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Story</vt:lpstr>
      <vt:lpstr>   Coptic Lesson 19  Past Continuous Tense</vt:lpstr>
      <vt:lpstr>Coptic Alphabets</vt:lpstr>
      <vt:lpstr>Review Questions</vt:lpstr>
      <vt:lpstr>Rule for the Kei &lt;: </vt:lpstr>
      <vt:lpstr>Vocabulary List</vt:lpstr>
      <vt:lpstr>Coptic Bible Verses – Part 3</vt:lpstr>
      <vt:lpstr>Beginner Vocabulary Review</vt:lpstr>
      <vt:lpstr>Past Continuous Tense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566</cp:revision>
  <dcterms:created xsi:type="dcterms:W3CDTF">2014-03-29T18:43:12Z</dcterms:created>
  <dcterms:modified xsi:type="dcterms:W3CDTF">2022-12-02T05:10:03Z</dcterms:modified>
</cp:coreProperties>
</file>