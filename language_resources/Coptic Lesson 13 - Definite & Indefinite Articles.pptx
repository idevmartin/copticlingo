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6" r:id="rId1"/>
  </p:sldMasterIdLst>
  <p:notesMasterIdLst>
    <p:notesMasterId r:id="rId18"/>
  </p:notesMasterIdLst>
  <p:sldIdLst>
    <p:sldId id="256" r:id="rId2"/>
    <p:sldId id="269" r:id="rId3"/>
    <p:sldId id="296" r:id="rId4"/>
    <p:sldId id="379" r:id="rId5"/>
    <p:sldId id="364" r:id="rId6"/>
    <p:sldId id="372" r:id="rId7"/>
    <p:sldId id="350" r:id="rId8"/>
    <p:sldId id="374" r:id="rId9"/>
    <p:sldId id="351" r:id="rId10"/>
    <p:sldId id="376" r:id="rId11"/>
    <p:sldId id="375" r:id="rId12"/>
    <p:sldId id="378" r:id="rId13"/>
    <p:sldId id="361" r:id="rId14"/>
    <p:sldId id="362" r:id="rId15"/>
    <p:sldId id="272" r:id="rId16"/>
    <p:sldId id="268" r:id="rId1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 autoAdjust="0"/>
    <p:restoredTop sz="94607" autoAdjust="0"/>
  </p:normalViewPr>
  <p:slideViewPr>
    <p:cSldViewPr>
      <p:cViewPr varScale="1">
        <p:scale>
          <a:sx n="144" d="100"/>
          <a:sy n="144" d="100"/>
        </p:scale>
        <p:origin x="28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6315840E-E3BC-437A-8D27-233C3533F67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E513-2739-4749-BE7C-2B77D8253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60" r:id="rId13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Coptic Lesson 13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Definite &amp; Indefinite Articles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41339" y="0"/>
            <a:ext cx="240266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Review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320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God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(Gk)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Ghamma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g, n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g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cs typeface="Times New Roman" pitchFamily="18" charset="0"/>
              </a:rPr>
              <a:t>Myt-ouai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/>
              <a:t>=</a:t>
            </a:r>
            <a:r>
              <a:rPr lang="en-US" sz="4000" dirty="0" err="1"/>
              <a:t>ia</a:t>
            </a:r>
            <a:endParaRPr lang="en-US" sz="4000" dirty="0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48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Khai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q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Epsee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/>
              <a:t>'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/>
              <a:t>=m=y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</a:pPr>
            <a:r>
              <a:rPr lang="en-US" sz="4000" dirty="0"/>
              <a:t>===;=c</a:t>
            </a: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/>
              <a:t>=t=k</a:t>
            </a:r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cs typeface="Times New Roman" pitchFamily="18" charset="0"/>
              </a:rPr>
              <a:t>`</a:t>
            </a:r>
            <a:r>
              <a:rPr lang="en-US" sz="2800" dirty="0" err="1">
                <a:cs typeface="Times New Roman" pitchFamily="18" charset="0"/>
              </a:rPr>
              <a:t>hme-`smyn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/>
              <a:t>:</a:t>
            </a:r>
            <a:r>
              <a:rPr lang="en-US" sz="2800" dirty="0" err="1"/>
              <a:t>eoc</a:t>
            </a:r>
            <a:endParaRPr lang="en-US" sz="2800" dirty="0"/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400" dirty="0" err="1">
                <a:cs typeface="Times New Roman" pitchFamily="18" charset="0"/>
              </a:rPr>
              <a:t>Somt</a:t>
            </a:r>
            <a:r>
              <a:rPr lang="en-US" sz="2400" dirty="0">
                <a:cs typeface="Times New Roman" pitchFamily="18" charset="0"/>
              </a:rPr>
              <a:t>-se-</a:t>
            </a:r>
            <a:r>
              <a:rPr lang="en-US" sz="2400" dirty="0" err="1">
                <a:cs typeface="Times New Roman" pitchFamily="18" charset="0"/>
              </a:rPr>
              <a:t>jout</a:t>
            </a:r>
            <a:endParaRPr lang="en-US" sz="24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4495800" cy="636588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4000" dirty="0">
                <a:latin typeface="Times New Roman" pitchFamily="18" charset="0"/>
                <a:ea typeface="+mj-ea"/>
                <a:cs typeface="+mj-cs"/>
              </a:rPr>
              <a:t>Rule for the Iota </a:t>
            </a:r>
            <a:r>
              <a:rPr lang="en-US" sz="4000" dirty="0" err="1">
                <a:solidFill>
                  <a:srgbClr val="FF0000"/>
                </a:solidFill>
                <a:latin typeface="CS Avva Shenouda" pitchFamily="34" charset="0"/>
                <a:ea typeface="+mj-ea"/>
                <a:cs typeface="+mj-cs"/>
              </a:rPr>
              <a:t>i</a:t>
            </a:r>
            <a:r>
              <a:rPr lang="en-US" sz="4000" dirty="0">
                <a:solidFill>
                  <a:schemeClr val="tx1"/>
                </a:solidFill>
                <a:latin typeface="Times New Roman" pitchFamily="18" charset="0"/>
                <a:ea typeface="+mj-ea"/>
                <a:cs typeface="+mj-cs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  <a:ea typeface="+mj-ea"/>
                <a:cs typeface="+mj-cs"/>
              </a:rPr>
              <a:t>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4835" name="Line 99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37" name="Text Box 101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 </a:t>
            </a:r>
            <a:r>
              <a:rPr lang="en-US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44838" name="Text Box 102"/>
          <p:cNvSpPr txBox="1">
            <a:spLocks noChangeArrowheads="1"/>
          </p:cNvSpPr>
          <p:nvPr/>
        </p:nvSpPr>
        <p:spPr bwMode="auto">
          <a:xfrm>
            <a:off x="3352800" y="12192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39" name="Text Box 103"/>
          <p:cNvSpPr txBox="1">
            <a:spLocks noChangeArrowheads="1"/>
          </p:cNvSpPr>
          <p:nvPr/>
        </p:nvSpPr>
        <p:spPr bwMode="auto">
          <a:xfrm>
            <a:off x="3276600" y="21336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ee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40" name="Text Box 104"/>
          <p:cNvSpPr txBox="1">
            <a:spLocks noChangeArrowheads="1"/>
          </p:cNvSpPr>
          <p:nvPr/>
        </p:nvSpPr>
        <p:spPr bwMode="auto">
          <a:xfrm>
            <a:off x="3352800" y="3276600"/>
            <a:ext cx="7620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y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43" name="Freeform 107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4" name="Line 108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5" name="Line 109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8" name="Text Box 112"/>
          <p:cNvSpPr txBox="1">
            <a:spLocks noChangeArrowheads="1"/>
          </p:cNvSpPr>
          <p:nvPr/>
        </p:nvSpPr>
        <p:spPr bwMode="auto">
          <a:xfrm>
            <a:off x="3886200" y="1371600"/>
            <a:ext cx="39624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if 1</a:t>
            </a:r>
            <a:r>
              <a:rPr lang="en-US" sz="32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letter in a word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44849" name="Text Box 113"/>
          <p:cNvSpPr txBox="1">
            <a:spLocks noChangeArrowheads="1"/>
          </p:cNvSpPr>
          <p:nvPr/>
        </p:nvSpPr>
        <p:spPr bwMode="auto">
          <a:xfrm>
            <a:off x="3886200" y="2286000"/>
            <a:ext cx="38862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between consonants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44850" name="Text Box 114"/>
          <p:cNvSpPr txBox="1">
            <a:spLocks noChangeArrowheads="1"/>
          </p:cNvSpPr>
          <p:nvPr/>
        </p:nvSpPr>
        <p:spPr bwMode="auto">
          <a:xfrm>
            <a:off x="3886200" y="3276600"/>
            <a:ext cx="32004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next to a vowel)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1" name="Text Box 115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44852" name="Text Box 116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isi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3" name="Text Box 117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rwmi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4" name="Text Box 118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iom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5" name="Text Box 119"/>
          <p:cNvSpPr txBox="1">
            <a:spLocks noChangeArrowheads="1"/>
          </p:cNvSpPr>
          <p:nvPr/>
        </p:nvSpPr>
        <p:spPr bwMode="auto">
          <a:xfrm>
            <a:off x="6324600" y="4648200"/>
            <a:ext cx="1905000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Icrayl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6" name="Text Box 120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niben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7" name="Text Box 121"/>
          <p:cNvSpPr txBox="1">
            <a:spLocks noChangeArrowheads="1"/>
          </p:cNvSpPr>
          <p:nvPr/>
        </p:nvSpPr>
        <p:spPr bwMode="auto">
          <a:xfrm>
            <a:off x="32766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8" name="Text Box 122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nai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0" name="Text Box 124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agioc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1" name="Text Box 125"/>
          <p:cNvSpPr txBox="1">
            <a:spLocks noChangeArrowheads="1"/>
          </p:cNvSpPr>
          <p:nvPr/>
        </p:nvSpPr>
        <p:spPr bwMode="auto">
          <a:xfrm>
            <a:off x="2362200" y="6156325"/>
            <a:ext cx="2209800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`&lt;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rictoc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2" name="Text Box 126"/>
          <p:cNvSpPr txBox="1">
            <a:spLocks noChangeArrowheads="1"/>
          </p:cNvSpPr>
          <p:nvPr/>
        </p:nvSpPr>
        <p:spPr bwMode="auto">
          <a:xfrm>
            <a:off x="48006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ilewc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3" name="Text Box 127"/>
          <p:cNvSpPr txBox="1">
            <a:spLocks noChangeArrowheads="1"/>
          </p:cNvSpPr>
          <p:nvPr/>
        </p:nvSpPr>
        <p:spPr bwMode="auto">
          <a:xfrm>
            <a:off x="6705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Mari`a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09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4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838" grpId="0"/>
      <p:bldP spid="244839" grpId="0"/>
      <p:bldP spid="244840" grpId="0"/>
      <p:bldP spid="244848" grpId="0"/>
      <p:bldP spid="244850" grpId="0"/>
      <p:bldP spid="244851" grpId="0"/>
      <p:bldP spid="244852" grpId="0"/>
      <p:bldP spid="244854" grpId="0"/>
      <p:bldP spid="244857" grpId="0"/>
      <p:bldP spid="244858" grpId="0"/>
      <p:bldP spid="244860" grpId="0"/>
      <p:bldP spid="244861" grpId="0"/>
      <p:bldP spid="244862" grpId="0"/>
      <p:bldP spid="2448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Coptic Bible Verses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err="1">
                <a:latin typeface="CS Avva Shenouda" pitchFamily="34" charset="0"/>
              </a:rPr>
              <a:t>Anok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pe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piAlva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nem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piW</a:t>
            </a:r>
            <a:r>
              <a:rPr lang="en-US" dirty="0">
                <a:latin typeface="CS Avva Shenouda" pitchFamily="34" charset="0"/>
              </a:rPr>
              <a:t> ]</a:t>
            </a:r>
            <a:r>
              <a:rPr lang="en-US" dirty="0" err="1">
                <a:latin typeface="CS Avva Shenouda" pitchFamily="34" charset="0"/>
              </a:rPr>
              <a:t>ar,y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nem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pijwk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ebol</a:t>
            </a:r>
            <a:r>
              <a:rPr lang="en-US" dirty="0">
                <a:latin typeface="CS Avva Shenouda" pitchFamily="34" charset="0"/>
              </a:rPr>
              <a:t>.</a:t>
            </a:r>
            <a:br>
              <a:rPr lang="en-US" dirty="0"/>
            </a:br>
            <a:r>
              <a:rPr lang="en-US" sz="2400" dirty="0">
                <a:solidFill>
                  <a:srgbClr val="FFCC00"/>
                </a:solidFill>
              </a:rPr>
              <a:t>"I am the Alpha and the Omega, the Beginning and the End." (Rev 1:8)</a:t>
            </a:r>
          </a:p>
          <a:p>
            <a:r>
              <a:rPr lang="en-US" dirty="0" err="1">
                <a:latin typeface="CS Avva Shenouda" pitchFamily="34" charset="0"/>
              </a:rPr>
              <a:t>Anok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pe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piwik</a:t>
            </a:r>
            <a:r>
              <a:rPr lang="en-US" dirty="0">
                <a:latin typeface="CS Avva Shenouda" pitchFamily="34" charset="0"/>
              </a:rPr>
              <a:t> `</a:t>
            </a:r>
            <a:r>
              <a:rPr lang="en-US" dirty="0" err="1">
                <a:latin typeface="CS Avva Shenouda" pitchFamily="34" charset="0"/>
              </a:rPr>
              <a:t>nte</a:t>
            </a:r>
            <a:r>
              <a:rPr lang="en-US" dirty="0">
                <a:latin typeface="CS Avva Shenouda" pitchFamily="34" charset="0"/>
              </a:rPr>
              <a:t> `</a:t>
            </a:r>
            <a:r>
              <a:rPr lang="en-US" dirty="0" err="1">
                <a:latin typeface="CS Avva Shenouda" pitchFamily="34" charset="0"/>
              </a:rPr>
              <a:t>pwnq</a:t>
            </a:r>
            <a:r>
              <a:rPr lang="en-US" dirty="0">
                <a:latin typeface="CS Avva Shenouda" pitchFamily="34" charset="0"/>
              </a:rPr>
              <a:t>.</a:t>
            </a:r>
            <a:br>
              <a:rPr lang="en-US" dirty="0">
                <a:latin typeface="CS Avva Shenouda" pitchFamily="34" charset="0"/>
              </a:rPr>
            </a:br>
            <a:r>
              <a:rPr lang="en-US" sz="2800" dirty="0">
                <a:solidFill>
                  <a:srgbClr val="FFCC00"/>
                </a:solidFill>
              </a:rPr>
              <a:t>"I am the Bread of life." (</a:t>
            </a:r>
            <a:r>
              <a:rPr lang="en-US" sz="2800" dirty="0" err="1">
                <a:solidFill>
                  <a:srgbClr val="FFCC00"/>
                </a:solidFill>
              </a:rPr>
              <a:t>Jn</a:t>
            </a:r>
            <a:r>
              <a:rPr lang="en-US" sz="2800" dirty="0">
                <a:solidFill>
                  <a:srgbClr val="FFCC00"/>
                </a:solidFill>
              </a:rPr>
              <a:t> 6:35)</a:t>
            </a:r>
          </a:p>
          <a:p>
            <a:r>
              <a:rPr lang="en-US" dirty="0" err="1">
                <a:latin typeface="CS Avva Shenouda" pitchFamily="34" charset="0"/>
              </a:rPr>
              <a:t>Anok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pe</a:t>
            </a:r>
            <a:r>
              <a:rPr lang="en-US" dirty="0">
                <a:latin typeface="CS Avva Shenouda" pitchFamily="34" charset="0"/>
              </a:rPr>
              <a:t> `</a:t>
            </a:r>
            <a:r>
              <a:rPr lang="en-US" dirty="0" err="1">
                <a:latin typeface="CS Avva Shenouda" pitchFamily="34" charset="0"/>
              </a:rPr>
              <a:t>vouwini</a:t>
            </a:r>
            <a:r>
              <a:rPr lang="en-US" dirty="0">
                <a:latin typeface="CS Avva Shenouda" pitchFamily="34" charset="0"/>
              </a:rPr>
              <a:t> `</a:t>
            </a:r>
            <a:r>
              <a:rPr lang="en-US" dirty="0" err="1">
                <a:latin typeface="CS Avva Shenouda" pitchFamily="34" charset="0"/>
              </a:rPr>
              <a:t>mpikocmoc</a:t>
            </a:r>
            <a:r>
              <a:rPr lang="en-US" dirty="0">
                <a:latin typeface="CS Avva Shenouda" pitchFamily="34" charset="0"/>
              </a:rPr>
              <a:t>.</a:t>
            </a:r>
            <a:br>
              <a:rPr lang="en-US" dirty="0">
                <a:latin typeface="CS Avva Shenouda" pitchFamily="34" charset="0"/>
              </a:rPr>
            </a:br>
            <a:r>
              <a:rPr lang="en-US" sz="2800" dirty="0">
                <a:solidFill>
                  <a:srgbClr val="FFCC00"/>
                </a:solidFill>
              </a:rPr>
              <a:t>"I am the light of the world." (</a:t>
            </a:r>
            <a:r>
              <a:rPr lang="en-US" sz="2800" dirty="0" err="1">
                <a:solidFill>
                  <a:srgbClr val="FFCC00"/>
                </a:solidFill>
              </a:rPr>
              <a:t>Jn</a:t>
            </a:r>
            <a:r>
              <a:rPr lang="en-US" sz="2800" dirty="0">
                <a:solidFill>
                  <a:srgbClr val="FFCC00"/>
                </a:solidFill>
              </a:rPr>
              <a:t> 8:12)</a:t>
            </a:r>
          </a:p>
          <a:p>
            <a:r>
              <a:rPr lang="en-US" dirty="0">
                <a:latin typeface="CS Avva Shenouda" pitchFamily="34" charset="0"/>
              </a:rPr>
              <a:t>Matai `</a:t>
            </a:r>
            <a:r>
              <a:rPr lang="en-US" dirty="0" err="1">
                <a:latin typeface="CS Avva Shenouda" pitchFamily="34" charset="0"/>
              </a:rPr>
              <a:t>epekiwt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nem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tekmau</a:t>
            </a:r>
            <a:r>
              <a:rPr lang="en-US" dirty="0">
                <a:latin typeface="CS Avva Shenouda" pitchFamily="34" charset="0"/>
              </a:rPr>
              <a:t>.</a:t>
            </a:r>
            <a:br>
              <a:rPr lang="en-US" dirty="0"/>
            </a:br>
            <a:r>
              <a:rPr lang="en-US" sz="2800" dirty="0">
                <a:solidFill>
                  <a:srgbClr val="FFCC00"/>
                </a:solidFill>
              </a:rPr>
              <a:t>"Honor your father and your mother." (Eph 6:2)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u="sng" dirty="0">
                <a:solidFill>
                  <a:srgbClr val="FF0000"/>
                </a:solidFill>
              </a:rPr>
              <a:t>Vocabulary List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4572000" y="4495800"/>
            <a:ext cx="3352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God</a:t>
            </a: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1066800" y="4495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Nou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]</a:t>
            </a: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4572000" y="3657600"/>
            <a:ext cx="2819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mother</a:t>
            </a:r>
          </a:p>
        </p:txBody>
      </p:sp>
      <p:sp>
        <p:nvSpPr>
          <p:cNvPr id="249863" name="Rectangle 7"/>
          <p:cNvSpPr>
            <a:spLocks noChangeArrowheads="1"/>
          </p:cNvSpPr>
          <p:nvPr/>
        </p:nvSpPr>
        <p:spPr bwMode="auto">
          <a:xfrm>
            <a:off x="1143000" y="3657600"/>
            <a:ext cx="2667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mau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4572000" y="2819400"/>
            <a:ext cx="3124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light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1371600" y="28194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ouwini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4572000" y="1981200"/>
            <a:ext cx="28194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man</a:t>
            </a:r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1371600" y="1981200"/>
            <a:ext cx="2133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rwmi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68" name="Rectangle 12"/>
          <p:cNvSpPr>
            <a:spLocks noChangeArrowheads="1"/>
          </p:cNvSpPr>
          <p:nvPr/>
        </p:nvSpPr>
        <p:spPr bwMode="auto">
          <a:xfrm>
            <a:off x="4572000" y="1143000"/>
            <a:ext cx="3048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Father</a:t>
            </a:r>
          </a:p>
        </p:txBody>
      </p:sp>
      <p:sp>
        <p:nvSpPr>
          <p:cNvPr id="249869" name="Rectangle 13"/>
          <p:cNvSpPr>
            <a:spLocks noChangeArrowheads="1"/>
          </p:cNvSpPr>
          <p:nvPr/>
        </p:nvSpPr>
        <p:spPr bwMode="auto">
          <a:xfrm>
            <a:off x="1447800" y="1143000"/>
            <a:ext cx="20574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iwt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9879" name="Rectangle 23"/>
          <p:cNvSpPr>
            <a:spLocks noChangeArrowheads="1"/>
          </p:cNvSpPr>
          <p:nvPr/>
        </p:nvSpPr>
        <p:spPr bwMode="auto">
          <a:xfrm>
            <a:off x="4572000" y="5257800"/>
            <a:ext cx="15240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book</a:t>
            </a:r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1143000" y="52578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jwm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1219200" y="6019800"/>
            <a:ext cx="2590800" cy="609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syri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4572000" y="6019800"/>
            <a:ext cx="1981200" cy="609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/>
      <p:bldP spid="249861" grpId="0"/>
      <p:bldP spid="249862" grpId="0"/>
      <p:bldP spid="249863" grpId="0"/>
      <p:bldP spid="249864" grpId="0"/>
      <p:bldP spid="249865" grpId="0"/>
      <p:bldP spid="249866" grpId="0"/>
      <p:bldP spid="249867" grpId="0"/>
      <p:bldP spid="249868" grpId="0"/>
      <p:bldP spid="249869" grpId="0"/>
      <p:bldP spid="249879" grpId="0"/>
      <p:bldP spid="249880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/>
            <a:r>
              <a:rPr lang="en-US" dirty="0"/>
              <a:t>Indefinite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3962400" cy="28194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 err="1">
                <a:solidFill>
                  <a:srgbClr val="FF0000"/>
                </a:solidFill>
                <a:latin typeface="CS Avva Shenouda" pitchFamily="34" charset="0"/>
              </a:rPr>
              <a:t>ou</a:t>
            </a:r>
            <a:r>
              <a:rPr lang="en-US" sz="3200" b="1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= a, an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latin typeface="CS Avva Shenouda" pitchFamily="34" charset="0"/>
              </a:rPr>
              <a:t>ou</a:t>
            </a:r>
            <a:r>
              <a:rPr lang="en-US" sz="2400" dirty="0" err="1">
                <a:latin typeface="CS Avva Shenouda" pitchFamily="34" charset="0"/>
              </a:rPr>
              <a:t>jwm</a:t>
            </a:r>
            <a:r>
              <a:rPr lang="en-US" sz="2400" dirty="0">
                <a:latin typeface="CS Avva Shenouda" pitchFamily="34" charset="0"/>
              </a:rPr>
              <a:t>     </a:t>
            </a:r>
            <a:r>
              <a:rPr lang="en-US" sz="2400" dirty="0">
                <a:latin typeface="+mj-lt"/>
              </a:rPr>
              <a:t>= a book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latin typeface="CS Avva Shenouda" pitchFamily="34" charset="0"/>
              </a:rPr>
              <a:t>ou</a:t>
            </a:r>
            <a:r>
              <a:rPr lang="en-US" sz="2400" dirty="0" err="1">
                <a:latin typeface="CS Avva Shenouda" pitchFamily="34" charset="0"/>
              </a:rPr>
              <a:t>molh</a:t>
            </a:r>
            <a:r>
              <a:rPr lang="en-US" sz="2400" dirty="0">
                <a:latin typeface="+mj-lt"/>
              </a:rPr>
              <a:t>   = a candle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latin typeface="CS Avva Shenouda" pitchFamily="34" charset="0"/>
              </a:rPr>
              <a:t>ou</a:t>
            </a:r>
            <a:r>
              <a:rPr lang="en-US" sz="2400" dirty="0" err="1">
                <a:latin typeface="CS Avva Shenouda" pitchFamily="34" charset="0"/>
              </a:rPr>
              <a:t>totc</a:t>
            </a:r>
            <a:r>
              <a:rPr lang="en-US" sz="2400" dirty="0">
                <a:latin typeface="+mj-lt"/>
              </a:rPr>
              <a:t>    = a chair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latin typeface="CS Avva Shenouda" pitchFamily="34" charset="0"/>
              </a:rPr>
              <a:t>ou</a:t>
            </a:r>
            <a:r>
              <a:rPr lang="en-US" sz="2400" dirty="0" err="1">
                <a:latin typeface="CS Avva Shenouda" pitchFamily="34" charset="0"/>
              </a:rPr>
              <a:t>kas</a:t>
            </a:r>
            <a:r>
              <a:rPr lang="en-US" sz="2400" dirty="0">
                <a:latin typeface="+mj-lt"/>
              </a:rPr>
              <a:t>     = a pencil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latin typeface="CS Avva Shenouda" pitchFamily="34" charset="0"/>
              </a:rPr>
              <a:t>ou</a:t>
            </a:r>
            <a:r>
              <a:rPr lang="en-US" sz="2400" dirty="0" err="1">
                <a:latin typeface="CS Avva Shenouda" pitchFamily="34" charset="0"/>
              </a:rPr>
              <a:t>ws</a:t>
            </a:r>
            <a:r>
              <a:rPr lang="en-US" sz="2400" dirty="0">
                <a:latin typeface="+mj-lt"/>
              </a:rPr>
              <a:t>      = a lesson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latin typeface="CS Avva Shenouda" pitchFamily="34" charset="0"/>
              </a:rPr>
              <a:t>ou</a:t>
            </a:r>
            <a:r>
              <a:rPr lang="en-US" sz="2400" dirty="0" err="1">
                <a:latin typeface="CS Avva Shenouda" pitchFamily="34" charset="0"/>
              </a:rPr>
              <a:t>`ajp</a:t>
            </a:r>
            <a:r>
              <a:rPr lang="en-US" sz="2400" dirty="0">
                <a:latin typeface="+mj-lt"/>
              </a:rPr>
              <a:t>     = a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66800"/>
            <a:ext cx="3733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Char char="v"/>
            </a:pPr>
            <a:r>
              <a:rPr lang="en-US" sz="3200" b="1" dirty="0" err="1">
                <a:solidFill>
                  <a:srgbClr val="FF0000"/>
                </a:solidFill>
                <a:effectLst/>
                <a:cs typeface="+mn-cs"/>
              </a:rPr>
              <a:t>han</a:t>
            </a:r>
            <a:r>
              <a:rPr lang="en-US" sz="3200" b="1" dirty="0">
                <a:solidFill>
                  <a:srgbClr val="FF0000"/>
                </a:solidFill>
                <a:effectLst/>
                <a:cs typeface="+mn-cs"/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/>
                <a:latin typeface="+mn-lt"/>
                <a:cs typeface="+mn-cs"/>
              </a:rPr>
              <a:t>= s, some</a:t>
            </a:r>
          </a:p>
          <a:p>
            <a:pPr marL="640080" lvl="1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effectLst/>
                <a:cs typeface="+mn-cs"/>
              </a:rPr>
              <a:t>han</a:t>
            </a:r>
            <a:r>
              <a:rPr lang="en-US" sz="2400" dirty="0" err="1">
                <a:effectLst/>
                <a:cs typeface="+mn-cs"/>
              </a:rPr>
              <a:t>jwm</a:t>
            </a:r>
            <a:r>
              <a:rPr lang="en-US" sz="2400" dirty="0">
                <a:solidFill>
                  <a:schemeClr val="accent1"/>
                </a:solidFill>
                <a:effectLst/>
                <a:cs typeface="+mn-cs"/>
              </a:rPr>
              <a:t>    </a:t>
            </a:r>
            <a:r>
              <a:rPr lang="en-US" sz="2400" dirty="0">
                <a:effectLst/>
                <a:latin typeface="+mj-lt"/>
                <a:cs typeface="+mn-cs"/>
              </a:rPr>
              <a:t>= books</a:t>
            </a:r>
          </a:p>
          <a:p>
            <a:pPr marL="640080" lvl="1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effectLst/>
                <a:cs typeface="+mn-cs"/>
              </a:rPr>
              <a:t>han</a:t>
            </a:r>
            <a:r>
              <a:rPr lang="en-US" sz="2400" dirty="0" err="1">
                <a:effectLst/>
                <a:cs typeface="+mn-cs"/>
              </a:rPr>
              <a:t>molh</a:t>
            </a:r>
            <a:r>
              <a:rPr lang="en-US" sz="2400" dirty="0">
                <a:solidFill>
                  <a:schemeClr val="accent1"/>
                </a:solidFill>
                <a:effectLst/>
                <a:cs typeface="+mn-cs"/>
              </a:rPr>
              <a:t>  </a:t>
            </a:r>
            <a:r>
              <a:rPr lang="en-US" sz="2400" dirty="0">
                <a:effectLst/>
                <a:latin typeface="+mj-lt"/>
                <a:cs typeface="+mn-cs"/>
              </a:rPr>
              <a:t>= candles</a:t>
            </a:r>
          </a:p>
          <a:p>
            <a:pPr marL="640080" lvl="1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effectLst/>
                <a:cs typeface="+mn-cs"/>
              </a:rPr>
              <a:t>han</a:t>
            </a:r>
            <a:r>
              <a:rPr lang="en-US" sz="2400" dirty="0" err="1">
                <a:effectLst/>
                <a:cs typeface="+mn-cs"/>
              </a:rPr>
              <a:t>totc</a:t>
            </a:r>
            <a:r>
              <a:rPr lang="en-US" sz="2400" dirty="0">
                <a:solidFill>
                  <a:schemeClr val="accent1"/>
                </a:solidFill>
                <a:effectLst/>
                <a:cs typeface="+mn-cs"/>
              </a:rPr>
              <a:t>   </a:t>
            </a:r>
            <a:r>
              <a:rPr lang="en-US" sz="2400" dirty="0">
                <a:effectLst/>
                <a:latin typeface="+mj-lt"/>
                <a:cs typeface="+mn-cs"/>
              </a:rPr>
              <a:t>= chairs</a:t>
            </a:r>
          </a:p>
          <a:p>
            <a:pPr marL="640080" lvl="1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effectLst/>
                <a:cs typeface="+mn-cs"/>
              </a:rPr>
              <a:t>han</a:t>
            </a:r>
            <a:r>
              <a:rPr lang="en-US" sz="2400" dirty="0" err="1">
                <a:effectLst/>
                <a:cs typeface="+mn-cs"/>
              </a:rPr>
              <a:t>kas</a:t>
            </a:r>
            <a:r>
              <a:rPr lang="en-US" sz="2400" dirty="0">
                <a:solidFill>
                  <a:schemeClr val="accent1"/>
                </a:solidFill>
                <a:effectLst/>
                <a:cs typeface="+mn-cs"/>
              </a:rPr>
              <a:t>    </a:t>
            </a:r>
            <a:r>
              <a:rPr lang="en-US" sz="2400" dirty="0">
                <a:effectLst/>
                <a:latin typeface="+mj-lt"/>
                <a:cs typeface="+mn-cs"/>
              </a:rPr>
              <a:t>= pencils</a:t>
            </a:r>
          </a:p>
          <a:p>
            <a:pPr marL="640080" lvl="1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effectLst/>
                <a:cs typeface="+mn-cs"/>
              </a:rPr>
              <a:t>han</a:t>
            </a:r>
            <a:r>
              <a:rPr lang="en-US" sz="2400" dirty="0" err="1">
                <a:effectLst/>
                <a:cs typeface="+mn-cs"/>
              </a:rPr>
              <a:t>ws</a:t>
            </a:r>
            <a:r>
              <a:rPr lang="en-US" sz="2400" dirty="0">
                <a:solidFill>
                  <a:schemeClr val="accent1"/>
                </a:solidFill>
                <a:effectLst/>
                <a:cs typeface="+mn-cs"/>
              </a:rPr>
              <a:t>     </a:t>
            </a:r>
            <a:r>
              <a:rPr lang="en-US" sz="2400" dirty="0">
                <a:effectLst/>
                <a:latin typeface="+mj-lt"/>
                <a:cs typeface="+mn-cs"/>
              </a:rPr>
              <a:t>= lessons</a:t>
            </a:r>
          </a:p>
          <a:p>
            <a:pPr marL="640080" lvl="1" indent="-27432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1"/>
                </a:solidFill>
                <a:effectLst/>
                <a:cs typeface="+mn-cs"/>
              </a:rPr>
              <a:t>han</a:t>
            </a:r>
            <a:r>
              <a:rPr lang="en-US" sz="2400" dirty="0" err="1">
                <a:effectLst/>
                <a:cs typeface="+mn-cs"/>
              </a:rPr>
              <a:t>`ajp</a:t>
            </a:r>
            <a:r>
              <a:rPr lang="en-US" sz="2400" dirty="0">
                <a:effectLst/>
                <a:cs typeface="+mn-cs"/>
              </a:rPr>
              <a:t> </a:t>
            </a:r>
            <a:r>
              <a:rPr lang="en-US" sz="2400" dirty="0">
                <a:solidFill>
                  <a:schemeClr val="accent1"/>
                </a:solidFill>
                <a:effectLst/>
                <a:cs typeface="+mn-cs"/>
              </a:rPr>
              <a:t>   </a:t>
            </a:r>
            <a:r>
              <a:rPr lang="en-US" sz="2400" dirty="0">
                <a:effectLst/>
                <a:latin typeface="+mj-lt"/>
                <a:cs typeface="+mn-cs"/>
              </a:rPr>
              <a:t>= watches</a:t>
            </a:r>
            <a:endParaRPr lang="en-US" dirty="0">
              <a:effectLst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V="1">
            <a:off x="2362200" y="44196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914400" y="44196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rwmi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590800" y="44196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cwni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4572000" y="44196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mau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324600" y="44196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nyb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600200" y="5105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jij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657600" y="5105400"/>
            <a:ext cx="1371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sau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5562600" y="5105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ouro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762000" y="5791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bal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2438400" y="5791200"/>
            <a:ext cx="18288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vorsi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4648200" y="5791200"/>
            <a:ext cx="1524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ajp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6629400" y="5791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totc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381000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Wingdings" pitchFamily="2" charset="2"/>
              <a:buChar char="v"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Practice using the following nouns: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6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6870700" cy="838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Indefinite Article Exercise (Part 1)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ouve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hanve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100000"/>
              </a:spcBef>
              <a:defRPr/>
            </a:pPr>
            <a:r>
              <a:rPr lang="en-US" sz="3200" dirty="0" err="1"/>
              <a:t>ve</a:t>
            </a:r>
            <a:endParaRPr lang="en-US" sz="3200" dirty="0"/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ouri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hanri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3200" dirty="0" err="1"/>
              <a:t>ri</a:t>
            </a:r>
            <a:endParaRPr lang="en-US" sz="3200" dirty="0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ousoury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hansoury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4000" dirty="0" err="1"/>
              <a:t>soury</a:t>
            </a:r>
            <a:endParaRPr lang="en-US" sz="4000" dirty="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ouiwt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haniwt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err="1"/>
              <a:t>iwt</a:t>
            </a:r>
            <a:endParaRPr lang="en-US" sz="4000" dirty="0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ouran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hanran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4000" dirty="0"/>
              <a:t>ran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oucon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hancon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/>
              <a:t>con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2800" dirty="0" err="1">
                <a:latin typeface="CS Avva Shenouda"/>
                <a:cs typeface="CS Avva Shenouda"/>
              </a:rPr>
              <a:t>Han`alou</a:t>
            </a:r>
            <a:endParaRPr lang="en-US" sz="2800" dirty="0">
              <a:latin typeface="CS Avva Shenouda"/>
              <a:cs typeface="CS Avva Shenouda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Word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Plural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429000" y="1143000"/>
            <a:ext cx="129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Singular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4000" dirty="0"/>
              <a:t>`</a:t>
            </a:r>
            <a:r>
              <a:rPr lang="en-US" sz="4000" dirty="0" err="1"/>
              <a:t>alou</a:t>
            </a:r>
            <a:endParaRPr lang="en-US" sz="4000" dirty="0"/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2667000" y="1600200"/>
            <a:ext cx="2743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2800" dirty="0" err="1">
                <a:latin typeface="CS Avva Shenouda"/>
                <a:cs typeface="CS Avva Shenouda"/>
              </a:rPr>
              <a:t>ou`alou</a:t>
            </a:r>
            <a:endParaRPr lang="en-US" sz="2800" dirty="0">
              <a:latin typeface="CS Avva Shenouda"/>
              <a:cs typeface="CS Avva Shenouda"/>
            </a:endParaRPr>
          </a:p>
        </p:txBody>
      </p:sp>
    </p:spTree>
    <p:extLst>
      <p:ext uri="{BB962C8B-B14F-4D97-AF65-F5344CB8AC3E}">
        <p14:creationId xmlns:p14="http://schemas.microsoft.com/office/powerpoint/2010/main" val="394220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80" grpId="0"/>
      <p:bldP spid="23579" grpId="0"/>
      <p:bldP spid="23578" grpId="0"/>
      <p:bldP spid="23577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8" grpId="0"/>
      <p:bldP spid="23567" grpId="0"/>
      <p:bldP spid="23566" grpId="0"/>
      <p:bldP spid="23565" grpId="0"/>
      <p:bldP spid="23564" grpId="0"/>
      <p:bldP spid="23563" grpId="0"/>
      <p:bldP spid="23561" grpId="0"/>
      <p:bldP spid="39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/>
            <a:r>
              <a:rPr lang="en-US" dirty="0"/>
              <a:t>Definite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848600" cy="5407152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S Avva Shenouda" pitchFamily="34" charset="0"/>
              </a:rPr>
              <a:t>pi&gt; `p&gt; `v </a:t>
            </a:r>
            <a:r>
              <a:rPr lang="en-US" sz="3200" dirty="0">
                <a:latin typeface="CS Avva Shenouda" pitchFamily="34" charset="0"/>
              </a:rPr>
              <a:t>_ </a:t>
            </a:r>
            <a:r>
              <a:rPr lang="en-US" sz="3200" b="1" dirty="0">
                <a:solidFill>
                  <a:srgbClr val="FF0000"/>
                </a:solidFill>
              </a:rPr>
              <a:t>the</a:t>
            </a:r>
            <a:r>
              <a:rPr lang="en-US" sz="3200" dirty="0"/>
              <a:t> (singular masculine)</a:t>
            </a:r>
          </a:p>
          <a:p>
            <a:pPr marL="457200" indent="-457200" algn="ctr">
              <a:buFont typeface="Wingdings" pitchFamily="2" charset="2"/>
              <a:buChar char="v"/>
            </a:pPr>
            <a:r>
              <a:rPr lang="en-US" sz="3900" dirty="0">
                <a:solidFill>
                  <a:schemeClr val="accent3">
                    <a:lumMod val="75000"/>
                  </a:schemeClr>
                </a:solidFill>
                <a:latin typeface="CS Avva Shenouda" pitchFamily="34" charset="0"/>
              </a:rPr>
              <a:t>`v </a:t>
            </a:r>
            <a:r>
              <a:rPr lang="en-US" sz="2700" dirty="0"/>
              <a:t>if the word starts with 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   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CS Avva Shenouda" pitchFamily="34" charset="0"/>
              </a:rPr>
              <a:t>b&gt; </a:t>
            </a:r>
            <a:r>
              <a:rPr lang="en-US" sz="3200" dirty="0" err="1">
                <a:solidFill>
                  <a:srgbClr val="002060"/>
                </a:solidFill>
                <a:latin typeface="CS Avva Shenouda" pitchFamily="34" charset="0"/>
              </a:rPr>
              <a:t>i</a:t>
            </a:r>
            <a:r>
              <a:rPr lang="en-US" sz="3200" dirty="0">
                <a:solidFill>
                  <a:srgbClr val="002060"/>
                </a:solidFill>
                <a:latin typeface="CS Avva Shenouda" pitchFamily="34" charset="0"/>
              </a:rPr>
              <a:t>&gt; l&gt; m&gt; n&gt; </a:t>
            </a:r>
            <a:r>
              <a:rPr lang="en-US" sz="3200" dirty="0" err="1">
                <a:solidFill>
                  <a:srgbClr val="002060"/>
                </a:solidFill>
                <a:latin typeface="CS Avva Shenouda" pitchFamily="34" charset="0"/>
              </a:rPr>
              <a:t>ou</a:t>
            </a:r>
            <a:r>
              <a:rPr lang="en-US" sz="3200" dirty="0">
                <a:solidFill>
                  <a:srgbClr val="002060"/>
                </a:solidFill>
                <a:latin typeface="CS Avva Shenouda" pitchFamily="34" charset="0"/>
              </a:rPr>
              <a:t>&gt; r</a:t>
            </a:r>
            <a:endParaRPr lang="en-US" sz="32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3200" u="sng" dirty="0">
                <a:solidFill>
                  <a:srgbClr val="FFC000"/>
                </a:solidFill>
              </a:rPr>
              <a:t>Examples:</a:t>
            </a: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590675" algn="l"/>
                <a:tab pos="3200400" algn="l"/>
                <a:tab pos="4743450" algn="l"/>
                <a:tab pos="6340475" algn="l"/>
              </a:tabLst>
            </a:pP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romi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kahi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V</a:t>
            </a:r>
            <a:r>
              <a:rPr lang="en-US" sz="3200" dirty="0" err="1">
                <a:latin typeface="CS Avva Shenouda" pitchFamily="34" charset="0"/>
              </a:rPr>
              <a:t>nou</a:t>
            </a:r>
            <a:r>
              <a:rPr lang="en-US" sz="3200" dirty="0">
                <a:latin typeface="CS Avva Shenouda" pitchFamily="34" charset="0"/>
              </a:rPr>
              <a:t>]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`alou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ioh</a:t>
            </a:r>
            <a:endParaRPr lang="en-US" sz="3200" dirty="0">
              <a:latin typeface="CS Avva Shenouda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590675" algn="l"/>
                <a:tab pos="3200400" algn="l"/>
                <a:tab pos="4743450" algn="l"/>
                <a:tab pos="6340475" algn="l"/>
              </a:tabLst>
            </a:pP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v</a:t>
            </a:r>
            <a:r>
              <a:rPr lang="en-US" sz="3200" dirty="0" err="1">
                <a:latin typeface="CS Avva Shenouda" pitchFamily="34" charset="0"/>
              </a:rPr>
              <a:t>ry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con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</a:t>
            </a:r>
            <a:r>
              <a:rPr lang="en-US" sz="3200" dirty="0" err="1">
                <a:latin typeface="CS Avva Shenouda" pitchFamily="34" charset="0"/>
              </a:rPr>
              <a:t>syri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v</a:t>
            </a:r>
            <a:r>
              <a:rPr lang="en-US" sz="3200" dirty="0" err="1">
                <a:latin typeface="CS Avva Shenouda" pitchFamily="34" charset="0"/>
              </a:rPr>
              <a:t>iwt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bal</a:t>
            </a:r>
            <a:endParaRPr lang="en-US" sz="3200" dirty="0">
              <a:latin typeface="CS Avva Shenouda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590675" algn="l"/>
                <a:tab pos="3200400" algn="l"/>
                <a:tab pos="4743450" algn="l"/>
                <a:tab pos="6340475" algn="l"/>
              </a:tabLst>
            </a:pP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</a:t>
            </a:r>
            <a:r>
              <a:rPr lang="en-US" sz="3200" dirty="0" err="1">
                <a:latin typeface="CS Avva Shenouda" pitchFamily="34" charset="0"/>
              </a:rPr>
              <a:t>yi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v</a:t>
            </a:r>
            <a:r>
              <a:rPr lang="en-US" sz="3200" dirty="0" err="1">
                <a:latin typeface="CS Avva Shenouda" pitchFamily="34" charset="0"/>
              </a:rPr>
              <a:t>ran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 err="1">
                <a:latin typeface="CS Avva Shenouda" pitchFamily="34" charset="0"/>
              </a:rPr>
              <a:t>ro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p</a:t>
            </a:r>
            <a:r>
              <a:rPr lang="en-US" sz="3200" dirty="0" err="1">
                <a:latin typeface="CS Avva Shenouda" pitchFamily="34" charset="0"/>
              </a:rPr>
              <a:t>ouro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v</a:t>
            </a:r>
            <a:r>
              <a:rPr lang="en-US" sz="3200" dirty="0" err="1">
                <a:latin typeface="CS Avva Shenouda" pitchFamily="34" charset="0"/>
              </a:rPr>
              <a:t>nyb</a:t>
            </a:r>
            <a:endParaRPr lang="en-US" sz="3200" dirty="0">
              <a:latin typeface="CS Avva Shenouda" pitchFamily="34" charset="0"/>
            </a:endParaRPr>
          </a:p>
          <a:p>
            <a:pPr marL="0" indent="0">
              <a:buNone/>
            </a:pPr>
            <a:endParaRPr lang="en-US" sz="3200" dirty="0"/>
          </a:p>
          <a:p>
            <a:pPr marL="457200" indent="-457200">
              <a:buFont typeface="+mj-lt"/>
              <a:buAutoNum type="arabicPeriod" startAt="3"/>
            </a:pPr>
            <a:endParaRPr lang="en-US" sz="3200" dirty="0"/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/>
            <a:r>
              <a:rPr lang="en-US" dirty="0"/>
              <a:t>Definite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772400" cy="540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S Avva Shenouda" pitchFamily="34" charset="0"/>
              </a:rPr>
              <a:t>]&gt; `t&gt; `; </a:t>
            </a:r>
            <a:r>
              <a:rPr lang="en-US" sz="3200" dirty="0">
                <a:latin typeface="CS Avva Shenouda" pitchFamily="34" charset="0"/>
              </a:rPr>
              <a:t>_ </a:t>
            </a:r>
            <a:r>
              <a:rPr lang="en-US" sz="3200" b="1" dirty="0">
                <a:solidFill>
                  <a:srgbClr val="FF0000"/>
                </a:solidFill>
              </a:rPr>
              <a:t>the</a:t>
            </a:r>
            <a:r>
              <a:rPr lang="en-US" sz="3200" dirty="0"/>
              <a:t> (singular feminine)</a:t>
            </a:r>
          </a:p>
          <a:p>
            <a:pPr marL="457200" indent="-457200" algn="ctr">
              <a:buFont typeface="Wingdings" pitchFamily="2" charset="2"/>
              <a:buChar char="v"/>
            </a:pPr>
            <a:r>
              <a:rPr lang="en-US" sz="3900" dirty="0">
                <a:solidFill>
                  <a:schemeClr val="accent3">
                    <a:lumMod val="75000"/>
                  </a:schemeClr>
                </a:solidFill>
                <a:latin typeface="CS Avva Shenouda" pitchFamily="34" charset="0"/>
              </a:rPr>
              <a:t>`;</a:t>
            </a:r>
            <a:r>
              <a:rPr lang="en-US" sz="39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2700" dirty="0"/>
              <a:t>if the word starts with </a:t>
            </a:r>
            <a:br>
              <a:rPr lang="en-US" sz="3900" dirty="0">
                <a:solidFill>
                  <a:srgbClr val="FF0000"/>
                </a:solidFill>
                <a:latin typeface="CS Avva Shenouda" pitchFamily="34" charset="0"/>
              </a:rPr>
            </a:br>
            <a:r>
              <a:rPr lang="en-US" sz="3900" dirty="0">
                <a:solidFill>
                  <a:srgbClr val="FF0000"/>
                </a:solidFill>
                <a:latin typeface="CS Avva Shenouda" pitchFamily="34" charset="0"/>
              </a:rPr>
              <a:t>    </a:t>
            </a:r>
            <a:r>
              <a:rPr lang="en-US" sz="3200" dirty="0">
                <a:solidFill>
                  <a:srgbClr val="002060"/>
                </a:solidFill>
                <a:latin typeface="CS Avva Shenouda" pitchFamily="34" charset="0"/>
              </a:rPr>
              <a:t>b&gt; </a:t>
            </a:r>
            <a:r>
              <a:rPr lang="en-US" sz="3200" dirty="0" err="1">
                <a:solidFill>
                  <a:srgbClr val="002060"/>
                </a:solidFill>
                <a:latin typeface="CS Avva Shenouda" pitchFamily="34" charset="0"/>
              </a:rPr>
              <a:t>i</a:t>
            </a:r>
            <a:r>
              <a:rPr lang="en-US" sz="3200" dirty="0">
                <a:solidFill>
                  <a:srgbClr val="002060"/>
                </a:solidFill>
                <a:latin typeface="CS Avva Shenouda" pitchFamily="34" charset="0"/>
              </a:rPr>
              <a:t>&gt; l&gt; m&gt; n&gt; </a:t>
            </a:r>
            <a:r>
              <a:rPr lang="en-US" sz="3200" dirty="0" err="1">
                <a:solidFill>
                  <a:srgbClr val="002060"/>
                </a:solidFill>
                <a:latin typeface="CS Avva Shenouda" pitchFamily="34" charset="0"/>
              </a:rPr>
              <a:t>ou</a:t>
            </a:r>
            <a:r>
              <a:rPr lang="en-US" sz="3200" dirty="0">
                <a:solidFill>
                  <a:srgbClr val="002060"/>
                </a:solidFill>
                <a:latin typeface="CS Avva Shenouda" pitchFamily="34" charset="0"/>
              </a:rPr>
              <a:t>&gt; r</a:t>
            </a:r>
          </a:p>
          <a:p>
            <a:pPr marL="0" indent="0">
              <a:buNone/>
            </a:pPr>
            <a:r>
              <a:rPr lang="en-US" sz="4000" u="sng" dirty="0">
                <a:solidFill>
                  <a:srgbClr val="FFC000"/>
                </a:solidFill>
              </a:rPr>
              <a:t>Examples:</a:t>
            </a: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477963" algn="l"/>
                <a:tab pos="3200400" algn="l"/>
                <a:tab pos="4624388" algn="l"/>
                <a:tab pos="6172200" algn="l"/>
              </a:tabLst>
            </a:pP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>
                <a:latin typeface="CS Avva Shenouda" pitchFamily="34" charset="0"/>
              </a:rPr>
              <a:t>`</a:t>
            </a:r>
            <a:r>
              <a:rPr lang="en-US" sz="3200" dirty="0" err="1">
                <a:latin typeface="CS Avva Shenouda" pitchFamily="34" charset="0"/>
              </a:rPr>
              <a:t>chimi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vorsi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t</a:t>
            </a:r>
            <a:r>
              <a:rPr lang="en-US" sz="3200" dirty="0" err="1">
                <a:latin typeface="CS Avva Shenouda" pitchFamily="34" charset="0"/>
              </a:rPr>
              <a:t>seri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ourw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ri</a:t>
            </a:r>
            <a:endParaRPr lang="en-US" sz="3200" dirty="0">
              <a:latin typeface="CS Avva Shenouda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477963" algn="l"/>
                <a:tab pos="3200400" algn="l"/>
                <a:tab pos="4624388" algn="l"/>
                <a:tab pos="6172200" algn="l"/>
              </a:tabLst>
            </a:pP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cwni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ajp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t</a:t>
            </a:r>
            <a:r>
              <a:rPr lang="en-US" sz="3200" dirty="0" err="1">
                <a:latin typeface="CS Avva Shenouda" pitchFamily="34" charset="0"/>
              </a:rPr>
              <a:t>ve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sau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soury</a:t>
            </a:r>
            <a:endParaRPr lang="en-US" sz="3200" dirty="0">
              <a:latin typeface="CS Avva Shenouda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477963" algn="l"/>
                <a:tab pos="3200400" algn="l"/>
                <a:tab pos="4624388" algn="l"/>
                <a:tab pos="6172200" algn="l"/>
              </a:tabLst>
            </a:pP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`;</a:t>
            </a:r>
            <a:r>
              <a:rPr lang="en-US" sz="3200" dirty="0" err="1">
                <a:latin typeface="CS Avva Shenouda" pitchFamily="34" charset="0"/>
              </a:rPr>
              <a:t>mau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>
                <a:latin typeface="CS Avva Shenouda" pitchFamily="34" charset="0"/>
              </a:rPr>
              <a:t>`</a:t>
            </a:r>
            <a:r>
              <a:rPr lang="en-US" sz="3200" dirty="0" err="1">
                <a:latin typeface="CS Avva Shenouda" pitchFamily="34" charset="0"/>
              </a:rPr>
              <a:t>alou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jij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`;</a:t>
            </a:r>
            <a:r>
              <a:rPr lang="en-US" sz="3200" dirty="0" err="1">
                <a:latin typeface="CS Avva Shenouda" pitchFamily="34" charset="0"/>
              </a:rPr>
              <a:t>nyb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 err="1">
                <a:latin typeface="CS Avva Shenouda" pitchFamily="34" charset="0"/>
              </a:rPr>
              <a:t>hiomi</a:t>
            </a:r>
            <a:endParaRPr lang="en-US" sz="3200" dirty="0">
              <a:latin typeface="CS Avva Shenouda" pitchFamily="34" charset="0"/>
            </a:endParaRPr>
          </a:p>
          <a:p>
            <a:pPr marL="0" indent="0">
              <a:buNone/>
            </a:pPr>
            <a:endParaRPr lang="en-US" sz="3200" dirty="0"/>
          </a:p>
          <a:p>
            <a:pPr marL="457200" indent="-457200">
              <a:buFont typeface="+mj-lt"/>
              <a:buAutoNum type="arabicPeriod" startAt="3"/>
            </a:pPr>
            <a:endParaRPr lang="en-US" sz="3200" dirty="0"/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CS Avva Shenoud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22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/>
            <a:r>
              <a:rPr lang="en-US" dirty="0"/>
              <a:t>Definite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924800" cy="54071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4000" b="1" dirty="0">
                <a:solidFill>
                  <a:srgbClr val="FF0000"/>
                </a:solidFill>
                <a:latin typeface="CS Avva Shenouda" pitchFamily="34" charset="0"/>
              </a:rPr>
              <a:t>-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3200" dirty="0">
                <a:latin typeface="CS Avva Shenouda" pitchFamily="34" charset="0"/>
              </a:rPr>
              <a:t>_ </a:t>
            </a:r>
            <a:r>
              <a:rPr lang="en-US" sz="3200" b="1" dirty="0">
                <a:solidFill>
                  <a:srgbClr val="FF0000"/>
                </a:solidFill>
              </a:rPr>
              <a:t>the</a:t>
            </a:r>
            <a:r>
              <a:rPr lang="en-US" sz="3200" dirty="0"/>
              <a:t> (plural)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200" dirty="0"/>
          </a:p>
          <a:p>
            <a:pPr marL="0" indent="0">
              <a:buNone/>
            </a:pPr>
            <a:r>
              <a:rPr lang="en-US" sz="3200" u="sng" dirty="0">
                <a:solidFill>
                  <a:srgbClr val="FFC000"/>
                </a:solidFill>
              </a:rPr>
              <a:t>Examples:</a:t>
            </a: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535113" algn="l"/>
                <a:tab pos="3136900" algn="l"/>
                <a:tab pos="4510088" algn="l"/>
                <a:tab pos="6396038" algn="l"/>
              </a:tabLst>
            </a:pP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cwni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rwmi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ran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mau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`alou</a:t>
            </a:r>
            <a:endParaRPr lang="en-US" sz="3200" dirty="0">
              <a:latin typeface="CS Avva Shenouda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535113" algn="l"/>
                <a:tab pos="3136900" algn="l"/>
                <a:tab pos="4510088" algn="l"/>
                <a:tab pos="6396038" algn="l"/>
              </a:tabLst>
            </a:pP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jom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ourw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bal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sau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nyb</a:t>
            </a:r>
            <a:endParaRPr lang="en-US" sz="3200" dirty="0">
              <a:latin typeface="CS Avva Shenouda" pitchFamily="34" charset="0"/>
            </a:endParaRPr>
          </a:p>
          <a:p>
            <a:pPr marL="57150" indent="0">
              <a:lnSpc>
                <a:spcPct val="120000"/>
              </a:lnSpc>
              <a:spcBef>
                <a:spcPts val="1200"/>
              </a:spcBef>
              <a:buNone/>
              <a:tabLst>
                <a:tab pos="457200" algn="l"/>
                <a:tab pos="1535113" algn="l"/>
                <a:tab pos="3136900" algn="l"/>
                <a:tab pos="4510088" algn="l"/>
                <a:tab pos="6396038" algn="l"/>
              </a:tabLst>
            </a:pP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seri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totc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io</a:t>
            </a:r>
            <a:r>
              <a:rPr lang="en-US" sz="3200" dirty="0">
                <a:latin typeface="CS Avva Shenouda" pitchFamily="34" charset="0"/>
              </a:rPr>
              <a:t>]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ourwou</a:t>
            </a:r>
            <a:r>
              <a:rPr lang="en-US" sz="3200" dirty="0">
                <a:latin typeface="CS Avva Shenouda" pitchFamily="34" charset="0"/>
              </a:rPr>
              <a:t>	</a:t>
            </a:r>
            <a:r>
              <a:rPr lang="en-US" sz="32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r>
              <a:rPr lang="en-US" sz="3200" dirty="0" err="1">
                <a:latin typeface="CS Avva Shenouda" pitchFamily="34" charset="0"/>
              </a:rPr>
              <a:t>vyou`i</a:t>
            </a:r>
            <a:endParaRPr lang="en-US" sz="3200" u="sng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rgbClr val="FFC000"/>
              </a:solidFill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3200" dirty="0"/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CS Avva Shenoud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70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algn="ctr"/>
            <a:r>
              <a:rPr lang="en-US" dirty="0"/>
              <a:t>General Definite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848600" cy="5407152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CS Avva Shenouda" pitchFamily="34" charset="0"/>
              </a:rPr>
              <a:t>Pi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     </a:t>
            </a:r>
            <a:r>
              <a:rPr lang="en-US" sz="4400" dirty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sz="3200" dirty="0">
                <a:solidFill>
                  <a:srgbClr val="FF0000"/>
                </a:solidFill>
                <a:latin typeface="CS Avva Shenouda" pitchFamily="34" charset="0"/>
              </a:rPr>
              <a:t>     </a:t>
            </a:r>
            <a:r>
              <a:rPr lang="en-US" sz="4400" dirty="0" err="1">
                <a:solidFill>
                  <a:srgbClr val="FF0000"/>
                </a:solidFill>
                <a:latin typeface="CS Avva Shenouda" pitchFamily="34" charset="0"/>
              </a:rPr>
              <a:t>ni</a:t>
            </a:r>
            <a:endParaRPr lang="en-US" sz="4400" u="sng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7030A0"/>
                </a:solidFill>
              </a:rPr>
              <a:t>General and specific definite articles are used to give different meaning to the same word. </a:t>
            </a:r>
          </a:p>
          <a:p>
            <a:pPr marL="0" indent="0">
              <a:buNone/>
            </a:pPr>
            <a:r>
              <a:rPr lang="en-US" sz="3200" u="sng" dirty="0">
                <a:solidFill>
                  <a:srgbClr val="FFC000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3200" dirty="0">
                <a:latin typeface="CS Avva Shenouda" panose="020B7200000000000000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S Avva Shenouda" panose="020B7200000000000000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S Avva Shenouda" panose="020B7200000000000000" pitchFamily="34" charset="0"/>
              </a:rPr>
              <a:t>`</a:t>
            </a:r>
            <a:r>
              <a:rPr lang="en-US" sz="2800" dirty="0" err="1">
                <a:solidFill>
                  <a:srgbClr val="FF0000"/>
                </a:solidFill>
                <a:latin typeface="CS Avva Shenouda" panose="020B7200000000000000" pitchFamily="34" charset="0"/>
              </a:rPr>
              <a:t>V</a:t>
            </a:r>
            <a:r>
              <a:rPr lang="en-US" sz="2800" dirty="0" err="1">
                <a:latin typeface="CS Avva Shenouda" panose="020B7200000000000000" pitchFamily="34" charset="0"/>
              </a:rPr>
              <a:t>iwt</a:t>
            </a:r>
            <a:r>
              <a:rPr lang="en-US" sz="2800" dirty="0">
                <a:latin typeface="CS Avva Shenouda" panose="020B7200000000000000" pitchFamily="34" charset="0"/>
              </a:rPr>
              <a:t> _ </a:t>
            </a:r>
            <a:r>
              <a:rPr lang="en-US" sz="2800" dirty="0"/>
              <a:t>the father</a:t>
            </a:r>
            <a:r>
              <a:rPr lang="en-US" sz="2800" dirty="0">
                <a:latin typeface="CS Avva Shenouda" panose="020B7200000000000000" pitchFamily="34" charset="0"/>
              </a:rPr>
              <a:t>		</a:t>
            </a:r>
          </a:p>
          <a:p>
            <a:pPr marL="0" indent="0">
              <a:buNone/>
            </a:pPr>
            <a:r>
              <a:rPr lang="en-US" sz="3200" dirty="0">
                <a:latin typeface="CS Avva Shenouda" panose="020B7200000000000000" pitchFamily="34" charset="0"/>
              </a:rPr>
              <a:t>  </a:t>
            </a:r>
            <a:r>
              <a:rPr lang="en-US" sz="3200" dirty="0">
                <a:solidFill>
                  <a:srgbClr val="FF0000"/>
                </a:solidFill>
                <a:latin typeface="CS Avva Shenouda" panose="020B7200000000000000" pitchFamily="34" charset="0"/>
              </a:rPr>
              <a:t>`</a:t>
            </a:r>
            <a:r>
              <a:rPr lang="en-US" sz="2800" dirty="0" err="1">
                <a:solidFill>
                  <a:srgbClr val="FF0000"/>
                </a:solidFill>
                <a:latin typeface="CS Avva Shenouda" panose="020B7200000000000000" pitchFamily="34" charset="0"/>
              </a:rPr>
              <a:t>V</a:t>
            </a:r>
            <a:r>
              <a:rPr lang="en-US" sz="2800" dirty="0" err="1">
                <a:latin typeface="CS Avva Shenouda" panose="020B7200000000000000" pitchFamily="34" charset="0"/>
              </a:rPr>
              <a:t>iom</a:t>
            </a:r>
            <a:r>
              <a:rPr lang="en-US" sz="2800" dirty="0">
                <a:latin typeface="CS Avva Shenouda" panose="020B7200000000000000" pitchFamily="34" charset="0"/>
              </a:rPr>
              <a:t> _</a:t>
            </a:r>
            <a:r>
              <a:rPr lang="en-US" sz="2800" dirty="0"/>
              <a:t> the sea</a:t>
            </a:r>
            <a:r>
              <a:rPr lang="en-US" sz="2800" dirty="0">
                <a:latin typeface="CS Avva Shenouda" panose="020B7200000000000000" pitchFamily="34" charset="0"/>
              </a:rPr>
              <a:t>			</a:t>
            </a:r>
          </a:p>
          <a:p>
            <a:pPr marL="457200" indent="-457200">
              <a:buFont typeface="+mj-lt"/>
              <a:buAutoNum type="arabicPeriod" startAt="3"/>
            </a:pPr>
            <a:endParaRPr lang="en-US" sz="3200" dirty="0"/>
          </a:p>
          <a:p>
            <a:pPr marL="457200" indent="-457200">
              <a:buFont typeface="+mj-lt"/>
              <a:buAutoNum type="arabicPeriod" startAt="3"/>
            </a:pPr>
            <a:endParaRPr lang="en-US" dirty="0">
              <a:latin typeface="CS Avva Shenouda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A1B84-C253-2B23-2E88-AC020CBDE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54" y="5181600"/>
            <a:ext cx="7598546" cy="1036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1BC3D-C290-2CA8-3C56-6E581E2D5772}"/>
              </a:ext>
            </a:extLst>
          </p:cNvPr>
          <p:cNvSpPr txBox="1"/>
          <p:nvPr/>
        </p:nvSpPr>
        <p:spPr>
          <a:xfrm>
            <a:off x="4648200" y="4482525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Pi</a:t>
            </a:r>
            <a:r>
              <a:rPr lang="en-US" sz="3200" dirty="0" err="1"/>
              <a:t>iom</a:t>
            </a:r>
            <a:r>
              <a:rPr lang="en-US" sz="3200" dirty="0"/>
              <a:t> _ </a:t>
            </a:r>
            <a:r>
              <a:rPr lang="en-US" sz="2800" dirty="0">
                <a:latin typeface="+mn-lt"/>
                <a:cs typeface="+mn-cs"/>
              </a:rPr>
              <a:t>the press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727C8-02CC-3771-2191-9D8F425E67CB}"/>
              </a:ext>
            </a:extLst>
          </p:cNvPr>
          <p:cNvSpPr txBox="1"/>
          <p:nvPr/>
        </p:nvSpPr>
        <p:spPr>
          <a:xfrm>
            <a:off x="4724400" y="3961537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Pi</a:t>
            </a:r>
            <a:r>
              <a:rPr lang="en-US" sz="3200" dirty="0" err="1"/>
              <a:t>iwt</a:t>
            </a:r>
            <a:r>
              <a:rPr lang="en-US" sz="3200" dirty="0"/>
              <a:t> _ </a:t>
            </a:r>
            <a:r>
              <a:rPr lang="en-US" sz="2800" dirty="0">
                <a:latin typeface="+mn-lt"/>
                <a:cs typeface="+mn-cs"/>
              </a:rPr>
              <a:t>the barely</a:t>
            </a:r>
          </a:p>
        </p:txBody>
      </p:sp>
    </p:spTree>
    <p:extLst>
      <p:ext uri="{BB962C8B-B14F-4D97-AF65-F5344CB8AC3E}">
        <p14:creationId xmlns:p14="http://schemas.microsoft.com/office/powerpoint/2010/main" val="390529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dirty="0">
                <a:solidFill>
                  <a:srgbClr val="C00000"/>
                </a:solidFill>
              </a:rPr>
              <a:t>Translate the following into English: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Pirwmi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]`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chimi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914400" lvl="3" indent="0">
              <a:buNone/>
            </a:pPr>
            <a:r>
              <a:rPr lang="en-US" dirty="0"/>
              <a:t>The man and the woman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Picon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]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cwni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914400" lvl="3" indent="0">
              <a:buNone/>
            </a:pPr>
            <a:r>
              <a:rPr lang="en-US" dirty="0"/>
              <a:t>The brother and the sister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 startAt="3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Pi`alou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]`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alou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914400" lvl="3" indent="0">
              <a:spcAft>
                <a:spcPts val="600"/>
              </a:spcAft>
              <a:buNone/>
            </a:pPr>
            <a:r>
              <a:rPr lang="en-US" dirty="0"/>
              <a:t>The boy and the girl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`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Viwt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`;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mau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914400" lvl="3" indent="0">
              <a:buNone/>
            </a:pPr>
            <a:r>
              <a:rPr lang="en-US" dirty="0"/>
              <a:t>The father and the mother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`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Tve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pikahi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914400" lvl="3" indent="0">
              <a:buNone/>
            </a:pPr>
            <a:r>
              <a:rPr lang="en-US" dirty="0"/>
              <a:t>The sky and the earth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`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Pyi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]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ri</a:t>
            </a:r>
            <a:endParaRPr lang="en-US" dirty="0"/>
          </a:p>
          <a:p>
            <a:pPr marL="914400" lvl="3" indent="0">
              <a:buNone/>
            </a:pPr>
            <a:r>
              <a:rPr lang="en-US" dirty="0"/>
              <a:t>The house and the room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dirty="0">
                <a:solidFill>
                  <a:srgbClr val="C00000"/>
                </a:solidFill>
              </a:rPr>
              <a:t>Translate the following into Coptic: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room and the door</a:t>
            </a:r>
          </a:p>
          <a:p>
            <a:pPr marL="457200" indent="-45720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]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ri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piro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The table and the chair</a:t>
            </a:r>
          </a:p>
          <a:p>
            <a:pPr marL="457200" indent="-457200">
              <a:buNone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}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vorsi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22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pitotc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The brothers and the sisters</a:t>
            </a:r>
          </a:p>
          <a:p>
            <a:pPr marL="457200" indent="-45720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Ni`cnyou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nicwni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dirty="0"/>
              <a:t>The fathers and the mothers</a:t>
            </a:r>
          </a:p>
          <a:p>
            <a:pPr marL="457200" indent="-45720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Niio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]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nimau</a:t>
            </a:r>
            <a:endParaRPr lang="en-US" sz="2100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dirty="0"/>
              <a:t>The women and the men</a:t>
            </a:r>
          </a:p>
          <a:p>
            <a:pPr marL="457200" indent="-45720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Nihiomi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nirwmi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en-US" dirty="0"/>
              <a:t>The boys and the girls</a:t>
            </a:r>
          </a:p>
          <a:p>
            <a:pPr marL="457200" indent="-457200"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Ni`alwou`i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 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niseri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en-US" dirty="0"/>
              <a:t>The kings and the queens</a:t>
            </a:r>
          </a:p>
          <a:p>
            <a:pPr marL="457200" indent="-457200"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		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Niourwou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nem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 </a:t>
            </a:r>
            <a:r>
              <a:rPr lang="en-US" sz="1700" dirty="0" err="1">
                <a:solidFill>
                  <a:schemeClr val="accent1">
                    <a:lumMod val="75000"/>
                  </a:schemeClr>
                </a:solidFill>
                <a:latin typeface="CS Avva Shenouda" pitchFamily="34" charset="0"/>
              </a:rPr>
              <a:t>niourw</a:t>
            </a:r>
            <a:endParaRPr lang="en-US" sz="1700" dirty="0">
              <a:solidFill>
                <a:schemeClr val="accent1">
                  <a:lumMod val="75000"/>
                </a:schemeClr>
              </a:solidFill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57200" y="3352801"/>
            <a:ext cx="7772400" cy="762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 err="1">
                <a:latin typeface="CS Avva Shenouda" pitchFamily="34" charset="0"/>
              </a:rPr>
              <a:t>Oujai</a:t>
            </a:r>
            <a:r>
              <a:rPr lang="en-US" dirty="0">
                <a:latin typeface="CS Avva Shenouda" pitchFamily="34" charset="0"/>
              </a:rPr>
              <a:t> </a:t>
            </a:r>
            <a:r>
              <a:rPr lang="en-US" dirty="0" err="1">
                <a:latin typeface="CS Avva Shenouda" pitchFamily="34" charset="0"/>
              </a:rPr>
              <a:t>qen</a:t>
            </a:r>
            <a:r>
              <a:rPr lang="en-US" dirty="0">
                <a:latin typeface="CS Avva Shenouda" pitchFamily="34" charset="0"/>
              </a:rPr>
              <a:t> `P[</a:t>
            </a:r>
            <a:r>
              <a:rPr lang="en-US" dirty="0" err="1">
                <a:latin typeface="CS Avva Shenouda" pitchFamily="34" charset="0"/>
              </a:rPr>
              <a:t>oic</a:t>
            </a:r>
            <a:endParaRPr lang="en-US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7600" y="1600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2782</TotalTime>
  <Words>762</Words>
  <Application>Microsoft Macintosh PowerPoint</Application>
  <PresentationFormat>On-screen Show (4:3)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Century Schoolbook</vt:lpstr>
      <vt:lpstr>CS Avva Shenouda</vt:lpstr>
      <vt:lpstr>Times New Roman</vt:lpstr>
      <vt:lpstr>Wingdings</vt:lpstr>
      <vt:lpstr>Wingdings 2</vt:lpstr>
      <vt:lpstr>Oriel</vt:lpstr>
      <vt:lpstr>Coptic Lesson 13</vt:lpstr>
      <vt:lpstr>Coptic Alphabets</vt:lpstr>
      <vt:lpstr>Review Questions</vt:lpstr>
      <vt:lpstr>Rule for the Iota i: </vt:lpstr>
      <vt:lpstr>Coptic Bible Verses</vt:lpstr>
      <vt:lpstr>Vocabulary List</vt:lpstr>
      <vt:lpstr>Indefinite Articles</vt:lpstr>
      <vt:lpstr>Indefinite Article Exercise (Part 1)</vt:lpstr>
      <vt:lpstr>Definite Articles</vt:lpstr>
      <vt:lpstr>Definite Articles</vt:lpstr>
      <vt:lpstr>Definite Articles</vt:lpstr>
      <vt:lpstr>General Definite Articles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405</cp:revision>
  <dcterms:created xsi:type="dcterms:W3CDTF">2014-03-29T18:43:12Z</dcterms:created>
  <dcterms:modified xsi:type="dcterms:W3CDTF">2023-11-04T18:52:50Z</dcterms:modified>
</cp:coreProperties>
</file>