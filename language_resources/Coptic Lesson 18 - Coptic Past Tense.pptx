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4" r:id="rId1"/>
  </p:sldMasterIdLst>
  <p:notesMasterIdLst>
    <p:notesMasterId r:id="rId15"/>
  </p:notesMasterIdLst>
  <p:sldIdLst>
    <p:sldId id="256" r:id="rId2"/>
    <p:sldId id="269" r:id="rId3"/>
    <p:sldId id="296" r:id="rId4"/>
    <p:sldId id="397" r:id="rId5"/>
    <p:sldId id="398" r:id="rId6"/>
    <p:sldId id="395" r:id="rId7"/>
    <p:sldId id="387" r:id="rId8"/>
    <p:sldId id="355" r:id="rId9"/>
    <p:sldId id="350" r:id="rId10"/>
    <p:sldId id="361" r:id="rId11"/>
    <p:sldId id="392" r:id="rId12"/>
    <p:sldId id="272" r:id="rId13"/>
    <p:sldId id="268" r:id="rId1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07" autoAdjust="0"/>
    <p:restoredTop sz="94624" autoAdjust="0"/>
  </p:normalViewPr>
  <p:slideViewPr>
    <p:cSldViewPr>
      <p:cViewPr varScale="1">
        <p:scale>
          <a:sx n="133" d="100"/>
          <a:sy n="133" d="100"/>
        </p:scale>
        <p:origin x="-9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D8348-8BBD-40CC-ACD4-38785057F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2511"/>
      </p:ext>
    </p:extLst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75" r:id="rId1"/>
    <p:sldLayoutId id="2147484376" r:id="rId2"/>
    <p:sldLayoutId id="2147484377" r:id="rId3"/>
    <p:sldLayoutId id="2147484378" r:id="rId4"/>
    <p:sldLayoutId id="2147484379" r:id="rId5"/>
    <p:sldLayoutId id="2147484380" r:id="rId6"/>
    <p:sldLayoutId id="2147484381" r:id="rId7"/>
    <p:sldLayoutId id="2147484382" r:id="rId8"/>
    <p:sldLayoutId id="2147484383" r:id="rId9"/>
    <p:sldLayoutId id="2147484384" r:id="rId10"/>
    <p:sldLayoutId id="2147484385" r:id="rId11"/>
    <p:sldLayoutId id="2147484386" r:id="rId12"/>
    <p:sldLayoutId id="2147484387" r:id="rId13"/>
    <p:sldLayoutId id="2147484388" r:id="rId14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Coptic Lesson 18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PAST Tense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Review </a:t>
            </a:r>
            <a:r>
              <a:rPr lang="en-US" dirty="0"/>
              <a:t>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318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pictau-coou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96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 smtClean="0"/>
              <a:t>=f^</a:t>
            </a:r>
            <a:endParaRPr lang="en-US" sz="4000" dirty="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qamne-`smyn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88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=p=y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Martyr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Cheema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[</a:t>
            </a:r>
            <a:endParaRPr lang="ar-EG" sz="4000" dirty="0" smtClean="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Veeta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b, v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b</a:t>
            </a:r>
            <a:endParaRPr lang="en-US" sz="4000" dirty="0"/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buClr>
                <a:schemeClr val="tx2"/>
              </a:buClr>
              <a:buSzPct val="70000"/>
              <a:tabLst>
                <a:tab pos="914400" algn="l"/>
              </a:tabLst>
            </a:pPr>
            <a:r>
              <a:rPr lang="en-US" sz="4000" dirty="0" smtClean="0"/>
              <a:t>¢</a:t>
            </a:r>
            <a:endParaRPr lang="en-US" sz="4000" dirty="0"/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 smtClean="0"/>
              <a:t>} ]</a:t>
            </a:r>
            <a:endParaRPr lang="en-US" sz="4000" dirty="0"/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=t=</a:t>
            </a:r>
            <a:r>
              <a:rPr lang="en-US" sz="4000" dirty="0" err="1" smtClean="0"/>
              <a:t>i</a:t>
            </a:r>
            <a:r>
              <a:rPr lang="en-US" sz="4000" dirty="0" smtClean="0"/>
              <a:t>=y</a:t>
            </a:r>
            <a:endParaRPr lang="en-US" sz="4000" dirty="0"/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 err="1" smtClean="0">
                <a:latin typeface="CS Avva Shenouda" charset="0"/>
              </a:rPr>
              <a:t>marteroc</a:t>
            </a:r>
            <a:endParaRPr lang="en-US" sz="2800" dirty="0">
              <a:latin typeface="CS Avva Shenouda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000" dirty="0" err="1" smtClean="0">
                <a:cs typeface="Times New Roman" pitchFamily="18" charset="0"/>
              </a:rPr>
              <a:t>Somt</a:t>
            </a:r>
            <a:r>
              <a:rPr lang="en-US" sz="2000" dirty="0" smtClean="0">
                <a:cs typeface="Times New Roman" pitchFamily="18" charset="0"/>
              </a:rPr>
              <a:t>-se-</a:t>
            </a:r>
            <a:r>
              <a:rPr lang="en-US" sz="2000" dirty="0" err="1" smtClean="0">
                <a:cs typeface="Times New Roman" pitchFamily="18" charset="0"/>
              </a:rPr>
              <a:t>myt</a:t>
            </a:r>
            <a:r>
              <a:rPr lang="en-US" sz="2000" dirty="0" smtClean="0">
                <a:cs typeface="Times New Roman" pitchFamily="18" charset="0"/>
              </a:rPr>
              <a:t>-`</a:t>
            </a:r>
            <a:r>
              <a:rPr lang="en-US" sz="2000" dirty="0" err="1" smtClean="0">
                <a:cs typeface="Times New Roman" pitchFamily="18" charset="0"/>
              </a:rPr>
              <a:t>smyn</a:t>
            </a:r>
            <a:endParaRPr lang="en-US" sz="20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68707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Review </a:t>
            </a:r>
            <a:r>
              <a:rPr lang="en-US" dirty="0" smtClean="0"/>
              <a:t>for Beginners</a:t>
            </a:r>
            <a:endParaRPr lang="en-US" dirty="0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Delta</a:t>
            </a: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d,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100000"/>
              </a:spcBef>
              <a:defRPr/>
            </a:pPr>
            <a:r>
              <a:rPr lang="en-US" sz="3200" dirty="0"/>
              <a:t>d</a:t>
            </a: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Lavla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3200" dirty="0"/>
              <a:t>l</a:t>
            </a: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Khai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q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Ro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50000"/>
              </a:lnSpc>
              <a:defRPr/>
            </a:pPr>
            <a:r>
              <a:rPr lang="en-US" sz="4000" dirty="0"/>
              <a:t>r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Phei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/>
              <a:t>v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Pei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p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[</a:t>
            </a: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Cheema</a:t>
            </a:r>
          </a:p>
        </p:txBody>
      </p:sp>
    </p:spTree>
    <p:extLst>
      <p:ext uri="{BB962C8B-B14F-4D97-AF65-F5344CB8AC3E}">
        <p14:creationId xmlns:p14="http://schemas.microsoft.com/office/powerpoint/2010/main" val="19112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80" grpId="0"/>
      <p:bldP spid="23579" grpId="0"/>
      <p:bldP spid="23578" grpId="0"/>
      <p:bldP spid="23577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8" grpId="0"/>
      <p:bldP spid="23567" grpId="0"/>
      <p:bldP spid="23566" grpId="0"/>
      <p:bldP spid="23565" grpId="0"/>
      <p:bldP spid="23564" grpId="0"/>
      <p:bldP spid="23563" grpId="0"/>
      <p:bldP spid="23561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248400" cy="63658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itchFamily="18" charset="0"/>
              </a:rPr>
              <a:t>Rule for the Kei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&lt;</a:t>
            </a:r>
            <a:r>
              <a:rPr lang="en-US" sz="4000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33475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&lt;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sh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429000" y="3352800"/>
            <a:ext cx="762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kh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80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3" name="Text Box 11"/>
          <p:cNvSpPr txBox="1">
            <a:spLocks noChangeArrowheads="1"/>
          </p:cNvSpPr>
          <p:nvPr/>
        </p:nvSpPr>
        <p:spPr bwMode="auto">
          <a:xfrm>
            <a:off x="3962400" y="1371600"/>
            <a:ext cx="4114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a Coptic Word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4" name="Text Box 12"/>
          <p:cNvSpPr txBox="1">
            <a:spLocks noChangeArrowheads="1"/>
          </p:cNvSpPr>
          <p:nvPr/>
        </p:nvSpPr>
        <p:spPr bwMode="auto">
          <a:xfrm>
            <a:off x="3962400" y="2362200"/>
            <a:ext cx="44196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before the e-family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4038600" y="33528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otherwise)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,ymi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,aric</a:t>
            </a:r>
          </a:p>
        </p:txBody>
      </p:sp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,ere</a:t>
            </a:r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`,rwm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Ar,y</a:t>
            </a: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24384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Mona,oc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3" name="Text Box 21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</a:t>
            </a:r>
          </a:p>
        </p:txBody>
      </p: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6781800" y="2895600"/>
            <a:ext cx="2362200" cy="120032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  <p:sp>
        <p:nvSpPr>
          <p:cNvPr id="233495" name="Text Box 23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Lu,nia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6" name="Text Box 24"/>
          <p:cNvSpPr txBox="1">
            <a:spLocks noChangeArrowheads="1"/>
          </p:cNvSpPr>
          <p:nvPr/>
        </p:nvSpPr>
        <p:spPr bwMode="auto">
          <a:xfrm>
            <a:off x="2362200" y="6156325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Pi,iwn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44958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wra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8" name="Text Box 26"/>
          <p:cNvSpPr txBox="1">
            <a:spLocks noChangeArrowheads="1"/>
          </p:cNvSpPr>
          <p:nvPr/>
        </p:nvSpPr>
        <p:spPr bwMode="auto">
          <a:xfrm>
            <a:off x="6324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79" grpId="0"/>
      <p:bldP spid="233483" grpId="0"/>
      <p:bldP spid="233485" grpId="0"/>
      <p:bldP spid="233486" grpId="0"/>
      <p:bldP spid="233487" grpId="0"/>
      <p:bldP spid="233489" grpId="0"/>
      <p:bldP spid="233492" grpId="0"/>
      <p:bldP spid="233493" grpId="0"/>
      <p:bldP spid="233494" grpId="0" animBg="1"/>
      <p:bldP spid="233495" grpId="0"/>
      <p:bldP spid="233496" grpId="0"/>
      <p:bldP spid="233497" grpId="0"/>
      <p:bldP spid="2334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 smtClean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572000" y="42672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 take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066800" y="4267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[</a:t>
            </a: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572000" y="3429000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 put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143000" y="3429000"/>
            <a:ext cx="2667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,w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572000" y="2514600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give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371600" y="25908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]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572000" y="1752600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believe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371600" y="17526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ah]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572000" y="5029200"/>
            <a:ext cx="24384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 ask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143000" y="5029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sini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219200" y="5791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]`</a:t>
            </a: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cbw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572000" y="5791200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teach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2559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79" grpId="0"/>
      <p:bldP spid="249880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524000"/>
            <a:ext cx="8229600" cy="4906963"/>
          </a:xfrm>
        </p:spPr>
        <p:txBody>
          <a:bodyPr>
            <a:normAutofit/>
          </a:bodyPr>
          <a:lstStyle/>
          <a:p>
            <a:r>
              <a:rPr lang="en-US" sz="3200" dirty="0" err="1" smtClean="0">
                <a:latin typeface="CS Avva Shenouda" pitchFamily="34" charset="0"/>
              </a:rPr>
              <a:t>Rasi</a:t>
            </a:r>
            <a:r>
              <a:rPr lang="en-US" sz="3200" dirty="0" smtClean="0">
                <a:latin typeface="CS Avva Shenouda" pitchFamily="34" charset="0"/>
              </a:rPr>
              <a:t> </a:t>
            </a:r>
            <a:r>
              <a:rPr lang="en-US" sz="3200" dirty="0" err="1" smtClean="0">
                <a:latin typeface="CS Avva Shenouda" pitchFamily="34" charset="0"/>
              </a:rPr>
              <a:t>qen</a:t>
            </a:r>
            <a:r>
              <a:rPr lang="en-US" sz="3200" dirty="0" smtClean="0">
                <a:latin typeface="CS Avva Shenouda" pitchFamily="34" charset="0"/>
              </a:rPr>
              <a:t> `P[</a:t>
            </a:r>
            <a:r>
              <a:rPr lang="en-US" sz="3200" dirty="0" err="1" smtClean="0">
                <a:latin typeface="CS Avva Shenouda" pitchFamily="34" charset="0"/>
              </a:rPr>
              <a:t>oic</a:t>
            </a:r>
            <a:r>
              <a:rPr lang="en-US" sz="3200" dirty="0" smtClean="0">
                <a:latin typeface="CS Avva Shenouda" pitchFamily="34" charset="0"/>
              </a:rPr>
              <a:t> `</a:t>
            </a:r>
            <a:r>
              <a:rPr lang="en-US" sz="3200" dirty="0" err="1" smtClean="0">
                <a:latin typeface="CS Avva Shenouda" pitchFamily="34" charset="0"/>
              </a:rPr>
              <a:t>ncyou</a:t>
            </a:r>
            <a:r>
              <a:rPr lang="en-US" sz="3200" dirty="0" smtClean="0">
                <a:latin typeface="CS Avva Shenouda" pitchFamily="34" charset="0"/>
              </a:rPr>
              <a:t> </a:t>
            </a:r>
            <a:r>
              <a:rPr lang="en-US" sz="3200" dirty="0" err="1" smtClean="0">
                <a:latin typeface="CS Avva Shenouda" pitchFamily="34" charset="0"/>
              </a:rPr>
              <a:t>niben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Rejoice in the Lord always. (Phil 4:4)</a:t>
            </a:r>
          </a:p>
          <a:p>
            <a:r>
              <a:rPr lang="en-US" sz="3200" dirty="0" err="1" smtClean="0">
                <a:latin typeface="CS Avva Shenouda" pitchFamily="34" charset="0"/>
              </a:rPr>
              <a:t>Twbh</a:t>
            </a:r>
            <a:r>
              <a:rPr lang="en-US" sz="3200" dirty="0" smtClean="0">
                <a:latin typeface="CS Avva Shenouda" pitchFamily="34" charset="0"/>
              </a:rPr>
              <a:t> `</a:t>
            </a:r>
            <a:r>
              <a:rPr lang="en-US" sz="3200" dirty="0" err="1" smtClean="0">
                <a:latin typeface="CS Avva Shenouda" pitchFamily="34" charset="0"/>
              </a:rPr>
              <a:t>ejen</a:t>
            </a:r>
            <a:r>
              <a:rPr lang="en-US" sz="3200" dirty="0" smtClean="0">
                <a:latin typeface="CS Avva Shenouda" pitchFamily="34" charset="0"/>
              </a:rPr>
              <a:t> </a:t>
            </a:r>
            <a:r>
              <a:rPr lang="en-US" sz="3200" dirty="0" err="1" smtClean="0">
                <a:latin typeface="CS Avva Shenouda" pitchFamily="34" charset="0"/>
              </a:rPr>
              <a:t>neten`eryou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Pray for one another. (</a:t>
            </a:r>
            <a:r>
              <a:rPr lang="en-US" sz="2400" dirty="0" err="1" smtClean="0">
                <a:solidFill>
                  <a:srgbClr val="CC3300"/>
                </a:solidFill>
              </a:rPr>
              <a:t>Jm</a:t>
            </a:r>
            <a:r>
              <a:rPr lang="en-US" sz="2400" dirty="0" smtClean="0">
                <a:solidFill>
                  <a:srgbClr val="CC3300"/>
                </a:solidFill>
              </a:rPr>
              <a:t> 5:16)</a:t>
            </a:r>
          </a:p>
          <a:p>
            <a:r>
              <a:rPr lang="en-US" sz="3200" dirty="0" err="1" smtClean="0">
                <a:latin typeface="CS Avva Shenouda" pitchFamily="34" charset="0"/>
              </a:rPr>
              <a:t>Vnou</a:t>
            </a:r>
            <a:r>
              <a:rPr lang="en-US" sz="3200" dirty="0" smtClean="0">
                <a:latin typeface="CS Avva Shenouda" pitchFamily="34" charset="0"/>
              </a:rPr>
              <a:t>] </a:t>
            </a:r>
            <a:r>
              <a:rPr lang="en-US" sz="3200" dirty="0" err="1" smtClean="0">
                <a:latin typeface="CS Avva Shenouda" pitchFamily="34" charset="0"/>
              </a:rPr>
              <a:t>ouagapy</a:t>
            </a:r>
            <a:r>
              <a:rPr lang="en-US" sz="3200" dirty="0" smtClean="0">
                <a:latin typeface="CS Avva Shenouda" pitchFamily="34" charset="0"/>
              </a:rPr>
              <a:t> </a:t>
            </a:r>
            <a:r>
              <a:rPr lang="en-US" sz="3200" dirty="0" err="1" smtClean="0">
                <a:latin typeface="CS Avva Shenouda" pitchFamily="34" charset="0"/>
              </a:rPr>
              <a:t>pe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God is love. (I 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4:16)</a:t>
            </a:r>
          </a:p>
          <a:p>
            <a:r>
              <a:rPr lang="en-US" sz="3200" dirty="0" err="1" smtClean="0">
                <a:latin typeface="CS Avva Shenouda" pitchFamily="34" charset="0"/>
              </a:rPr>
              <a:t>Jemnom</a:t>
            </a:r>
            <a:r>
              <a:rPr lang="en-US" sz="3200" dirty="0" smtClean="0">
                <a:latin typeface="CS Avva Shenouda" pitchFamily="34" charset="0"/>
              </a:rPr>
              <a:t>] </a:t>
            </a:r>
            <a:r>
              <a:rPr lang="en-US" sz="3200" dirty="0" err="1" smtClean="0">
                <a:latin typeface="CS Avva Shenouda" pitchFamily="34" charset="0"/>
              </a:rPr>
              <a:t>anok</a:t>
            </a:r>
            <a:r>
              <a:rPr lang="en-US" sz="3200" dirty="0" smtClean="0">
                <a:latin typeface="CS Avva Shenouda" pitchFamily="34" charset="0"/>
              </a:rPr>
              <a:t> </a:t>
            </a:r>
            <a:r>
              <a:rPr lang="en-US" sz="3200" dirty="0" err="1" smtClean="0">
                <a:latin typeface="CS Avva Shenouda" pitchFamily="34" charset="0"/>
              </a:rPr>
              <a:t>ai</a:t>
            </a:r>
            <a:r>
              <a:rPr lang="en-US" sz="3200" dirty="0" smtClean="0">
                <a:latin typeface="CS Avva Shenouda" pitchFamily="34" charset="0"/>
              </a:rPr>
              <a:t>[</a:t>
            </a:r>
            <a:r>
              <a:rPr lang="en-US" sz="3200" dirty="0" err="1" smtClean="0">
                <a:latin typeface="CS Avva Shenouda" pitchFamily="34" charset="0"/>
              </a:rPr>
              <a:t>ro</a:t>
            </a:r>
            <a:r>
              <a:rPr lang="en-US" sz="3200" dirty="0" smtClean="0">
                <a:latin typeface="CS Avva Shenouda" pitchFamily="34" charset="0"/>
              </a:rPr>
              <a:t> `</a:t>
            </a:r>
            <a:r>
              <a:rPr lang="en-US" sz="3200" dirty="0" err="1" smtClean="0">
                <a:latin typeface="CS Avva Shenouda" pitchFamily="34" charset="0"/>
              </a:rPr>
              <a:t>epikocmoc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Be of good cheer, I have overcome the world. (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16:33)</a:t>
            </a:r>
          </a:p>
          <a:p>
            <a:r>
              <a:rPr lang="en-US" sz="3200" dirty="0" smtClean="0">
                <a:latin typeface="CS Avva Shenouda" pitchFamily="34" charset="0"/>
              </a:rPr>
              <a:t>}</a:t>
            </a:r>
            <a:r>
              <a:rPr lang="en-US" sz="3200" dirty="0" err="1" smtClean="0">
                <a:latin typeface="CS Avva Shenouda" pitchFamily="34" charset="0"/>
              </a:rPr>
              <a:t>ar,y</a:t>
            </a:r>
            <a:r>
              <a:rPr lang="en-US" sz="3200" dirty="0" smtClean="0">
                <a:latin typeface="CS Avva Shenouda" pitchFamily="34" charset="0"/>
              </a:rPr>
              <a:t> `n]</a:t>
            </a:r>
            <a:r>
              <a:rPr lang="en-US" sz="3200" dirty="0" err="1" smtClean="0">
                <a:latin typeface="CS Avva Shenouda" pitchFamily="34" charset="0"/>
              </a:rPr>
              <a:t>covia</a:t>
            </a:r>
            <a:r>
              <a:rPr lang="en-US" sz="3200" dirty="0" smtClean="0">
                <a:latin typeface="CS Avva Shenouda" pitchFamily="34" charset="0"/>
              </a:rPr>
              <a:t> ]ho] `</a:t>
            </a:r>
            <a:r>
              <a:rPr lang="en-US" sz="3200" dirty="0" err="1" smtClean="0">
                <a:latin typeface="CS Avva Shenouda" pitchFamily="34" charset="0"/>
              </a:rPr>
              <a:t>nte</a:t>
            </a:r>
            <a:r>
              <a:rPr lang="en-US" sz="3200" dirty="0" smtClean="0">
                <a:latin typeface="CS Avva Shenouda" pitchFamily="34" charset="0"/>
              </a:rPr>
              <a:t> `P[</a:t>
            </a:r>
            <a:r>
              <a:rPr lang="en-US" sz="3200" dirty="0" err="1" smtClean="0">
                <a:latin typeface="CS Avva Shenouda" pitchFamily="34" charset="0"/>
              </a:rPr>
              <a:t>oic</a:t>
            </a:r>
            <a:r>
              <a:rPr lang="en-US" sz="3200" dirty="0" smtClean="0">
                <a:latin typeface="CS Avva Shenouda" pitchFamily="34" charset="0"/>
              </a:rPr>
              <a:t> </a:t>
            </a:r>
            <a:r>
              <a:rPr lang="en-US" sz="3200" dirty="0" err="1" smtClean="0">
                <a:latin typeface="CS Avva Shenouda" pitchFamily="34" charset="0"/>
              </a:rPr>
              <a:t>te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The fear of the Lord is the beginning of wisdom. (Ps 110:10)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228600" y="1447800"/>
            <a:ext cx="8915400" cy="5257800"/>
          </a:xfrm>
        </p:spPr>
        <p:txBody>
          <a:bodyPr>
            <a:noAutofit/>
          </a:bodyPr>
          <a:lstStyle/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romi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kahi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`</a:t>
            </a:r>
            <a:r>
              <a:rPr lang="en-US" sz="2800" dirty="0" err="1" smtClean="0">
                <a:latin typeface="CS Avva Shenouda" pitchFamily="34" charset="0"/>
              </a:rPr>
              <a:t>Vnou</a:t>
            </a:r>
            <a:r>
              <a:rPr lang="en-US" sz="2800" dirty="0" smtClean="0">
                <a:latin typeface="CS Avva Shenouda" pitchFamily="34" charset="0"/>
              </a:rPr>
              <a:t>]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`</a:t>
            </a:r>
            <a:r>
              <a:rPr lang="en-US" sz="2800" dirty="0" err="1" smtClean="0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ioh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ry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con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syri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iwt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bal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yi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ran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ouro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smtClean="0">
                <a:latin typeface="CS Avva Shenouda" pitchFamily="34" charset="0"/>
              </a:rPr>
              <a:t>`</a:t>
            </a:r>
            <a:r>
              <a:rPr lang="en-US" sz="2800" dirty="0" err="1" smtClean="0">
                <a:latin typeface="CS Avva Shenouda" pitchFamily="34" charset="0"/>
              </a:rPr>
              <a:t>chimi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vorsi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ri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ajp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ve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soury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mau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]`</a:t>
            </a:r>
            <a:r>
              <a:rPr lang="en-US" sz="2800" dirty="0" err="1" smtClean="0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jij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smtClean="0">
                <a:latin typeface="CS Avva Shenouda" pitchFamily="34" charset="0"/>
              </a:rPr>
              <a:t>`;</a:t>
            </a:r>
            <a:r>
              <a:rPr lang="en-US" sz="2800" dirty="0" err="1" smtClean="0">
                <a:latin typeface="CS Avva Shenouda" pitchFamily="34" charset="0"/>
              </a:rPr>
              <a:t>nyb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hiomi</a:t>
            </a:r>
            <a:endParaRPr lang="en-US" sz="2800" dirty="0" smtClean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nicwni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nirwmi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niran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nimau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ni`alou</a:t>
            </a:r>
            <a:endParaRPr lang="en-US" sz="2800" dirty="0" smtClean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jom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niourw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nibal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nisau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ninyb</a:t>
            </a:r>
            <a:endParaRPr lang="en-US" sz="2800" dirty="0" smtClean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 smtClean="0">
                <a:latin typeface="CS Avva Shenouda" pitchFamily="34" charset="0"/>
              </a:rPr>
              <a:t>niseri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totc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io</a:t>
            </a:r>
            <a:r>
              <a:rPr lang="en-US" sz="2800" dirty="0" smtClean="0">
                <a:latin typeface="CS Avva Shenouda" pitchFamily="34" charset="0"/>
              </a:rPr>
              <a:t>]	</a:t>
            </a:r>
            <a:r>
              <a:rPr lang="en-US" sz="2800" dirty="0" err="1" smtClean="0">
                <a:latin typeface="CS Avva Shenouda" pitchFamily="34" charset="0"/>
              </a:rPr>
              <a:t>ourwou</a:t>
            </a:r>
            <a:r>
              <a:rPr lang="en-US" sz="2800" dirty="0" smtClean="0">
                <a:latin typeface="CS Avva Shenouda" pitchFamily="34" charset="0"/>
              </a:rPr>
              <a:t>	</a:t>
            </a:r>
            <a:r>
              <a:rPr lang="en-US" sz="2800" dirty="0" err="1" smtClean="0">
                <a:latin typeface="CS Avva Shenouda" pitchFamily="34" charset="0"/>
              </a:rPr>
              <a:t>vyou`i</a:t>
            </a:r>
            <a:endParaRPr lang="en-US" sz="2800" dirty="0">
              <a:latin typeface="CS Avva Shenouda" pitchFamily="34" charset="0"/>
            </a:endParaRPr>
          </a:p>
        </p:txBody>
      </p:sp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533400"/>
            <a:ext cx="6577928" cy="727055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Beginner Vocabulary Review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  <p:bldP spid="1331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3200400" cy="5105400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ai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ak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 smtClean="0">
                <a:solidFill>
                  <a:srgbClr val="FF0000"/>
                </a:solidFill>
                <a:latin typeface="CS Avva Shenouda" pitchFamily="34" charset="0"/>
              </a:rPr>
              <a:t>]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are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af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ac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an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areten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 algn="l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 </a:t>
            </a:r>
            <a:r>
              <a:rPr lang="en-US" sz="3200" b="1" dirty="0" err="1" smtClean="0">
                <a:latin typeface="CS Avva Shenouda" pitchFamily="34" charset="0"/>
              </a:rPr>
              <a:t>au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nah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</a:p>
          <a:p>
            <a:pPr>
              <a:buFont typeface="Wingdings" pitchFamily="2" charset="2"/>
              <a:buChar char="v"/>
            </a:pP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56356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Simple 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PASt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Tense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5200" y="1371600"/>
            <a:ext cx="52578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	I 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believed</a:t>
            </a:r>
          </a:p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	you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believed </a:t>
            </a:r>
            <a:r>
              <a:rPr lang="en-US" sz="2000" dirty="0" smtClean="0">
                <a:latin typeface="+mn-lt"/>
              </a:rPr>
              <a:t>(masculine)</a:t>
            </a:r>
          </a:p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	you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believed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(feminine)</a:t>
            </a:r>
          </a:p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	</a:t>
            </a:r>
            <a:r>
              <a:rPr lang="en-US" sz="3200" dirty="0" smtClean="0">
                <a:latin typeface="+mn-lt"/>
              </a:rPr>
              <a:t>he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believed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     </a:t>
            </a:r>
            <a:r>
              <a:rPr lang="en-US" sz="3200" dirty="0" smtClean="0">
                <a:latin typeface="+mn-lt"/>
              </a:rPr>
              <a:t>she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believed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457200" indent="-457200"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   we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believed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     you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believed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(plural)</a:t>
            </a:r>
          </a:p>
          <a:p>
            <a:pPr algn="l">
              <a:lnSpc>
                <a:spcPct val="105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     they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believed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19200" y="1905000"/>
            <a:ext cx="3352800" cy="4724400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nau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look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menre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to like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caji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speak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ws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read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Exercise (Part 1)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Use the following verbs to form a past tense: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905000"/>
            <a:ext cx="4419600" cy="523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 smtClean="0">
                <a:cs typeface="+mn-cs"/>
              </a:rPr>
              <a:t>hemci</a:t>
            </a:r>
            <a:endParaRPr lang="en-US" sz="3200" dirty="0" smtClean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sit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 smtClean="0">
                <a:cs typeface="+mn-cs"/>
              </a:rPr>
              <a:t>cw</a:t>
            </a:r>
            <a:endParaRPr lang="en-US" sz="3200" dirty="0" smtClean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drink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smtClean="0">
                <a:cs typeface="+mn-cs"/>
              </a:rPr>
              <a:t>[</a:t>
            </a:r>
            <a:r>
              <a:rPr lang="en-US" sz="3500" dirty="0" err="1" smtClean="0">
                <a:cs typeface="+mn-cs"/>
              </a:rPr>
              <a:t>i</a:t>
            </a:r>
            <a:endParaRPr lang="en-US" sz="3500" dirty="0" smtClean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take</a:t>
            </a:r>
          </a:p>
          <a:p>
            <a:pPr marL="514350" lvl="1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200" dirty="0" smtClean="0">
                <a:cs typeface="+mn-cs"/>
              </a:rPr>
              <a:t>,w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put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 smtClean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828800"/>
            <a:ext cx="4724400" cy="4724400"/>
          </a:xfrm>
        </p:spPr>
        <p:txBody>
          <a:bodyPr>
            <a:normAutofit fontScale="92500" lnSpcReduction="10000"/>
          </a:bodyPr>
          <a:lstStyle/>
          <a:p>
            <a:pPr marL="509588" lvl="1" indent="-509588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ainau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epekcon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I saw your brother.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2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anjerjer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qen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pi[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wm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We played in the garden.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3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au`i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nje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nek`cnyou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Your brothers came.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4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aicaji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nemaf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I spoke with him.</a:t>
            </a:r>
            <a:endParaRPr lang="en-US" sz="31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Exercise (Part 2)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905000"/>
            <a:ext cx="4419600" cy="584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514350" algn="l"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5"/>
            </a:pP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au`slyl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qen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]`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ekklyci`a</a:t>
            </a:r>
            <a:endParaRPr lang="en-US" sz="26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They prayed in </a:t>
            </a:r>
            <a:r>
              <a:rPr lang="en-US" sz="2400" dirty="0" smtClean="0">
                <a:latin typeface="+mn-lt"/>
                <a:cs typeface="+mn-cs"/>
              </a:rPr>
              <a:t>the church</a:t>
            </a:r>
            <a:r>
              <a:rPr lang="en-US" sz="2400" dirty="0">
                <a:latin typeface="+mn-lt"/>
                <a:cs typeface="+mn-cs"/>
              </a:rPr>
              <a:t>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6"/>
            </a:pPr>
            <a:r>
              <a:rPr lang="en-US" sz="2400" b="1" dirty="0" err="1" smtClean="0">
                <a:solidFill>
                  <a:srgbClr val="FF0000"/>
                </a:solidFill>
                <a:cs typeface="+mn-cs"/>
              </a:rPr>
              <a:t>Af`i</a:t>
            </a:r>
            <a:r>
              <a:rPr lang="en-US" sz="24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400" b="1" dirty="0" err="1" smtClean="0">
                <a:solidFill>
                  <a:srgbClr val="FF0000"/>
                </a:solidFill>
                <a:cs typeface="+mn-cs"/>
              </a:rPr>
              <a:t>nje</a:t>
            </a:r>
            <a:r>
              <a:rPr lang="en-US" sz="2400" b="1" dirty="0" smtClean="0">
                <a:solidFill>
                  <a:srgbClr val="FF0000"/>
                </a:solidFill>
                <a:cs typeface="+mn-cs"/>
              </a:rPr>
              <a:t> P=,=c `</a:t>
            </a:r>
            <a:r>
              <a:rPr lang="en-US" sz="2400" b="1" dirty="0" err="1" smtClean="0">
                <a:solidFill>
                  <a:srgbClr val="FF0000"/>
                </a:solidFill>
                <a:cs typeface="+mn-cs"/>
              </a:rPr>
              <a:t>ebolqen</a:t>
            </a:r>
            <a:r>
              <a:rPr lang="en-US" sz="24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400" b="1" dirty="0" err="1" smtClean="0">
                <a:solidFill>
                  <a:srgbClr val="FF0000"/>
                </a:solidFill>
                <a:cs typeface="+mn-cs"/>
              </a:rPr>
              <a:t>tve</a:t>
            </a:r>
            <a:endParaRPr lang="en-US" sz="24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Christ came from heaven.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aftwnf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ebolqen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nye;mwout</a:t>
            </a:r>
            <a:endParaRPr lang="en-US" sz="26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He arose from the dead.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8"/>
            </a:pPr>
            <a:r>
              <a:rPr lang="en-US" sz="2200" b="1" dirty="0" err="1" smtClean="0">
                <a:solidFill>
                  <a:srgbClr val="FF0000"/>
                </a:solidFill>
                <a:cs typeface="+mn-cs"/>
              </a:rPr>
              <a:t>af,w</a:t>
            </a:r>
            <a:r>
              <a:rPr lang="en-US" sz="22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200" b="1" dirty="0" err="1" smtClean="0">
                <a:solidFill>
                  <a:srgbClr val="FF0000"/>
                </a:solidFill>
                <a:cs typeface="+mn-cs"/>
              </a:rPr>
              <a:t>nnefjwm</a:t>
            </a:r>
            <a:r>
              <a:rPr lang="en-US" sz="2200" b="1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cs typeface="+mn-cs"/>
              </a:rPr>
              <a:t>hijen</a:t>
            </a:r>
            <a:r>
              <a:rPr lang="en-US" sz="2200" b="1" dirty="0" smtClean="0">
                <a:solidFill>
                  <a:srgbClr val="FF0000"/>
                </a:solidFill>
                <a:cs typeface="+mn-cs"/>
              </a:rPr>
              <a:t> ]</a:t>
            </a:r>
            <a:r>
              <a:rPr lang="en-US" sz="2200" b="1" dirty="0" err="1" smtClean="0">
                <a:solidFill>
                  <a:srgbClr val="FF0000"/>
                </a:solidFill>
                <a:cs typeface="+mn-cs"/>
              </a:rPr>
              <a:t>vorsi</a:t>
            </a:r>
            <a:endParaRPr lang="en-US" sz="22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 smtClean="0">
                <a:latin typeface="+mn-lt"/>
                <a:cs typeface="+mn-cs"/>
              </a:rPr>
              <a:t>He put his books on the table.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 smtClean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Rectangle 7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</a:t>
            </a:r>
            <a:r>
              <a:rPr lang="en-US" dirty="0" smtClean="0">
                <a:solidFill>
                  <a:srgbClr val="990033"/>
                </a:solidFill>
              </a:rPr>
              <a:t>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4343400"/>
            <a:ext cx="6019800" cy="762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800" dirty="0" err="1" smtClean="0">
                <a:latin typeface="CS Avva Shenouda" pitchFamily="34" charset="0"/>
              </a:rPr>
              <a:t>O</a:t>
            </a:r>
            <a:r>
              <a:rPr lang="en-US" sz="4800" cap="none" dirty="0" err="1" smtClean="0">
                <a:latin typeface="CS Avva Shenouda" pitchFamily="34" charset="0"/>
              </a:rPr>
              <a:t>ujai</a:t>
            </a:r>
            <a:r>
              <a:rPr lang="en-US" sz="4800" dirty="0" smtClean="0">
                <a:latin typeface="CS Avva Shenouda" pitchFamily="34" charset="0"/>
              </a:rPr>
              <a:t> </a:t>
            </a:r>
            <a:r>
              <a:rPr lang="en-US" sz="4800" cap="none" dirty="0" err="1">
                <a:latin typeface="CS Avva Shenouda" pitchFamily="34" charset="0"/>
              </a:rPr>
              <a:t>qen</a:t>
            </a:r>
            <a:r>
              <a:rPr lang="en-US" sz="4800" dirty="0">
                <a:latin typeface="CS Avva Shenouda" pitchFamily="34" charset="0"/>
              </a:rPr>
              <a:t> `P</a:t>
            </a:r>
            <a:r>
              <a:rPr lang="en-US" sz="4800" cap="none" dirty="0">
                <a:latin typeface="CS Avva Shenouda" pitchFamily="34" charset="0"/>
              </a:rPr>
              <a:t>[</a:t>
            </a:r>
            <a:r>
              <a:rPr lang="en-US" sz="4800" cap="none" dirty="0" err="1">
                <a:latin typeface="CS Avva Shenouda" pitchFamily="34" charset="0"/>
              </a:rPr>
              <a:t>oic</a:t>
            </a:r>
            <a:endParaRPr lang="en-US" sz="4800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Hardcover.thmx</Template>
  <TotalTime>3578</TotalTime>
  <Words>405</Words>
  <Application>Microsoft Macintosh PowerPoint</Application>
  <PresentationFormat>On-screen Show (4:3)</PresentationFormat>
  <Paragraphs>161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BlackTie</vt:lpstr>
      <vt:lpstr>   Coptic Lesson 18  PAST Tense</vt:lpstr>
      <vt:lpstr>Coptic Alphabets</vt:lpstr>
      <vt:lpstr>Review Questions</vt:lpstr>
      <vt:lpstr>Review for Beginners</vt:lpstr>
      <vt:lpstr>Rule for the Kei &lt;: </vt:lpstr>
      <vt:lpstr>Vocabulary List</vt:lpstr>
      <vt:lpstr>Coptic Bible Verses – Part 3</vt:lpstr>
      <vt:lpstr>Beginner Vocabulary Review</vt:lpstr>
      <vt:lpstr>Simple PASt Tense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551</cp:revision>
  <dcterms:created xsi:type="dcterms:W3CDTF">2014-03-29T18:43:12Z</dcterms:created>
  <dcterms:modified xsi:type="dcterms:W3CDTF">2022-10-24T06:37:15Z</dcterms:modified>
</cp:coreProperties>
</file>