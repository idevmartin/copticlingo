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74" r:id="rId1"/>
  </p:sldMasterIdLst>
  <p:notesMasterIdLst>
    <p:notesMasterId r:id="rId13"/>
  </p:notesMasterIdLst>
  <p:sldIdLst>
    <p:sldId id="256" r:id="rId2"/>
    <p:sldId id="269" r:id="rId3"/>
    <p:sldId id="296" r:id="rId4"/>
    <p:sldId id="396" r:id="rId5"/>
    <p:sldId id="395" r:id="rId6"/>
    <p:sldId id="355" r:id="rId7"/>
    <p:sldId id="350" r:id="rId8"/>
    <p:sldId id="361" r:id="rId9"/>
    <p:sldId id="392" r:id="rId10"/>
    <p:sldId id="272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7" autoAdjust="0"/>
    <p:restoredTop sz="89775" autoAdjust="0"/>
  </p:normalViewPr>
  <p:slideViewPr>
    <p:cSldViewPr>
      <p:cViewPr varScale="1">
        <p:scale>
          <a:sx n="129" d="100"/>
          <a:sy n="129" d="100"/>
        </p:scale>
        <p:origin x="-221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D8348-8BBD-40CC-ACD4-38785057F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1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2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1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7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3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9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4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78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7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9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4535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26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65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47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7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27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01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70070"/>
      </p:ext>
    </p:extLst>
  </p:cSld>
  <p:clrMapOvr>
    <a:masterClrMapping/>
  </p:clrMapOvr>
  <p:transition xmlns:p14="http://schemas.microsoft.com/office/powerpoint/2010/main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47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175" r:id="rId1"/>
    <p:sldLayoutId id="2147485176" r:id="rId2"/>
    <p:sldLayoutId id="2147485177" r:id="rId3"/>
    <p:sldLayoutId id="2147485178" r:id="rId4"/>
    <p:sldLayoutId id="2147485179" r:id="rId5"/>
    <p:sldLayoutId id="2147485180" r:id="rId6"/>
    <p:sldLayoutId id="2147485181" r:id="rId7"/>
    <p:sldLayoutId id="2147485182" r:id="rId8"/>
    <p:sldLayoutId id="2147485183" r:id="rId9"/>
    <p:sldLayoutId id="2147485184" r:id="rId10"/>
    <p:sldLayoutId id="2147485185" r:id="rId11"/>
    <p:sldLayoutId id="2147485186" r:id="rId12"/>
    <p:sldLayoutId id="2147485187" r:id="rId13"/>
    <p:sldLayoutId id="2147485188" r:id="rId14"/>
    <p:sldLayoutId id="2147485189" r:id="rId15"/>
    <p:sldLayoutId id="2147485190" r:id="rId16"/>
    <p:sldLayoutId id="2147485191" r:id="rId17"/>
    <p:sldLayoutId id="2147485192" r:id="rId18"/>
    <p:sldLayoutId id="2147485194" r:id="rId19"/>
    <p:sldLayoutId id="2147485195" r:id="rId20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Coptic Lesson 21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Suffix Pronouns</a:t>
            </a:r>
          </a:p>
        </p:txBody>
      </p:sp>
    </p:spTree>
  </p:cSld>
  <p:clrMapOvr>
    <a:masterClrMapping/>
  </p:clrMapOvr>
  <p:transition xmlns:p14="http://schemas.microsoft.com/office/powerpoint/2010/main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Review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72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Christ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CS Avva Shenouda" panose="020B7200000000000000" pitchFamily="34" charset="0"/>
              </a:rPr>
              <a:t>`</a:t>
            </a:r>
            <a:r>
              <a:rPr lang="en-US" sz="2800" dirty="0" err="1">
                <a:latin typeface="CS Avva Shenouda" panose="020B7200000000000000" pitchFamily="34" charset="0"/>
              </a:rPr>
              <a:t>sbe-sasf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77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sz="4000" dirty="0">
                <a:latin typeface="CS Avva Shenouda" panose="020B7200000000000000" pitchFamily="34" charset="0"/>
              </a:rPr>
              <a:t>=o=z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 err="1">
                <a:latin typeface="CS Avva Shenouda" panose="020B7200000000000000" pitchFamily="34" charset="0"/>
              </a:rPr>
              <a:t>tebi-'it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59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000" dirty="0">
                <a:latin typeface="CS Avva Shenouda" panose="020B7200000000000000" pitchFamily="34" charset="0"/>
              </a:rPr>
              <a:t>=n=;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Savior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en-US" sz="2800" dirty="0">
                <a:latin typeface="CS Avva Shenouda" pitchFamily="34" charset="0"/>
              </a:rPr>
              <a:t>`</a:t>
            </a:r>
            <a:r>
              <a:rPr lang="en-US" sz="2800" dirty="0" err="1">
                <a:latin typeface="CS Avva Shenouda" pitchFamily="34" charset="0"/>
              </a:rPr>
              <a:t>pneuma</a:t>
            </a:r>
            <a:endParaRPr lang="en-US" alt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Spirit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altLang="en-US" sz="4000" dirty="0">
                <a:latin typeface="CS Avva Shenouda" panose="020B7200000000000000" pitchFamily="34" charset="0"/>
              </a:rPr>
              <a:t>=</a:t>
            </a:r>
            <a:r>
              <a:rPr lang="en-US" sz="4000" dirty="0">
                <a:latin typeface="CS Avva Shenouda" pitchFamily="34" charset="0"/>
              </a:rPr>
              <a:t>=p=n=a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en-US" altLang="en-US" sz="2800" dirty="0">
                <a:latin typeface="CS Avva Shenouda" panose="020B7200000000000000" pitchFamily="34" charset="0"/>
              </a:rPr>
              <a:t>pen[</a:t>
            </a:r>
            <a:r>
              <a:rPr lang="en-US" altLang="en-US" sz="2800" dirty="0" err="1">
                <a:latin typeface="CS Avva Shenouda" panose="020B7200000000000000" pitchFamily="34" charset="0"/>
              </a:rPr>
              <a:t>oic</a:t>
            </a:r>
            <a:endParaRPr lang="en-US" alt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Our Lord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4000" dirty="0">
                <a:latin typeface="CS Avva Shenouda" pitchFamily="34" charset="0"/>
              </a:rPr>
              <a:t>Pen¡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4000" dirty="0">
                <a:latin typeface="CS Avva Shenouda" pitchFamily="34" charset="0"/>
              </a:rPr>
              <a:t>=c=w=r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4000" dirty="0">
                <a:latin typeface="CS Avva Shenouda" pitchFamily="34" charset="0"/>
              </a:rPr>
              <a:t>P=,=c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sz="4000" dirty="0">
                <a:latin typeface="CS Avva Shenouda" panose="020B7200000000000000" pitchFamily="34" charset="0"/>
              </a:rPr>
              <a:t>=o=b</a:t>
            </a: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buClr>
                <a:schemeClr val="tx2"/>
              </a:buClr>
              <a:buSzPct val="70000"/>
            </a:pPr>
            <a:r>
              <a:rPr lang="en-US" sz="2800" dirty="0" err="1">
                <a:latin typeface="CS Avva Shenouda" pitchFamily="34" charset="0"/>
              </a:rPr>
              <a:t>cwtyr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en-US" altLang="en-US" sz="2800" dirty="0" err="1">
                <a:latin typeface="CS Avva Shenouda" panose="020B7200000000000000" pitchFamily="34" charset="0"/>
              </a:rPr>
              <a:t>Pi`,rictoc</a:t>
            </a:r>
            <a:endParaRPr lang="en-US" alt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CS Avva Shenouda" panose="020B7200000000000000" pitchFamily="34" charset="0"/>
              </a:rPr>
              <a:t>`</a:t>
            </a:r>
            <a:r>
              <a:rPr lang="en-US" sz="2800" dirty="0" err="1">
                <a:latin typeface="CS Avva Shenouda" panose="020B7200000000000000" pitchFamily="34" charset="0"/>
              </a:rPr>
              <a:t>sbe-`cnau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4000">
                <a:latin typeface="Times New Roman" pitchFamily="18" charset="0"/>
              </a:rPr>
              <a:t>Rule for the Theeta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: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2451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: ;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2453" name="Text Box 5"/>
          <p:cNvSpPr txBox="1">
            <a:spLocks noChangeArrowheads="1"/>
          </p:cNvSpPr>
          <p:nvPr/>
        </p:nvSpPr>
        <p:spPr bwMode="auto">
          <a:xfrm>
            <a:off x="32766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</a:t>
            </a:r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3276600" y="2362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3962400" y="24384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 </a:t>
            </a:r>
            <a:r>
              <a:rPr lang="en-US" sz="32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t&gt; s&gt; c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533400" y="32766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2457" name="Text Box 9"/>
          <p:cNvSpPr txBox="1">
            <a:spLocks noChangeArrowheads="1"/>
          </p:cNvSpPr>
          <p:nvPr/>
        </p:nvSpPr>
        <p:spPr bwMode="auto">
          <a:xfrm>
            <a:off x="685800" y="4038600"/>
            <a:ext cx="12954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c;oi</a:t>
            </a: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/>
            </a:r>
            <a:b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(smell)</a:t>
            </a:r>
            <a:endParaRPr 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2458" name="Text Box 10"/>
          <p:cNvSpPr txBox="1">
            <a:spLocks noChangeArrowheads="1"/>
          </p:cNvSpPr>
          <p:nvPr/>
        </p:nvSpPr>
        <p:spPr bwMode="auto">
          <a:xfrm>
            <a:off x="2590800" y="3962400"/>
            <a:ext cx="14478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;wm</a:t>
            </a:r>
            <a:b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(lock)</a:t>
            </a:r>
          </a:p>
        </p:txBody>
      </p:sp>
      <p:sp>
        <p:nvSpPr>
          <p:cNvPr id="232460" name="Text Box 12"/>
          <p:cNvSpPr txBox="1">
            <a:spLocks noChangeArrowheads="1"/>
          </p:cNvSpPr>
          <p:nvPr/>
        </p:nvSpPr>
        <p:spPr bwMode="auto">
          <a:xfrm>
            <a:off x="4419600" y="3962400"/>
            <a:ext cx="17526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`;</a:t>
            </a:r>
            <a:r>
              <a:rPr lang="en-US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myi</a:t>
            </a: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/>
            </a:r>
            <a:b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(righteous)</a:t>
            </a:r>
          </a:p>
        </p:txBody>
      </p:sp>
      <p:sp>
        <p:nvSpPr>
          <p:cNvPr id="232461" name="Text Box 13"/>
          <p:cNvSpPr txBox="1">
            <a:spLocks noChangeArrowheads="1"/>
          </p:cNvSpPr>
          <p:nvPr/>
        </p:nvSpPr>
        <p:spPr bwMode="auto">
          <a:xfrm>
            <a:off x="6858000" y="4038600"/>
            <a:ext cx="14478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`s;eh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(hot)</a:t>
            </a:r>
          </a:p>
        </p:txBody>
      </p:sp>
      <p:sp>
        <p:nvSpPr>
          <p:cNvPr id="232462" name="Text Box 14"/>
          <p:cNvSpPr txBox="1">
            <a:spLocks noChangeArrowheads="1"/>
          </p:cNvSpPr>
          <p:nvPr/>
        </p:nvSpPr>
        <p:spPr bwMode="auto">
          <a:xfrm>
            <a:off x="2209800" y="5334000"/>
            <a:ext cx="17526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;</a:t>
            </a:r>
            <a:r>
              <a:rPr lang="en-US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ai</a:t>
            </a: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/>
            </a:r>
            <a:b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(this)</a:t>
            </a:r>
          </a:p>
        </p:txBody>
      </p:sp>
      <p:sp>
        <p:nvSpPr>
          <p:cNvPr id="232463" name="Text Box 15"/>
          <p:cNvSpPr txBox="1">
            <a:spLocks noChangeArrowheads="1"/>
          </p:cNvSpPr>
          <p:nvPr/>
        </p:nvSpPr>
        <p:spPr bwMode="auto">
          <a:xfrm>
            <a:off x="4114800" y="5334000"/>
            <a:ext cx="22860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`s;orter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(disturbed)</a:t>
            </a:r>
          </a:p>
        </p:txBody>
      </p:sp>
      <p:sp>
        <p:nvSpPr>
          <p:cNvPr id="232464" name="Line 16"/>
          <p:cNvSpPr>
            <a:spLocks noChangeShapeType="1"/>
          </p:cNvSpPr>
          <p:nvPr/>
        </p:nvSpPr>
        <p:spPr bwMode="auto">
          <a:xfrm>
            <a:off x="1981200" y="22098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2465" name="Freeform 17"/>
          <p:cNvSpPr>
            <a:spLocks/>
          </p:cNvSpPr>
          <p:nvPr/>
        </p:nvSpPr>
        <p:spPr bwMode="auto">
          <a:xfrm>
            <a:off x="1981200" y="1676400"/>
            <a:ext cx="1371600" cy="542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038600" y="12954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buSzPct val="90000"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Otherwise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3" grpId="0"/>
      <p:bldP spid="232454" grpId="0"/>
      <p:bldP spid="232456" grpId="0"/>
      <p:bldP spid="232457" grpId="0"/>
      <p:bldP spid="232462" grpId="0"/>
      <p:bldP spid="232463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800600" y="35052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go</a:t>
            </a: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295400" y="3505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se</a:t>
            </a: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800600" y="2590355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love</a:t>
            </a: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371600" y="2667000"/>
            <a:ext cx="2667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menre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800600" y="1752155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and, with</a:t>
            </a: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600200" y="18288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nem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800600" y="913955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to, for, toward</a:t>
            </a: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600200" y="9906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`e</a:t>
            </a: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800600" y="4190555"/>
            <a:ext cx="24384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belong to</a:t>
            </a: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371600" y="4267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`</a:t>
            </a: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nta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-</a:t>
            </a: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295400" y="51054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`</a:t>
            </a: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nte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800600" y="4952555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of</a:t>
            </a:r>
          </a:p>
        </p:txBody>
      </p:sp>
      <p:sp>
        <p:nvSpPr>
          <p:cNvPr id="15" name="Rectangle 24"/>
          <p:cNvSpPr>
            <a:spLocks noChangeArrowheads="1"/>
          </p:cNvSpPr>
          <p:nvPr/>
        </p:nvSpPr>
        <p:spPr bwMode="auto">
          <a:xfrm>
            <a:off x="1447800" y="59436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`</a:t>
            </a: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hna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//</a:t>
            </a: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4800600" y="5943155"/>
            <a:ext cx="2743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will, to desire</a:t>
            </a:r>
          </a:p>
        </p:txBody>
      </p:sp>
    </p:spTree>
    <p:extLst>
      <p:ext uri="{BB962C8B-B14F-4D97-AF65-F5344CB8AC3E}">
        <p14:creationId xmlns:p14="http://schemas.microsoft.com/office/powerpoint/2010/main" val="34492559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79" grpId="0"/>
      <p:bldP spid="249880" grpId="0"/>
      <p:bldP spid="28" grpId="0"/>
      <p:bldP spid="29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533400"/>
            <a:ext cx="6577928" cy="727055"/>
          </a:xfrm>
        </p:spPr>
        <p:txBody>
          <a:bodyPr>
            <a:normAutofit/>
          </a:bodyPr>
          <a:lstStyle/>
          <a:p>
            <a:r>
              <a:rPr lang="en-US" sz="3200" b="1" dirty="0"/>
              <a:t>Beginner Vocabulary Review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915400" cy="5257800"/>
          </a:xfrm>
        </p:spPr>
        <p:txBody>
          <a:bodyPr>
            <a:noAutofit/>
          </a:bodyPr>
          <a:lstStyle/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romi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kahi</a:t>
            </a:r>
            <a:r>
              <a:rPr lang="en-US" sz="2800" dirty="0">
                <a:latin typeface="CS Avva Shenouda" pitchFamily="34" charset="0"/>
              </a:rPr>
              <a:t>	`</a:t>
            </a:r>
            <a:r>
              <a:rPr lang="en-US" sz="2800" dirty="0" err="1">
                <a:latin typeface="CS Avva Shenouda" pitchFamily="34" charset="0"/>
              </a:rPr>
              <a:t>Vnou</a:t>
            </a:r>
            <a:r>
              <a:rPr lang="en-US" sz="2800" dirty="0">
                <a:latin typeface="CS Avva Shenouda" pitchFamily="34" charset="0"/>
              </a:rPr>
              <a:t>]	`</a:t>
            </a:r>
            <a:r>
              <a:rPr lang="en-US" sz="2800" dirty="0" err="1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ioh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ry</a:t>
            </a:r>
            <a:r>
              <a:rPr lang="en-US" sz="2800" dirty="0">
                <a:latin typeface="CS Avva Shenouda" pitchFamily="34" charset="0"/>
              </a:rPr>
              <a:t>	con	</a:t>
            </a:r>
            <a:r>
              <a:rPr lang="en-US" sz="2800" dirty="0" err="1">
                <a:latin typeface="CS Avva Shenouda" pitchFamily="34" charset="0"/>
              </a:rPr>
              <a:t>syri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iwt</a:t>
            </a:r>
            <a:r>
              <a:rPr lang="en-US" sz="2800" dirty="0">
                <a:latin typeface="CS Avva Shenouda" pitchFamily="34" charset="0"/>
              </a:rPr>
              <a:t>	bal</a:t>
            </a: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yi</a:t>
            </a:r>
            <a:r>
              <a:rPr lang="en-US" sz="2800" dirty="0">
                <a:latin typeface="CS Avva Shenouda" pitchFamily="34" charset="0"/>
              </a:rPr>
              <a:t>	ran	</a:t>
            </a:r>
            <a:r>
              <a:rPr lang="en-US" sz="2800" dirty="0" err="1">
                <a:latin typeface="CS Avva Shenouda" pitchFamily="34" charset="0"/>
              </a:rPr>
              <a:t>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ouro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>
                <a:latin typeface="CS Avva Shenouda" pitchFamily="34" charset="0"/>
              </a:rPr>
              <a:t>`</a:t>
            </a:r>
            <a:r>
              <a:rPr lang="en-US" sz="2800" dirty="0" err="1">
                <a:latin typeface="CS Avva Shenouda" pitchFamily="34" charset="0"/>
              </a:rPr>
              <a:t>chimi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vorsi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ri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ajp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ve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soury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mau</a:t>
            </a:r>
            <a:r>
              <a:rPr lang="en-US" sz="2800" dirty="0">
                <a:latin typeface="CS Avva Shenouda" pitchFamily="34" charset="0"/>
              </a:rPr>
              <a:t>	]`</a:t>
            </a:r>
            <a:r>
              <a:rPr lang="en-US" sz="2800" dirty="0" err="1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jij</a:t>
            </a:r>
            <a:r>
              <a:rPr lang="en-US" sz="2800" dirty="0">
                <a:latin typeface="CS Avva Shenouda" pitchFamily="34" charset="0"/>
              </a:rPr>
              <a:t>	`;</a:t>
            </a:r>
            <a:r>
              <a:rPr lang="en-US" sz="2800" dirty="0" err="1">
                <a:latin typeface="CS Avva Shenouda" pitchFamily="34" charset="0"/>
              </a:rPr>
              <a:t>nyb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hiomi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nicwni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nirwmi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niran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nimau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ni`alou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jom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nibal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niseri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totc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io</a:t>
            </a:r>
            <a:r>
              <a:rPr lang="en-US" sz="2800" dirty="0">
                <a:latin typeface="CS Avva Shenouda" pitchFamily="34" charset="0"/>
              </a:rPr>
              <a:t>]	</a:t>
            </a:r>
            <a:r>
              <a:rPr lang="en-US" sz="2800" dirty="0" err="1">
                <a:latin typeface="CS Avva Shenouda" pitchFamily="34" charset="0"/>
              </a:rPr>
              <a:t>ourwou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vyou`i</a:t>
            </a:r>
            <a:endParaRPr lang="en-US" sz="2800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animBg="1"/>
      <p:bldP spid="1331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7620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Suffix Pronouns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2286000" cy="51816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</a:t>
            </a:r>
            <a:r>
              <a:rPr lang="en-US" sz="3200" b="1" dirty="0" err="1">
                <a:solidFill>
                  <a:srgbClr val="FFFF00"/>
                </a:solidFill>
                <a:latin typeface="CS Avva Shenouda" pitchFamily="34" charset="0"/>
              </a:rPr>
              <a:t>i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200" b="1" dirty="0">
                <a:latin typeface="CS Avva Shenouda" pitchFamily="34" charset="0"/>
              </a:rPr>
              <a:t>&gt;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 -t</a:t>
            </a: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k</a:t>
            </a:r>
            <a:r>
              <a:rPr lang="en-US" sz="3200" b="1" dirty="0">
                <a:latin typeface="CS Avva Shenouda" pitchFamily="34" charset="0"/>
              </a:rPr>
              <a:t> </a:t>
            </a: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e</a:t>
            </a: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f</a:t>
            </a:r>
            <a:endParaRPr lang="en-US" sz="3200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c</a:t>
            </a:r>
            <a:endParaRPr lang="en-US" sz="3200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n</a:t>
            </a:r>
            <a:endParaRPr lang="en-US" sz="3200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ten</a:t>
            </a:r>
            <a:endParaRPr lang="en-US" sz="3200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S Avva Shenouda" pitchFamily="34" charset="0"/>
              </a:rPr>
              <a:t>- </a:t>
            </a:r>
            <a:r>
              <a:rPr lang="en-US" sz="3200" b="1" dirty="0" err="1">
                <a:solidFill>
                  <a:srgbClr val="FFFF00"/>
                </a:solidFill>
                <a:latin typeface="CS Avva Shenouda" pitchFamily="34" charset="0"/>
              </a:rPr>
              <a:t>ou</a:t>
            </a:r>
            <a:endParaRPr lang="en-US" sz="3200" dirty="0">
              <a:solidFill>
                <a:srgbClr val="FFFF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0" y="1295400"/>
            <a:ext cx="2933700" cy="501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100"/>
              </a:spcAft>
              <a:buClr>
                <a:schemeClr val="tx1"/>
              </a:buClr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FF00"/>
                </a:solidFill>
              </a:rPr>
              <a:t>me</a:t>
            </a:r>
          </a:p>
          <a:p>
            <a:pPr algn="l">
              <a:spcAft>
                <a:spcPts val="1100"/>
              </a:spcAft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+mn-lt"/>
              </a:rPr>
              <a:t>you </a:t>
            </a:r>
            <a:r>
              <a:rPr lang="en-US" sz="2000" dirty="0">
                <a:solidFill>
                  <a:srgbClr val="FFFF00"/>
                </a:solidFill>
                <a:latin typeface="+mn-lt"/>
              </a:rPr>
              <a:t>(masculine)</a:t>
            </a:r>
          </a:p>
          <a:p>
            <a:pPr algn="l">
              <a:spcAft>
                <a:spcPts val="1100"/>
              </a:spcAft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+mn-lt"/>
              </a:rPr>
              <a:t>you </a:t>
            </a:r>
            <a:r>
              <a:rPr lang="en-US" sz="2000" dirty="0">
                <a:solidFill>
                  <a:srgbClr val="FFFF00"/>
                </a:solidFill>
                <a:latin typeface="+mn-lt"/>
              </a:rPr>
              <a:t>(feminine)</a:t>
            </a:r>
          </a:p>
          <a:p>
            <a:pPr algn="l">
              <a:spcAft>
                <a:spcPts val="1100"/>
              </a:spcAft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FF00"/>
                </a:solidFill>
              </a:rPr>
              <a:t>him</a:t>
            </a:r>
          </a:p>
          <a:p>
            <a:pPr algn="l">
              <a:spcAft>
                <a:spcPts val="1100"/>
              </a:spcAft>
              <a:buClr>
                <a:schemeClr val="tx1"/>
              </a:buClr>
              <a:buFont typeface="Franklin Gothic Book" pitchFamily="34" charset="0"/>
              <a:buChar char="="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00"/>
                </a:solidFill>
              </a:rPr>
              <a:t>her</a:t>
            </a:r>
          </a:p>
          <a:p>
            <a:pPr marL="344488" indent="-344488" algn="l">
              <a:spcAft>
                <a:spcPts val="1100"/>
              </a:spcAft>
              <a:buFont typeface="Franklin Gothic Book" pitchFamily="34" charset="0"/>
              <a:buChar char="="/>
            </a:pPr>
            <a:r>
              <a:rPr lang="en-US" sz="3200" dirty="0">
                <a:solidFill>
                  <a:srgbClr val="FFFF00"/>
                </a:solidFill>
                <a:latin typeface="+mn-lt"/>
              </a:rPr>
              <a:t>us</a:t>
            </a:r>
          </a:p>
          <a:p>
            <a:pPr marL="344488" indent="-344488" algn="l">
              <a:spcAft>
                <a:spcPts val="1100"/>
              </a:spcAft>
              <a:buFont typeface="Franklin Gothic Book" pitchFamily="34" charset="0"/>
              <a:buChar char="="/>
            </a:pPr>
            <a:r>
              <a:rPr lang="en-US" sz="3200" dirty="0">
                <a:solidFill>
                  <a:srgbClr val="FFFF00"/>
                </a:solidFill>
                <a:latin typeface="+mn-lt"/>
              </a:rPr>
              <a:t>you </a:t>
            </a:r>
            <a:r>
              <a:rPr lang="en-US" sz="2000" dirty="0">
                <a:solidFill>
                  <a:srgbClr val="FFFF00"/>
                </a:solidFill>
                <a:latin typeface="+mn-lt"/>
              </a:rPr>
              <a:t>(plural)</a:t>
            </a:r>
          </a:p>
          <a:p>
            <a:pPr marL="344488" indent="-344488" algn="l">
              <a:spcAft>
                <a:spcPts val="1100"/>
              </a:spcAft>
              <a:buFont typeface="Franklin Gothic Book" pitchFamily="34" charset="0"/>
              <a:buChar char="="/>
            </a:pPr>
            <a:r>
              <a:rPr lang="en-US" sz="3200" dirty="0">
                <a:solidFill>
                  <a:srgbClr val="FFFF00"/>
                </a:solidFill>
                <a:latin typeface="+mn-lt"/>
              </a:rPr>
              <a:t>them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Exercise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905000"/>
            <a:ext cx="3352800" cy="4724400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ero</a:t>
            </a: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//</a:t>
            </a: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to, for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nema</a:t>
            </a: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//</a:t>
            </a: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with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nahra</a:t>
            </a: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//</a:t>
            </a: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before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nta</a:t>
            </a: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//</a:t>
            </a: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belong to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C00000"/>
                </a:solidFill>
                <a:latin typeface="+mj-lt"/>
              </a:rPr>
              <a:t>Add Suffix Pronouns to the following: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257800" y="1905000"/>
            <a:ext cx="4038600" cy="527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sena//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go to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tyr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//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all of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ebolhitot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/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/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 smtClean="0">
                <a:solidFill>
                  <a:srgbClr val="FF6600"/>
                </a:solidFill>
                <a:latin typeface="+mn-lt"/>
                <a:cs typeface="+mn-cs"/>
              </a:rPr>
              <a:t>by</a:t>
            </a:r>
            <a:r>
              <a:rPr lang="en-US" sz="2700" b="1" smtClean="0">
                <a:solidFill>
                  <a:srgbClr val="FF6600"/>
                </a:solidFill>
                <a:latin typeface="+mn-lt"/>
                <a:cs typeface="+mn-cs"/>
              </a:rPr>
              <a:t>, through</a:t>
            </a:r>
            <a:endParaRPr lang="en-US" sz="2700" b="1" dirty="0">
              <a:solidFill>
                <a:srgbClr val="FF6600"/>
              </a:solidFill>
              <a:latin typeface="+mn-lt"/>
              <a:cs typeface="+mn-cs"/>
            </a:endParaRPr>
          </a:p>
          <a:p>
            <a:pPr marL="514350" lvl="1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qarw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//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200" b="1" dirty="0">
                <a:solidFill>
                  <a:srgbClr val="FF6600"/>
                </a:solidFill>
                <a:latin typeface="+mn-lt"/>
                <a:cs typeface="+mn-cs"/>
              </a:rPr>
              <a:t>in front of, beneath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Exercise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343400" cy="4724400"/>
          </a:xfrm>
        </p:spPr>
        <p:txBody>
          <a:bodyPr>
            <a:normAutofit fontScale="85000" lnSpcReduction="20000"/>
          </a:bodyPr>
          <a:lstStyle/>
          <a:p>
            <a:pPr marL="509588" lvl="1" indent="-509588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Sa `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eneh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`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nte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ni`eneh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tyr</a:t>
            </a:r>
            <a:r>
              <a:rPr lang="en-US" sz="3100" dirty="0" err="1">
                <a:solidFill>
                  <a:srgbClr val="FFC000"/>
                </a:solidFill>
                <a:latin typeface="CS Avva Shenouda" pitchFamily="34" charset="0"/>
              </a:rPr>
              <a:t>ou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`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amyn</a:t>
            </a:r>
            <a:endParaRPr lang="en-US" sz="3100" b="1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Unto the age of all ages, amen</a:t>
            </a:r>
            <a:endParaRPr lang="en-US" sz="3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2"/>
            </a:pP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Swpi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nema</a:t>
            </a:r>
            <a:r>
              <a:rPr lang="en-US" sz="3100" dirty="0" err="1">
                <a:solidFill>
                  <a:srgbClr val="FFC000"/>
                </a:solidFill>
                <a:latin typeface="CS Avva Shenouda" pitchFamily="34" charset="0"/>
              </a:rPr>
              <a:t>n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`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amyn</a:t>
            </a:r>
            <a:endParaRPr lang="en-US" sz="3100" b="1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Be with us, amen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3"/>
            </a:pP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Pi`hmot</a:t>
            </a:r>
            <a:r>
              <a:rPr lang="en-US" sz="3100" b="1" dirty="0">
                <a:solidFill>
                  <a:srgbClr val="FFFF00"/>
                </a:solidFill>
                <a:latin typeface="CS Avva Shenouda" pitchFamily="34" charset="0"/>
              </a:rPr>
              <a:t> gar </a:t>
            </a: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nemw</a:t>
            </a:r>
            <a:r>
              <a:rPr lang="en-US" sz="3100" b="1" dirty="0" err="1">
                <a:solidFill>
                  <a:srgbClr val="FFC000"/>
                </a:solidFill>
                <a:latin typeface="CS Avva Shenouda" pitchFamily="34" charset="0"/>
              </a:rPr>
              <a:t>ten</a:t>
            </a:r>
            <a:endParaRPr lang="en-US" sz="3100" b="1" dirty="0">
              <a:solidFill>
                <a:srgbClr val="FFC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Grace be with you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4"/>
            </a:pP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Afwopte</a:t>
            </a:r>
            <a:r>
              <a:rPr lang="en-US" sz="3100" b="1" dirty="0" err="1">
                <a:solidFill>
                  <a:srgbClr val="FFC000"/>
                </a:solidFill>
                <a:latin typeface="CS Avva Shenouda" pitchFamily="34" charset="0"/>
              </a:rPr>
              <a:t>n</a:t>
            </a:r>
            <a:r>
              <a:rPr lang="en-US" sz="3100" b="1" dirty="0">
                <a:solidFill>
                  <a:srgbClr val="FFFF00"/>
                </a:solidFill>
                <a:latin typeface="CS Avva Shenouda" pitchFamily="34" charset="0"/>
              </a:rPr>
              <a:t> `</a:t>
            </a: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ero</a:t>
            </a:r>
            <a:r>
              <a:rPr lang="en-US" sz="3100" b="1" dirty="0" err="1">
                <a:solidFill>
                  <a:srgbClr val="FFC000"/>
                </a:solidFill>
                <a:latin typeface="CS Avva Shenouda" pitchFamily="34" charset="0"/>
              </a:rPr>
              <a:t>f</a:t>
            </a:r>
            <a:endParaRPr lang="en-US" sz="3100" b="1" dirty="0">
              <a:solidFill>
                <a:srgbClr val="FFC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Accepted us to Him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0668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u="sng" dirty="0">
                <a:solidFill>
                  <a:srgbClr val="C00000"/>
                </a:solidFill>
                <a:latin typeface="+mj-lt"/>
              </a:rPr>
              <a:t>From the Liturgy</a:t>
            </a:r>
            <a:r>
              <a:rPr lang="en-US" sz="2800" b="1" dirty="0">
                <a:solidFill>
                  <a:srgbClr val="C00000"/>
                </a:solidFill>
                <a:latin typeface="+mj-lt"/>
              </a:rPr>
              <a:t>: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648200" y="1200966"/>
            <a:ext cx="4267200" cy="535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514350" algn="l"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5"/>
            </a:pP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]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sep`hmot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ntot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k</a:t>
            </a:r>
            <a:endParaRPr lang="en-US" sz="2600" b="1" dirty="0">
              <a:solidFill>
                <a:srgbClr val="FFC000"/>
              </a:solidFill>
              <a:effectLst>
                <a:outerShdw blurRad="101600" dist="63500" dir="2700000" algn="tl" rotWithShape="0">
                  <a:prstClr val="black">
                    <a:alpha val="75000"/>
                  </a:prstClr>
                </a:outerShdw>
              </a:effectLst>
              <a:latin typeface="CS Avva Shenouda" panose="020B7200000000000000" pitchFamily="34" charset="0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I 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thank You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6"/>
            </a:pP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nte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f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senhyt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 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qaro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</a:t>
            </a:r>
            <a:endParaRPr lang="en-US" sz="2600" b="1" dirty="0">
              <a:solidFill>
                <a:srgbClr val="FFC000"/>
              </a:solidFill>
              <a:effectLst>
                <a:outerShdw blurRad="101600" dist="63500" dir="2700000" algn="tl" rotWithShape="0">
                  <a:prstClr val="black">
                    <a:alpha val="75000"/>
                  </a:prstClr>
                </a:outerShdw>
              </a:effectLst>
              <a:latin typeface="CS Avva Shenouda" panose="020B7200000000000000" pitchFamily="34" charset="0"/>
            </a:endParaRPr>
          </a:p>
          <a:p>
            <a:pPr marL="758952" lvl="1" indent="-45720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He may have compassion on us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alit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ou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ebolharo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</a:t>
            </a:r>
            <a:endParaRPr lang="en-US" sz="2600" b="1" dirty="0">
              <a:solidFill>
                <a:srgbClr val="FFC000"/>
              </a:solidFill>
              <a:effectLst>
                <a:outerShdw blurRad="101600" dist="63500" dir="2700000" algn="tl" rotWithShape="0">
                  <a:prstClr val="black">
                    <a:alpha val="75000"/>
                  </a:prstClr>
                </a:outerShdw>
              </a:effectLst>
              <a:latin typeface="CS Avva Shenouda" panose="020B7200000000000000" pitchFamily="34" charset="0"/>
            </a:endParaRPr>
          </a:p>
          <a:p>
            <a:pPr marL="758952" lvl="1" indent="-45720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Take them away from us</a:t>
            </a:r>
          </a:p>
          <a:p>
            <a:pPr marL="514350" lvl="1" indent="-51435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8"/>
            </a:pP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Arite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nem`psa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njo</a:t>
            </a:r>
            <a:r>
              <a:rPr lang="en-US" sz="2600" b="1" dirty="0" err="1">
                <a:solidFill>
                  <a:srgbClr val="FFC0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CS Avva Shenouda" panose="020B7200000000000000" pitchFamily="34" charset="0"/>
              </a:rPr>
              <a:t>c</a:t>
            </a:r>
            <a:endParaRPr lang="en-US" sz="2600" b="1" dirty="0">
              <a:solidFill>
                <a:srgbClr val="FFC000"/>
              </a:solidFill>
              <a:effectLst>
                <a:outerShdw blurRad="101600" dist="63500" dir="2700000" algn="tl" rotWithShape="0">
                  <a:prstClr val="black">
                    <a:alpha val="75000"/>
                  </a:prstClr>
                </a:outerShdw>
              </a:effectLst>
              <a:latin typeface="CS Avva Shenouda" panose="020B7200000000000000" pitchFamily="34" charset="0"/>
            </a:endParaRPr>
          </a:p>
          <a:p>
            <a:pPr marL="758952" lvl="1" indent="-45720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Make us worthy to pray (say) it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600200" y="4343400"/>
            <a:ext cx="6019800" cy="762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800" dirty="0" err="1">
                <a:latin typeface="CS Avva Shenouda" pitchFamily="34" charset="0"/>
              </a:rPr>
              <a:t>O</a:t>
            </a:r>
            <a:r>
              <a:rPr lang="en-US" sz="4800" cap="none" dirty="0" err="1">
                <a:latin typeface="CS Avva Shenouda" pitchFamily="34" charset="0"/>
              </a:rPr>
              <a:t>ujai</a:t>
            </a:r>
            <a:r>
              <a:rPr lang="en-US" sz="4800" dirty="0">
                <a:latin typeface="CS Avva Shenouda" pitchFamily="34" charset="0"/>
              </a:rPr>
              <a:t> </a:t>
            </a:r>
            <a:r>
              <a:rPr lang="en-US" sz="4800" cap="none" dirty="0" err="1">
                <a:latin typeface="CS Avva Shenouda" pitchFamily="34" charset="0"/>
              </a:rPr>
              <a:t>qen</a:t>
            </a:r>
            <a:r>
              <a:rPr lang="en-US" sz="4800" dirty="0">
                <a:latin typeface="CS Avva Shenouda" pitchFamily="34" charset="0"/>
              </a:rPr>
              <a:t> `P</a:t>
            </a:r>
            <a:r>
              <a:rPr lang="en-US" sz="4800" cap="none" dirty="0">
                <a:latin typeface="CS Avva Shenouda" pitchFamily="34" charset="0"/>
              </a:rPr>
              <a:t>[</a:t>
            </a:r>
            <a:r>
              <a:rPr lang="en-US" sz="4800" cap="none" dirty="0" err="1">
                <a:latin typeface="CS Avva Shenouda" pitchFamily="34" charset="0"/>
              </a:rPr>
              <a:t>oic</a:t>
            </a:r>
            <a:endParaRPr lang="en-US" sz="4800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{5CD81CE2-6974-194C-9725-2D956C0D1648}tf10001062</Template>
  <TotalTime>4207</TotalTime>
  <Words>389</Words>
  <Application>Microsoft Macintosh PowerPoint</Application>
  <PresentationFormat>On-screen Show (4:3)</PresentationFormat>
  <Paragraphs>123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</vt:lpstr>
      <vt:lpstr>   Coptic Lesson 21  Suffix Pronouns</vt:lpstr>
      <vt:lpstr>Coptic Alphabets</vt:lpstr>
      <vt:lpstr>Review Questions</vt:lpstr>
      <vt:lpstr>Rule for the Theeta :</vt:lpstr>
      <vt:lpstr>Vocabulary List</vt:lpstr>
      <vt:lpstr>Beginner Vocabulary Review</vt:lpstr>
      <vt:lpstr>Suffix Pronouns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604</cp:revision>
  <dcterms:created xsi:type="dcterms:W3CDTF">2014-03-29T18:43:12Z</dcterms:created>
  <dcterms:modified xsi:type="dcterms:W3CDTF">2023-03-23T19:07:42Z</dcterms:modified>
</cp:coreProperties>
</file>