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0" r:id="rId1"/>
  </p:sldMasterIdLst>
  <p:notesMasterIdLst>
    <p:notesMasterId r:id="rId14"/>
  </p:notesMasterIdLst>
  <p:sldIdLst>
    <p:sldId id="256" r:id="rId2"/>
    <p:sldId id="269" r:id="rId3"/>
    <p:sldId id="296" r:id="rId4"/>
    <p:sldId id="386" r:id="rId5"/>
    <p:sldId id="387" r:id="rId6"/>
    <p:sldId id="355" r:id="rId7"/>
    <p:sldId id="350" r:id="rId8"/>
    <p:sldId id="361" r:id="rId9"/>
    <p:sldId id="381" r:id="rId10"/>
    <p:sldId id="383" r:id="rId11"/>
    <p:sldId id="272" r:id="rId12"/>
    <p:sldId id="268" r:id="rId1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5pPr>
    <a:lvl6pPr marL="22860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6pPr>
    <a:lvl7pPr marL="27432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7pPr>
    <a:lvl8pPr marL="32004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8pPr>
    <a:lvl9pPr marL="36576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990033"/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05" autoAdjust="0"/>
    <p:restoredTop sz="94624" autoAdjust="0"/>
  </p:normalViewPr>
  <p:slideViewPr>
    <p:cSldViewPr>
      <p:cViewPr>
        <p:scale>
          <a:sx n="90" d="100"/>
          <a:sy n="90" d="100"/>
        </p:scale>
        <p:origin x="-666" y="7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5FAD8348-8BBD-40CC-ACD4-3878505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45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15840E-E3BC-437A-8D27-233C3533F67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933CC25E-5E07-488B-A3AA-CD3E432910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2113A-07F2-427F-A786-16A0434B76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0C8791-A3C4-4C63-BA3C-5B205951B4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79BD3-2A51-40DD-9928-2FEE22DFEE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874E8-E911-4CA4-B27C-5F8AA24550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E8DBEE-AB55-4A2D-87EB-F169B9842F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F2422EC5-2D12-487C-A09A-C8B1BB55B1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13281D-6E33-4ACB-816C-920381DD9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18343-9AE2-4057-9FF5-20E4BB0589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5AAA5-A6A3-4367-B1E0-10EB4BC842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13F-6B64-4AA4-AA16-688C32EC7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76AF7F-98A1-49B5-840E-06EE2BD970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  <p:sldLayoutId id="2147484041" r:id="rId11"/>
    <p:sldLayoutId id="2147484042" r:id="rId12"/>
    <p:sldLayoutId id="2147484043" r:id="rId13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514600"/>
            <a:ext cx="8305800" cy="90033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Coptic </a:t>
            </a:r>
            <a:r>
              <a:rPr lang="en-US" dirty="0"/>
              <a:t>Lesson </a:t>
            </a:r>
            <a:r>
              <a:rPr lang="en-US" dirty="0" smtClean="0"/>
              <a:t>15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00B0F0"/>
                </a:solidFill>
              </a:rPr>
              <a:t>Relative Pronouns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5195888" cy="5000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 dirty="0"/>
              <a:t>Coptic Alphabets</a:t>
            </a:r>
          </a:p>
        </p:txBody>
      </p:sp>
      <p:pic>
        <p:nvPicPr>
          <p:cNvPr id="5123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Review </a:t>
            </a:r>
            <a:r>
              <a:rPr lang="en-US" dirty="0"/>
              <a:t>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200" dirty="0">
              <a:cs typeface="Times New Roman" pitchFamily="18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600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400" dirty="0"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oo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v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Tav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T </a:t>
            </a:r>
            <a:r>
              <a:rPr lang="en-US" sz="4000" dirty="0" err="1" smtClean="0"/>
              <a:t>t</a:t>
            </a:r>
            <a:endParaRPr lang="en-US" sz="4000" dirty="0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cs typeface="Times New Roman" pitchFamily="18" charset="0"/>
              </a:rPr>
              <a:t>Map-</a:t>
            </a:r>
            <a:r>
              <a:rPr lang="en-US" sz="2800" dirty="0" err="1" smtClean="0">
                <a:cs typeface="Times New Roman" pitchFamily="18" charset="0"/>
              </a:rPr>
              <a:t>somt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33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4000" dirty="0" smtClean="0"/>
              <a:t>=l=g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Holy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  <a:defRPr/>
            </a:pP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Veeta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b, v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b</a:t>
            </a:r>
            <a:endParaRPr lang="ar-EG" sz="4000" dirty="0" smtClean="0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Tee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} ]</a:t>
            </a:r>
            <a:endParaRPr lang="en-US" sz="4000" dirty="0"/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4000" dirty="0" smtClean="0"/>
              <a:t>==e=;=u</a:t>
            </a:r>
            <a:endParaRPr lang="ar-SA" sz="4000" dirty="0" smtClean="0"/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U </a:t>
            </a:r>
            <a:r>
              <a:rPr lang="en-US" sz="4000" dirty="0" err="1" smtClean="0"/>
              <a:t>u</a:t>
            </a:r>
            <a:endParaRPr lang="en-US" sz="4000" dirty="0"/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4000" dirty="0" smtClean="0"/>
              <a:t>=,</a:t>
            </a:r>
            <a:endParaRPr lang="en-US" sz="4000" dirty="0"/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2800" dirty="0" err="1" smtClean="0">
                <a:cs typeface="Times New Roman" pitchFamily="18" charset="0"/>
              </a:rPr>
              <a:t>E;ouab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Epsilon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cs typeface="Times New Roman" pitchFamily="18" charset="0"/>
              </a:rPr>
              <a:t>coou</a:t>
            </a:r>
            <a:r>
              <a:rPr lang="en-US" sz="2800" dirty="0" smtClean="0">
                <a:cs typeface="Times New Roman" pitchFamily="18" charset="0"/>
              </a:rPr>
              <a:t>-se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79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7" grpId="0"/>
      <p:bldP spid="23565" grpId="0"/>
      <p:bldP spid="23564" grpId="0"/>
      <p:bldP spid="23563" grpId="0"/>
      <p:bldP spid="23562" grpId="0"/>
      <p:bldP spid="23561" grpId="0"/>
      <p:bldP spid="39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>
            <a:normAutofit fontScale="90000"/>
          </a:bodyPr>
          <a:lstStyle/>
          <a:p>
            <a:r>
              <a:rPr lang="en-US" sz="4000">
                <a:latin typeface="Times New Roman" pitchFamily="18" charset="0"/>
              </a:rPr>
              <a:t>Rule for the Epsilon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U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30403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04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U u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0405" name="Text Box 5"/>
          <p:cNvSpPr txBox="1">
            <a:spLocks noChangeArrowheads="1"/>
          </p:cNvSpPr>
          <p:nvPr/>
        </p:nvSpPr>
        <p:spPr bwMode="auto">
          <a:xfrm>
            <a:off x="3429000" y="12954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V</a:t>
            </a:r>
          </a:p>
        </p:txBody>
      </p:sp>
      <p:sp>
        <p:nvSpPr>
          <p:cNvPr id="230406" name="Text Box 6"/>
          <p:cNvSpPr txBox="1">
            <a:spLocks noChangeArrowheads="1"/>
          </p:cNvSpPr>
          <p:nvPr/>
        </p:nvSpPr>
        <p:spPr bwMode="auto">
          <a:xfrm>
            <a:off x="3352800" y="22098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oo</a:t>
            </a:r>
            <a:endParaRPr lang="en-US" sz="4000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0407" name="Text Box 7"/>
          <p:cNvSpPr txBox="1">
            <a:spLocks noChangeArrowheads="1"/>
          </p:cNvSpPr>
          <p:nvPr/>
        </p:nvSpPr>
        <p:spPr bwMode="auto">
          <a:xfrm>
            <a:off x="3352800" y="3352800"/>
            <a:ext cx="762000" cy="5357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 smtClean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ee</a:t>
            </a:r>
            <a:endParaRPr lang="en-US" sz="3200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0408" name="Freeform 8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09" name="Line 9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10" name="Line 10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11" name="Text Box 11"/>
          <p:cNvSpPr txBox="1">
            <a:spLocks noChangeArrowheads="1"/>
          </p:cNvSpPr>
          <p:nvPr/>
        </p:nvSpPr>
        <p:spPr bwMode="auto">
          <a:xfrm>
            <a:off x="4114800" y="1295400"/>
            <a:ext cx="2514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after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a&gt;e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0412" name="Text Box 12"/>
          <p:cNvSpPr txBox="1">
            <a:spLocks noChangeArrowheads="1"/>
          </p:cNvSpPr>
          <p:nvPr/>
        </p:nvSpPr>
        <p:spPr bwMode="auto">
          <a:xfrm>
            <a:off x="4114800" y="2286000"/>
            <a:ext cx="3124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after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o - </a:t>
            </a:r>
            <a:r>
              <a:rPr lang="en-US" sz="4000" dirty="0" err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ou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0413" name="Text Box 13"/>
          <p:cNvSpPr txBox="1">
            <a:spLocks noChangeArrowheads="1"/>
          </p:cNvSpPr>
          <p:nvPr/>
        </p:nvSpPr>
        <p:spPr bwMode="auto">
          <a:xfrm>
            <a:off x="4114800" y="3352800"/>
            <a:ext cx="50292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after constant, or with Jinkim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`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0414" name="Text Box 14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0415" name="Text Box 15"/>
          <p:cNvSpPr txBox="1">
            <a:spLocks noChangeArrowheads="1"/>
          </p:cNvSpPr>
          <p:nvPr/>
        </p:nvSpPr>
        <p:spPr bwMode="auto">
          <a:xfrm>
            <a:off x="914400" y="4648200"/>
            <a:ext cx="1143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mau</a:t>
            </a:r>
          </a:p>
        </p:txBody>
      </p:sp>
      <p:sp>
        <p:nvSpPr>
          <p:cNvPr id="230416" name="Text Box 16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soury</a:t>
            </a:r>
          </a:p>
        </p:txBody>
      </p:sp>
      <p:sp>
        <p:nvSpPr>
          <p:cNvPr id="230417" name="Text Box 17"/>
          <p:cNvSpPr txBox="1">
            <a:spLocks noChangeArrowheads="1"/>
          </p:cNvSpPr>
          <p:nvPr/>
        </p:nvSpPr>
        <p:spPr bwMode="auto">
          <a:xfrm>
            <a:off x="4191000" y="4648200"/>
            <a:ext cx="1905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humnoc</a:t>
            </a:r>
          </a:p>
        </p:txBody>
      </p:sp>
      <p:sp>
        <p:nvSpPr>
          <p:cNvPr id="230418" name="Text Box 18"/>
          <p:cNvSpPr txBox="1">
            <a:spLocks noChangeArrowheads="1"/>
          </p:cNvSpPr>
          <p:nvPr/>
        </p:nvSpPr>
        <p:spPr bwMode="auto">
          <a:xfrm>
            <a:off x="6324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ouro</a:t>
            </a:r>
          </a:p>
        </p:txBody>
      </p:sp>
      <p:sp>
        <p:nvSpPr>
          <p:cNvPr id="230419" name="Text Box 19"/>
          <p:cNvSpPr txBox="1">
            <a:spLocks noChangeArrowheads="1"/>
          </p:cNvSpPr>
          <p:nvPr/>
        </p:nvSpPr>
        <p:spPr bwMode="auto">
          <a:xfrm>
            <a:off x="1447800" y="54864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Eu`a</a:t>
            </a:r>
          </a:p>
        </p:txBody>
      </p:sp>
      <p:sp>
        <p:nvSpPr>
          <p:cNvPr id="230420" name="Text Box 20"/>
          <p:cNvSpPr txBox="1">
            <a:spLocks noChangeArrowheads="1"/>
          </p:cNvSpPr>
          <p:nvPr/>
        </p:nvSpPr>
        <p:spPr bwMode="auto">
          <a:xfrm>
            <a:off x="3200400" y="5486400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dumiany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0421" name="Text Box 21"/>
          <p:cNvSpPr txBox="1">
            <a:spLocks noChangeArrowheads="1"/>
          </p:cNvSpPr>
          <p:nvPr/>
        </p:nvSpPr>
        <p:spPr bwMode="auto">
          <a:xfrm>
            <a:off x="5486400" y="5486400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`cnau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0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0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5" grpId="0"/>
      <p:bldP spid="230406" grpId="0"/>
      <p:bldP spid="230407" grpId="0"/>
      <p:bldP spid="230411" grpId="0"/>
      <p:bldP spid="230413" grpId="0"/>
      <p:bldP spid="230414" grpId="0"/>
      <p:bldP spid="230415" grpId="0"/>
      <p:bldP spid="230417" grpId="0"/>
      <p:bldP spid="230420" grpId="0"/>
      <p:bldP spid="2304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Coptic Bible Verses – Part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 err="1" smtClean="0">
                <a:latin typeface="CS Avva Shenouda" pitchFamily="34" charset="0"/>
              </a:rPr>
              <a:t>Rasi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qen</a:t>
            </a:r>
            <a:r>
              <a:rPr lang="en-US" dirty="0" smtClean="0">
                <a:latin typeface="CS Avva Shenouda" pitchFamily="34" charset="0"/>
              </a:rPr>
              <a:t> `P[</a:t>
            </a:r>
            <a:r>
              <a:rPr lang="en-US" dirty="0" err="1" smtClean="0">
                <a:latin typeface="CS Avva Shenouda" pitchFamily="34" charset="0"/>
              </a:rPr>
              <a:t>oic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ncyou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niben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Rejoice in the Lord always. (Phil 4:4)</a:t>
            </a:r>
          </a:p>
          <a:p>
            <a:r>
              <a:rPr lang="en-US" dirty="0" err="1" smtClean="0">
                <a:latin typeface="CS Avva Shenouda" pitchFamily="34" charset="0"/>
              </a:rPr>
              <a:t>Twbh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ejen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neten`eryou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Pray for one another. (</a:t>
            </a:r>
            <a:r>
              <a:rPr lang="en-US" sz="2400" dirty="0" err="1" smtClean="0">
                <a:solidFill>
                  <a:srgbClr val="CC3300"/>
                </a:solidFill>
              </a:rPr>
              <a:t>Jm</a:t>
            </a:r>
            <a:r>
              <a:rPr lang="en-US" sz="2400" dirty="0" smtClean="0">
                <a:solidFill>
                  <a:srgbClr val="CC3300"/>
                </a:solidFill>
              </a:rPr>
              <a:t> 5:16)</a:t>
            </a:r>
          </a:p>
          <a:p>
            <a:r>
              <a:rPr lang="en-US" dirty="0" err="1" smtClean="0">
                <a:latin typeface="CS Avva Shenouda" pitchFamily="34" charset="0"/>
              </a:rPr>
              <a:t>Vnou</a:t>
            </a:r>
            <a:r>
              <a:rPr lang="en-US" dirty="0" smtClean="0">
                <a:latin typeface="CS Avva Shenouda" pitchFamily="34" charset="0"/>
              </a:rPr>
              <a:t>] </a:t>
            </a:r>
            <a:r>
              <a:rPr lang="en-US" dirty="0" err="1" smtClean="0">
                <a:latin typeface="CS Avva Shenouda" pitchFamily="34" charset="0"/>
              </a:rPr>
              <a:t>ouagapy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God is love. (I </a:t>
            </a:r>
            <a:r>
              <a:rPr lang="en-US" sz="2400" dirty="0" err="1" smtClean="0">
                <a:solidFill>
                  <a:srgbClr val="CC3300"/>
                </a:solidFill>
              </a:rPr>
              <a:t>Jn</a:t>
            </a:r>
            <a:r>
              <a:rPr lang="en-US" sz="2400" dirty="0" smtClean="0">
                <a:solidFill>
                  <a:srgbClr val="CC3300"/>
                </a:solidFill>
              </a:rPr>
              <a:t> 4:16)</a:t>
            </a:r>
          </a:p>
          <a:p>
            <a:r>
              <a:rPr lang="en-US" dirty="0" err="1" smtClean="0">
                <a:latin typeface="CS Avva Shenouda" pitchFamily="34" charset="0"/>
              </a:rPr>
              <a:t>Jemnom</a:t>
            </a:r>
            <a:r>
              <a:rPr lang="en-US" dirty="0" smtClean="0">
                <a:latin typeface="CS Avva Shenouda" pitchFamily="34" charset="0"/>
              </a:rPr>
              <a:t>] </a:t>
            </a:r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ai</a:t>
            </a:r>
            <a:r>
              <a:rPr lang="en-US" dirty="0" smtClean="0">
                <a:latin typeface="CS Avva Shenouda" pitchFamily="34" charset="0"/>
              </a:rPr>
              <a:t>[</a:t>
            </a:r>
            <a:r>
              <a:rPr lang="en-US" dirty="0" err="1" smtClean="0">
                <a:latin typeface="CS Avva Shenouda" pitchFamily="34" charset="0"/>
              </a:rPr>
              <a:t>ro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epikocmoc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Be of good cheer, I have overcome the world. (</a:t>
            </a:r>
            <a:r>
              <a:rPr lang="en-US" sz="2400" dirty="0" err="1" smtClean="0">
                <a:solidFill>
                  <a:srgbClr val="CC3300"/>
                </a:solidFill>
              </a:rPr>
              <a:t>Jn</a:t>
            </a:r>
            <a:r>
              <a:rPr lang="en-US" sz="2400" dirty="0" smtClean="0">
                <a:solidFill>
                  <a:srgbClr val="CC3300"/>
                </a:solidFill>
              </a:rPr>
              <a:t> 16:33)</a:t>
            </a:r>
          </a:p>
          <a:p>
            <a:r>
              <a:rPr lang="en-US" dirty="0" smtClean="0">
                <a:latin typeface="CS Avva Shenouda" pitchFamily="34" charset="0"/>
              </a:rPr>
              <a:t>}</a:t>
            </a:r>
            <a:r>
              <a:rPr lang="en-US" dirty="0" err="1" smtClean="0">
                <a:latin typeface="CS Avva Shenouda" pitchFamily="34" charset="0"/>
              </a:rPr>
              <a:t>ar,y</a:t>
            </a:r>
            <a:r>
              <a:rPr lang="en-US" dirty="0" smtClean="0">
                <a:latin typeface="CS Avva Shenouda" pitchFamily="34" charset="0"/>
              </a:rPr>
              <a:t> `n]</a:t>
            </a:r>
            <a:r>
              <a:rPr lang="en-US" dirty="0" err="1" smtClean="0">
                <a:latin typeface="CS Avva Shenouda" pitchFamily="34" charset="0"/>
              </a:rPr>
              <a:t>covia</a:t>
            </a:r>
            <a:r>
              <a:rPr lang="en-US" dirty="0" smtClean="0">
                <a:latin typeface="CS Avva Shenouda" pitchFamily="34" charset="0"/>
              </a:rPr>
              <a:t> ]ho] `</a:t>
            </a:r>
            <a:r>
              <a:rPr lang="en-US" dirty="0" err="1" smtClean="0">
                <a:latin typeface="CS Avva Shenouda" pitchFamily="34" charset="0"/>
              </a:rPr>
              <a:t>nte</a:t>
            </a:r>
            <a:r>
              <a:rPr lang="en-US" dirty="0" smtClean="0">
                <a:latin typeface="CS Avva Shenouda" pitchFamily="34" charset="0"/>
              </a:rPr>
              <a:t> `P[</a:t>
            </a:r>
            <a:r>
              <a:rPr lang="en-US" dirty="0" err="1" smtClean="0">
                <a:latin typeface="CS Avva Shenouda" pitchFamily="34" charset="0"/>
              </a:rPr>
              <a:t>oic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te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The fear of the Lord is the beginning of wisdom. (Ps 110:10)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447800"/>
            <a:ext cx="8153400" cy="4419600"/>
          </a:xfrm>
        </p:spPr>
        <p:txBody>
          <a:bodyPr>
            <a:normAutofit fontScale="92500" lnSpcReduction="10000"/>
          </a:bodyPr>
          <a:lstStyle/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romi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kahi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Vnou</a:t>
            </a:r>
            <a:r>
              <a:rPr lang="en-US" dirty="0" smtClean="0">
                <a:latin typeface="CS Avva Shenouda" pitchFamily="34" charset="0"/>
              </a:rPr>
              <a:t>]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alou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ioh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ry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con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syri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iwt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bal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yi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ran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ro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ouro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nyb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chimi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vorsi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seri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ourw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ri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cwni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ajp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ve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sau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soury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mau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]`</a:t>
            </a:r>
            <a:r>
              <a:rPr lang="en-US" dirty="0" err="1" smtClean="0">
                <a:latin typeface="CS Avva Shenouda" pitchFamily="34" charset="0"/>
              </a:rPr>
              <a:t>alou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jij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`;</a:t>
            </a:r>
            <a:r>
              <a:rPr lang="en-US" dirty="0" err="1" smtClean="0">
                <a:latin typeface="CS Avva Shenouda" pitchFamily="34" charset="0"/>
              </a:rPr>
              <a:t>nyb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hiomi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nicwni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nirwmi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niran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nimau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ni`alou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jom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niourw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nibal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nisau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ninyb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niseri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totc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io</a:t>
            </a:r>
            <a:r>
              <a:rPr lang="en-US" dirty="0" smtClean="0">
                <a:latin typeface="CS Avva Shenouda" pitchFamily="34" charset="0"/>
              </a:rPr>
              <a:t>]	</a:t>
            </a:r>
            <a:r>
              <a:rPr lang="en-US" dirty="0" err="1" smtClean="0">
                <a:latin typeface="CS Avva Shenouda" pitchFamily="34" charset="0"/>
              </a:rPr>
              <a:t>ourwou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vyou`i</a:t>
            </a:r>
            <a:endParaRPr lang="en-US" dirty="0">
              <a:latin typeface="CS Avva Shenouda" pitchFamily="34" charset="0"/>
            </a:endParaRPr>
          </a:p>
        </p:txBody>
      </p:sp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00276" y="568345"/>
            <a:ext cx="6577928" cy="727055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Beginner Vocabulary Review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uiExpand="1" build="p"/>
      <p:bldP spid="1331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057400" cy="2286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Vye</a:t>
            </a:r>
            <a:r>
              <a:rPr lang="en-US" sz="3200" b="1" dirty="0" err="1" smtClean="0">
                <a:solidFill>
                  <a:srgbClr val="CC3300"/>
                </a:solidFill>
                <a:latin typeface="CS Avva Shenouda" pitchFamily="34" charset="0"/>
              </a:rPr>
              <a:t>t</a:t>
            </a: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...</a:t>
            </a:r>
          </a:p>
          <a:p>
            <a:pPr>
              <a:buFont typeface="Wingdings" pitchFamily="2" charset="2"/>
              <a:buChar char="v"/>
            </a:pP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 :ye</a:t>
            </a:r>
            <a:r>
              <a:rPr lang="en-US" sz="3200" b="1" dirty="0" smtClean="0">
                <a:solidFill>
                  <a:srgbClr val="CC3300"/>
                </a:solidFill>
                <a:latin typeface="CS Avva Shenouda" pitchFamily="34" charset="0"/>
              </a:rPr>
              <a:t>t</a:t>
            </a: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...</a:t>
            </a:r>
          </a:p>
          <a:p>
            <a:pPr>
              <a:buFont typeface="Wingdings" pitchFamily="2" charset="2"/>
              <a:buChar char="v"/>
            </a:pP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Nye</a:t>
            </a:r>
            <a:r>
              <a:rPr lang="en-US" sz="3200" b="1" dirty="0" err="1" smtClean="0">
                <a:solidFill>
                  <a:srgbClr val="CC3300"/>
                </a:solidFill>
                <a:latin typeface="CS Avva Shenouda" pitchFamily="34" charset="0"/>
              </a:rPr>
              <a:t>t</a:t>
            </a: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...</a:t>
            </a:r>
          </a:p>
          <a:p>
            <a:pPr>
              <a:buFont typeface="Wingdings" pitchFamily="2" charset="2"/>
              <a:buChar char="v"/>
            </a:pP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 E</a:t>
            </a:r>
            <a:r>
              <a:rPr lang="en-US" sz="3200" b="1" dirty="0" smtClean="0">
                <a:solidFill>
                  <a:srgbClr val="CC3300"/>
                </a:solidFill>
                <a:latin typeface="CS Avva Shenouda" pitchFamily="34" charset="0"/>
              </a:rPr>
              <a:t>t</a:t>
            </a: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...</a:t>
            </a: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467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Relative Pronouns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1600200"/>
            <a:ext cx="5562600" cy="2357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who, which, that (masc.)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who, which, that (fem.)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who, which, that (plural)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may be substituted for above</a:t>
            </a: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7010400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C3300"/>
                </a:solidFill>
              </a:rPr>
              <a:t>t</a:t>
            </a:r>
            <a:r>
              <a:rPr lang="en-US" dirty="0" smtClean="0"/>
              <a:t> </a:t>
            </a:r>
            <a:r>
              <a:rPr lang="en-US" sz="3200" dirty="0" smtClean="0">
                <a:latin typeface="+mn-lt"/>
              </a:rPr>
              <a:t>becomes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C3300"/>
                </a:solidFill>
              </a:rPr>
              <a:t>;</a:t>
            </a:r>
            <a:r>
              <a:rPr lang="en-US" dirty="0" smtClean="0"/>
              <a:t> </a:t>
            </a:r>
            <a:r>
              <a:rPr lang="en-US" sz="3200" dirty="0" smtClean="0">
                <a:latin typeface="+mn-lt"/>
              </a:rPr>
              <a:t>before the letters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b  </a:t>
            </a:r>
            <a:r>
              <a:rPr lang="en-US" dirty="0" err="1" smtClean="0">
                <a:solidFill>
                  <a:srgbClr val="002060"/>
                </a:solidFill>
              </a:rPr>
              <a:t>i</a:t>
            </a:r>
            <a:r>
              <a:rPr lang="en-US" dirty="0" smtClean="0">
                <a:solidFill>
                  <a:srgbClr val="002060"/>
                </a:solidFill>
              </a:rPr>
              <a:t>  l  m  n  o  r  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4267200" cy="47244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Vyethemci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 who sits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Pirwmi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etaf`i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man who came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: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yetcaji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 who talks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}`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chimi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etachemci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woman who sat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 dirty="0" smtClean="0"/>
              <a:t>Exercise (Part 1)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1430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Translate the following into English: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495800" y="1828800"/>
            <a:ext cx="4419600" cy="4259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spcBef>
                <a:spcPts val="600"/>
              </a:spcBef>
              <a:buClr>
                <a:srgbClr val="FFC000"/>
              </a:buClr>
              <a:buFont typeface="+mj-lt"/>
              <a:buAutoNum type="arabicPeriod" startAt="5"/>
            </a:pPr>
            <a:r>
              <a:rPr lang="en-US" sz="3500" dirty="0" err="1" smtClean="0">
                <a:cs typeface="+mn-cs"/>
              </a:rPr>
              <a:t>Nijom ethijem ]vorsi</a:t>
            </a:r>
          </a:p>
          <a:p>
            <a:pPr marL="640080" lvl="1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r>
              <a:rPr lang="en-US" sz="2900" b="1" dirty="0" smtClean="0">
                <a:solidFill>
                  <a:srgbClr val="CC3300"/>
                </a:solidFill>
                <a:latin typeface="+mn-lt"/>
                <a:cs typeface="+mn-cs"/>
              </a:rPr>
              <a:t>The books that are on the table</a:t>
            </a:r>
          </a:p>
          <a:p>
            <a:pPr marL="514350" indent="-514350" algn="l">
              <a:spcBef>
                <a:spcPts val="1200"/>
              </a:spcBef>
              <a:buClr>
                <a:srgbClr val="FFC000"/>
              </a:buClr>
              <a:buFont typeface="+mj-lt"/>
              <a:buAutoNum type="arabicPeriod" startAt="5"/>
            </a:pPr>
            <a:r>
              <a:rPr lang="en-US" sz="3500" dirty="0" err="1" smtClean="0">
                <a:cs typeface="+mn-cs"/>
              </a:rPr>
              <a:t>Peniwt etqen nivyou`i.</a:t>
            </a:r>
          </a:p>
          <a:p>
            <a:pPr marL="640080" lvl="1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r>
              <a:rPr lang="en-US" sz="2900" b="1" dirty="0" smtClean="0">
                <a:solidFill>
                  <a:srgbClr val="CC3300"/>
                </a:solidFill>
                <a:latin typeface="+mn-lt"/>
                <a:cs typeface="+mn-cs"/>
              </a:rPr>
              <a:t>Our Father Who is in the heavens.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 smtClean="0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971800" cy="2286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Vyete`mmau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 :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yete`mmau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Nyete`mmau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Ete`mmau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467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Demonstrative Pronouns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505200" y="1600200"/>
            <a:ext cx="5105400" cy="2788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that (masc.)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that (fem.)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those (plural)</a:t>
            </a:r>
          </a:p>
          <a:p>
            <a:pPr marL="233363" indent="-233363"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</a:t>
            </a:r>
            <a:r>
              <a:rPr lang="en-US" sz="2800" dirty="0" smtClean="0">
                <a:latin typeface="+mn-lt"/>
              </a:rPr>
              <a:t>may be substituted for above</a:t>
            </a:r>
            <a:br>
              <a:rPr lang="en-US" sz="2800" dirty="0" smtClean="0">
                <a:latin typeface="+mn-lt"/>
              </a:rPr>
            </a:br>
            <a:r>
              <a:rPr lang="en-US" sz="2800" dirty="0" smtClean="0">
                <a:latin typeface="+mn-lt"/>
              </a:rPr>
              <a:t> ("which is there")</a:t>
            </a: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57400"/>
            <a:ext cx="8458200" cy="41148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Pirwmi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vyete`mmau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29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man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]`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chimi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;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yete`mmau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29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woman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Ni`alwou`i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nyete`mmau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29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Those boys</a:t>
            </a:r>
            <a:endParaRPr lang="en-US" sz="2900" b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 dirty="0" smtClean="0"/>
              <a:t>Exercise (Part 2)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1430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Translate the following into English: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sz="4000" dirty="0"/>
              <a:t> All slides are available at </a:t>
            </a:r>
            <a:br>
              <a:rPr lang="en-US" sz="4000" dirty="0"/>
            </a:br>
            <a:r>
              <a:rPr lang="en-US" dirty="0">
                <a:solidFill>
                  <a:srgbClr val="990033"/>
                </a:solidFill>
              </a:rPr>
              <a:t>http://</a:t>
            </a:r>
            <a:r>
              <a:rPr lang="en-US" dirty="0" smtClean="0">
                <a:solidFill>
                  <a:srgbClr val="990033"/>
                </a:solidFill>
              </a:rPr>
              <a:t>www.ekladious.com/coptic.html</a:t>
            </a:r>
            <a:endParaRPr lang="en-US" sz="4000" dirty="0">
              <a:solidFill>
                <a:srgbClr val="990033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4000" dirty="0"/>
              <a:t> 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286000" y="4114800"/>
            <a:ext cx="4495800" cy="762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dirty="0" err="1">
                <a:latin typeface="CS Avva Shenouda" pitchFamily="34" charset="0"/>
              </a:rPr>
              <a:t>Oujai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qen</a:t>
            </a:r>
            <a:r>
              <a:rPr lang="en-US" dirty="0">
                <a:latin typeface="CS Avva Shenouda" pitchFamily="34" charset="0"/>
              </a:rPr>
              <a:t> `P[</a:t>
            </a:r>
            <a:r>
              <a:rPr lang="en-US" dirty="0" err="1">
                <a:latin typeface="CS Avva Shenouda" pitchFamily="34" charset="0"/>
              </a:rPr>
              <a:t>oic</a:t>
            </a:r>
            <a:endParaRPr lang="en-US" dirty="0">
              <a:latin typeface="CS Avva Shenouda" pitchFamily="34" charset="0"/>
            </a:endParaRPr>
          </a:p>
        </p:txBody>
      </p:sp>
      <p:pic>
        <p:nvPicPr>
          <p:cNvPr id="21507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1981200"/>
            <a:ext cx="1543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2732</TotalTime>
  <Words>282</Words>
  <Application>Microsoft Office PowerPoint</Application>
  <PresentationFormat>On-screen Show (4:3)</PresentationFormat>
  <Paragraphs>105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Paper</vt:lpstr>
      <vt:lpstr> Coptic Lesson 15   Relative Pronouns</vt:lpstr>
      <vt:lpstr>Coptic Alphabets</vt:lpstr>
      <vt:lpstr>Review Questions</vt:lpstr>
      <vt:lpstr>Rule for the Epsilon U</vt:lpstr>
      <vt:lpstr>Coptic Bible Verses – Part 3</vt:lpstr>
      <vt:lpstr>Beginner Vocabulary Review</vt:lpstr>
      <vt:lpstr>Relative Pronouns</vt:lpstr>
      <vt:lpstr>Exercise (Part 1)</vt:lpstr>
      <vt:lpstr>Demonstrative Pronouns</vt:lpstr>
      <vt:lpstr>Exercise (Part 2)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Sam Ekladious</cp:lastModifiedBy>
  <cp:revision>445</cp:revision>
  <dcterms:created xsi:type="dcterms:W3CDTF">2014-03-29T18:43:12Z</dcterms:created>
  <dcterms:modified xsi:type="dcterms:W3CDTF">2019-12-06T14:27:46Z</dcterms:modified>
</cp:coreProperties>
</file>