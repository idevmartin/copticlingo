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14"/>
  </p:notesMasterIdLst>
  <p:sldIdLst>
    <p:sldId id="256" r:id="rId2"/>
    <p:sldId id="269" r:id="rId3"/>
    <p:sldId id="296" r:id="rId4"/>
    <p:sldId id="377" r:id="rId5"/>
    <p:sldId id="378" r:id="rId6"/>
    <p:sldId id="364" r:id="rId7"/>
    <p:sldId id="355" r:id="rId8"/>
    <p:sldId id="350" r:id="rId9"/>
    <p:sldId id="351" r:id="rId10"/>
    <p:sldId id="361" r:id="rId11"/>
    <p:sldId id="272" r:id="rId12"/>
    <p:sldId id="268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5" autoAdjust="0"/>
    <p:restoredTop sz="94624" autoAdjust="0"/>
  </p:normalViewPr>
  <p:slideViewPr>
    <p:cSldViewPr>
      <p:cViewPr>
        <p:scale>
          <a:sx n="90" d="100"/>
          <a:sy n="90" d="100"/>
        </p:scale>
        <p:origin x="-900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>
              <a:defRPr/>
            </a:pPr>
            <a:fld id="{6315840E-E3BC-437A-8D27-233C3533F67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Coptic Lesson </a:t>
            </a:r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Coptic Pronouns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Review </a:t>
            </a:r>
            <a:r>
              <a:rPr lang="en-US" dirty="0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200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g, 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Fai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f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`</a:t>
            </a:r>
            <a:r>
              <a:rPr lang="en-US" sz="2800" dirty="0" err="1" smtClean="0">
                <a:cs typeface="Times New Roman" pitchFamily="18" charset="0"/>
              </a:rPr>
              <a:t>cnau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=b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Martyr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Delta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d, z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d</a:t>
            </a:r>
            <a:endParaRPr lang="ar-EG" sz="4000" dirty="0" smtClean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Epsee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'</a:t>
            </a:r>
            <a:endParaRPr lang="en-US" sz="4000" dirty="0"/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¢</a:t>
            </a:r>
            <a:endParaRPr lang="en-US" sz="4000" dirty="0"/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g</a:t>
            </a:r>
            <a:endParaRPr lang="en-US" sz="4000" dirty="0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=c</a:t>
            </a:r>
            <a:endParaRPr lang="en-US" sz="4000" dirty="0"/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Marturoc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Ghamma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`</a:t>
            </a:r>
            <a:r>
              <a:rPr lang="en-US" sz="2800" dirty="0" err="1" smtClean="0">
                <a:cs typeface="Times New Roman" pitchFamily="18" charset="0"/>
              </a:rPr>
              <a:t>cnau</a:t>
            </a:r>
            <a:r>
              <a:rPr lang="en-US" sz="2800" dirty="0" smtClean="0">
                <a:cs typeface="Times New Roman" pitchFamily="18" charset="0"/>
              </a:rPr>
              <a:t>-se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5943600" cy="63658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>
                <a:latin typeface="Times New Roman" pitchFamily="18" charset="0"/>
              </a:rPr>
              <a:t>Rule for the Ghamma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24259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33528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</a:t>
            </a:r>
          </a:p>
        </p:txBody>
      </p:sp>
      <p:sp>
        <p:nvSpPr>
          <p:cNvPr id="224262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gh</a:t>
            </a:r>
          </a:p>
        </p:txBody>
      </p:sp>
      <p:sp>
        <p:nvSpPr>
          <p:cNvPr id="224263" name="Text Box 7"/>
          <p:cNvSpPr txBox="1">
            <a:spLocks noChangeArrowheads="1"/>
          </p:cNvSpPr>
          <p:nvPr/>
        </p:nvSpPr>
        <p:spPr bwMode="auto">
          <a:xfrm>
            <a:off x="3429000" y="3276600"/>
            <a:ext cx="533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  <a:endParaRPr lang="en-US" sz="3200">
              <a:solidFill>
                <a:srgbClr val="00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4264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5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7" name="Text Box 11"/>
          <p:cNvSpPr txBox="1">
            <a:spLocks noChangeArrowheads="1"/>
          </p:cNvSpPr>
          <p:nvPr/>
        </p:nvSpPr>
        <p:spPr bwMode="auto">
          <a:xfrm>
            <a:off x="3962400" y="1295400"/>
            <a:ext cx="3733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e-family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4268" name="Text Box 12"/>
          <p:cNvSpPr txBox="1">
            <a:spLocks noChangeArrowheads="1"/>
          </p:cNvSpPr>
          <p:nvPr/>
        </p:nvSpPr>
        <p:spPr bwMode="auto">
          <a:xfrm>
            <a:off x="3962400" y="2286000"/>
            <a:ext cx="3124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4269" name="Text Box 13"/>
          <p:cNvSpPr txBox="1">
            <a:spLocks noChangeArrowheads="1"/>
          </p:cNvSpPr>
          <p:nvPr/>
        </p:nvSpPr>
        <p:spPr bwMode="auto">
          <a:xfrm>
            <a:off x="3962400" y="3200400"/>
            <a:ext cx="426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g&gt; x&gt; k&gt; ,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24270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4572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genoc</a:t>
            </a:r>
          </a:p>
        </p:txBody>
      </p:sp>
      <p:sp>
        <p:nvSpPr>
          <p:cNvPr id="224272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agora</a:t>
            </a:r>
          </a:p>
        </p:txBody>
      </p:sp>
      <p:sp>
        <p:nvSpPr>
          <p:cNvPr id="224273" name="Text Box 17"/>
          <p:cNvSpPr txBox="1">
            <a:spLocks noChangeArrowheads="1"/>
          </p:cNvSpPr>
          <p:nvPr/>
        </p:nvSpPr>
        <p:spPr bwMode="auto">
          <a:xfrm>
            <a:off x="4191000" y="4648200"/>
            <a:ext cx="2209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aggeloc</a:t>
            </a:r>
          </a:p>
        </p:txBody>
      </p:sp>
      <p:sp>
        <p:nvSpPr>
          <p:cNvPr id="224274" name="Text Box 18"/>
          <p:cNvSpPr txBox="1">
            <a:spLocks noChangeArrowheads="1"/>
          </p:cNvSpPr>
          <p:nvPr/>
        </p:nvSpPr>
        <p:spPr bwMode="auto">
          <a:xfrm>
            <a:off x="67818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agioc</a:t>
            </a:r>
          </a:p>
        </p:txBody>
      </p:sp>
      <p:sp>
        <p:nvSpPr>
          <p:cNvPr id="224275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`gravy</a:t>
            </a:r>
          </a:p>
        </p:txBody>
      </p:sp>
      <p:sp>
        <p:nvSpPr>
          <p:cNvPr id="224276" name="Text Box 20"/>
          <p:cNvSpPr txBox="1">
            <a:spLocks noChangeArrowheads="1"/>
          </p:cNvSpPr>
          <p:nvPr/>
        </p:nvSpPr>
        <p:spPr bwMode="auto">
          <a:xfrm>
            <a:off x="32004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calpigx</a:t>
            </a:r>
          </a:p>
        </p:txBody>
      </p:sp>
      <p:sp>
        <p:nvSpPr>
          <p:cNvPr id="224277" name="Text Box 21"/>
          <p:cNvSpPr txBox="1">
            <a:spLocks noChangeArrowheads="1"/>
          </p:cNvSpPr>
          <p:nvPr/>
        </p:nvSpPr>
        <p:spPr bwMode="auto">
          <a:xfrm>
            <a:off x="5638800" y="5486400"/>
            <a:ext cx="2286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gumnacia</a:t>
            </a:r>
          </a:p>
        </p:txBody>
      </p:sp>
      <p:sp>
        <p:nvSpPr>
          <p:cNvPr id="224278" name="Text Box 22"/>
          <p:cNvSpPr txBox="1">
            <a:spLocks noChangeArrowheads="1"/>
          </p:cNvSpPr>
          <p:nvPr/>
        </p:nvSpPr>
        <p:spPr bwMode="auto">
          <a:xfrm>
            <a:off x="6477000" y="152400"/>
            <a:ext cx="2514600" cy="10668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2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/>
      <p:bldP spid="224262" grpId="0"/>
      <p:bldP spid="224263" grpId="0"/>
      <p:bldP spid="224267" grpId="0"/>
      <p:bldP spid="224269" grpId="0"/>
      <p:bldP spid="224270" grpId="0"/>
      <p:bldP spid="224271" grpId="0"/>
      <p:bldP spid="224273" grpId="0"/>
      <p:bldP spid="224276" grpId="0"/>
      <p:bldP spid="224277" grpId="0"/>
      <p:bldP spid="2242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8153400" cy="4419600"/>
          </a:xfrm>
        </p:spPr>
        <p:txBody>
          <a:bodyPr>
            <a:normAutofit fontScale="62500" lnSpcReduction="20000"/>
          </a:bodyPr>
          <a:lstStyle/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</a:t>
            </a:r>
            <a:r>
              <a:rPr lang="en-US" sz="3600" dirty="0" err="1">
                <a:latin typeface="CS Avva Shenouda" pitchFamily="34" charset="0"/>
              </a:rPr>
              <a:t>ai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ia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oi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io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iom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la	[</a:t>
            </a:r>
            <a:r>
              <a:rPr lang="en-US" sz="3600" dirty="0" err="1">
                <a:latin typeface="CS Avva Shenouda" pitchFamily="34" charset="0"/>
              </a:rPr>
              <a:t>i</a:t>
            </a:r>
            <a:r>
              <a:rPr lang="en-US" sz="3600" dirty="0">
                <a:latin typeface="CS Avva Shenouda" pitchFamily="34" charset="0"/>
              </a:rPr>
              <a:t>	[wm	pan	ran</a:t>
            </a: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cam	[ah	map	mar	</a:t>
            </a:r>
            <a:r>
              <a:rPr lang="en-US" sz="3600" dirty="0" err="1">
                <a:latin typeface="CS Avva Shenouda" pitchFamily="34" charset="0"/>
              </a:rPr>
              <a:t>jij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cat	fat	`</a:t>
            </a:r>
            <a:r>
              <a:rPr lang="en-US" sz="3600" dirty="0" err="1">
                <a:latin typeface="CS Avva Shenouda" pitchFamily="34" charset="0"/>
              </a:rPr>
              <a:t>sne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cen</a:t>
            </a:r>
            <a:r>
              <a:rPr lang="en-US" sz="3600" dirty="0">
                <a:latin typeface="CS Avva Shenouda" pitchFamily="34" charset="0"/>
              </a:rPr>
              <a:t>]	</a:t>
            </a:r>
            <a:r>
              <a:rPr lang="en-US" sz="3600" dirty="0" err="1">
                <a:latin typeface="CS Avva Shenouda" pitchFamily="34" charset="0"/>
              </a:rPr>
              <a:t>qer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</a:t>
            </a:r>
            <a:r>
              <a:rPr lang="en-US" sz="3600" dirty="0" err="1">
                <a:latin typeface="CS Avva Shenouda" pitchFamily="34" charset="0"/>
              </a:rPr>
              <a:t>qen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sai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pisai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swi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piswi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sep	</a:t>
            </a:r>
            <a:r>
              <a:rPr lang="en-US" sz="3600" dirty="0" err="1">
                <a:latin typeface="CS Avva Shenouda" pitchFamily="34" charset="0"/>
              </a:rPr>
              <a:t>syp</a:t>
            </a:r>
            <a:r>
              <a:rPr lang="en-US" sz="3600" dirty="0">
                <a:latin typeface="CS Avva Shenouda" pitchFamily="34" charset="0"/>
              </a:rPr>
              <a:t>	`</a:t>
            </a:r>
            <a:r>
              <a:rPr lang="en-US" sz="3600" dirty="0" err="1">
                <a:latin typeface="CS Avva Shenouda" pitchFamily="34" charset="0"/>
              </a:rPr>
              <a:t>fsyp</a:t>
            </a:r>
            <a:r>
              <a:rPr lang="en-US" sz="3600" dirty="0">
                <a:latin typeface="CS Avva Shenouda" pitchFamily="34" charset="0"/>
              </a:rPr>
              <a:t>	can	</a:t>
            </a:r>
            <a:r>
              <a:rPr lang="en-US" sz="3600" dirty="0" err="1">
                <a:latin typeface="CS Avva Shenouda" pitchFamily="34" charset="0"/>
              </a:rPr>
              <a:t>cyt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con	</a:t>
            </a:r>
            <a:r>
              <a:rPr lang="en-US" sz="3600" dirty="0" err="1">
                <a:latin typeface="CS Avva Shenouda" pitchFamily="34" charset="0"/>
              </a:rPr>
              <a:t>cwni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coni</a:t>
            </a:r>
            <a:r>
              <a:rPr lang="en-US" sz="3600" dirty="0">
                <a:latin typeface="CS Avva Shenouda" pitchFamily="34" charset="0"/>
              </a:rPr>
              <a:t>	pan	ran</a:t>
            </a: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</a:t>
            </a:r>
            <a:r>
              <a:rPr lang="en-US" sz="3600" dirty="0" err="1">
                <a:latin typeface="CS Avva Shenouda" pitchFamily="34" charset="0"/>
              </a:rPr>
              <a:t>ial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moi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amoi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iwt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cwma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</a:t>
            </a:r>
            <a:r>
              <a:rPr lang="en-US" sz="3600" dirty="0" err="1">
                <a:latin typeface="CS Avva Shenouda" pitchFamily="34" charset="0"/>
              </a:rPr>
              <a:t>jwr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jwri</a:t>
            </a:r>
            <a:r>
              <a:rPr lang="en-US" sz="3600" dirty="0">
                <a:latin typeface="CS Avva Shenouda" pitchFamily="34" charset="0"/>
              </a:rPr>
              <a:t>	`</a:t>
            </a:r>
            <a:r>
              <a:rPr lang="en-US" sz="3600" dirty="0" err="1">
                <a:latin typeface="CS Avva Shenouda" pitchFamily="34" charset="0"/>
              </a:rPr>
              <a:t>cnof</a:t>
            </a:r>
            <a:r>
              <a:rPr lang="en-US" sz="3600" dirty="0">
                <a:latin typeface="CS Avva Shenouda" pitchFamily="34" charset="0"/>
              </a:rPr>
              <a:t>	]`</a:t>
            </a:r>
            <a:r>
              <a:rPr lang="en-US" sz="3600" dirty="0" err="1">
                <a:latin typeface="CS Avva Shenouda" pitchFamily="34" charset="0"/>
              </a:rPr>
              <a:t>aco</a:t>
            </a:r>
            <a:r>
              <a:rPr lang="en-US" sz="3600" dirty="0">
                <a:latin typeface="CS Avva Shenouda" pitchFamily="34" charset="0"/>
              </a:rPr>
              <a:t>	]`</a:t>
            </a:r>
            <a:r>
              <a:rPr lang="en-US" sz="3600" dirty="0" err="1">
                <a:latin typeface="CS Avva Shenouda" pitchFamily="34" charset="0"/>
              </a:rPr>
              <a:t>pla</a:t>
            </a:r>
            <a:endParaRPr lang="en-US" sz="3600" dirty="0">
              <a:latin typeface="CS Avva Shenouda" pitchFamily="34" charset="0"/>
            </a:endParaRPr>
          </a:p>
          <a:p>
            <a:pPr marL="514350" indent="-457200">
              <a:lnSpc>
                <a:spcPct val="12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 dirty="0">
                <a:latin typeface="CS Avva Shenouda" pitchFamily="34" charset="0"/>
              </a:rPr>
              <a:t> </a:t>
            </a:r>
            <a:r>
              <a:rPr lang="en-US" sz="3600" dirty="0" err="1">
                <a:latin typeface="CS Avva Shenouda" pitchFamily="34" charset="0"/>
              </a:rPr>
              <a:t>qaq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qwq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ja</a:t>
            </a:r>
            <a:r>
              <a:rPr lang="en-US" sz="3600" dirty="0">
                <a:latin typeface="CS Avva Shenouda" pitchFamily="34" charset="0"/>
              </a:rPr>
              <a:t>[</a:t>
            </a:r>
            <a:r>
              <a:rPr lang="en-US" sz="3600" dirty="0" err="1">
                <a:latin typeface="CS Avva Shenouda" pitchFamily="34" charset="0"/>
              </a:rPr>
              <a:t>i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ren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maren</a:t>
            </a:r>
            <a:endParaRPr lang="en-US" sz="3600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/>
      <p:bldP spid="1310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piAlva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piW</a:t>
            </a:r>
            <a:r>
              <a:rPr lang="en-US" dirty="0" smtClean="0">
                <a:latin typeface="CS Avva Shenouda" pitchFamily="34" charset="0"/>
              </a:rPr>
              <a:t> ]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pijwk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ebol</a:t>
            </a:r>
            <a:r>
              <a:rPr lang="en-US" dirty="0" smtClean="0">
                <a:latin typeface="CS Avva Shenouda" pitchFamily="34" charset="0"/>
              </a:rPr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"I am the Alpha and the Omega, the Beginning and the End." (Rev 1:8)</a:t>
            </a:r>
          </a:p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piwik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pwnq</a:t>
            </a:r>
            <a:r>
              <a:rPr lang="en-US" dirty="0" smtClean="0">
                <a:latin typeface="CS Avva Shenouda" pitchFamily="34" charset="0"/>
              </a:rPr>
              <a:t>.</a:t>
            </a:r>
            <a:br>
              <a:rPr lang="en-US" dirty="0" smtClean="0">
                <a:latin typeface="CS Avva Shenouda" pitchFamily="34" charset="0"/>
              </a:rPr>
            </a:br>
            <a:r>
              <a:rPr lang="en-US" sz="2800" dirty="0" smtClean="0">
                <a:solidFill>
                  <a:srgbClr val="FFCC00"/>
                </a:solidFill>
              </a:rPr>
              <a:t>"I am the Bread of life." (</a:t>
            </a:r>
            <a:r>
              <a:rPr lang="en-US" sz="2800" dirty="0" err="1" smtClean="0">
                <a:solidFill>
                  <a:srgbClr val="FFCC00"/>
                </a:solidFill>
              </a:rPr>
              <a:t>Jn</a:t>
            </a:r>
            <a:r>
              <a:rPr lang="en-US" sz="2800" dirty="0" smtClean="0">
                <a:solidFill>
                  <a:srgbClr val="FFCC00"/>
                </a:solidFill>
              </a:rPr>
              <a:t> 6:35)</a:t>
            </a:r>
          </a:p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vouwini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mpikocmoc</a:t>
            </a:r>
            <a:r>
              <a:rPr lang="en-US" dirty="0" smtClean="0">
                <a:latin typeface="CS Avva Shenouda" pitchFamily="34" charset="0"/>
              </a:rPr>
              <a:t>.</a:t>
            </a:r>
            <a:br>
              <a:rPr lang="en-US" dirty="0" smtClean="0">
                <a:latin typeface="CS Avva Shenouda" pitchFamily="34" charset="0"/>
              </a:rPr>
            </a:br>
            <a:r>
              <a:rPr lang="en-US" sz="2800" dirty="0" smtClean="0">
                <a:solidFill>
                  <a:srgbClr val="FFCC00"/>
                </a:solidFill>
              </a:rPr>
              <a:t>"I am the light of the world." (</a:t>
            </a:r>
            <a:r>
              <a:rPr lang="en-US" sz="2800" dirty="0" err="1" smtClean="0">
                <a:solidFill>
                  <a:srgbClr val="FFCC00"/>
                </a:solidFill>
              </a:rPr>
              <a:t>Jn</a:t>
            </a:r>
            <a:r>
              <a:rPr lang="en-US" sz="2800" dirty="0" smtClean="0">
                <a:solidFill>
                  <a:srgbClr val="FFCC00"/>
                </a:solidFill>
              </a:rPr>
              <a:t> 8:12)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CS Avva Shenouda" pitchFamily="34" charset="0"/>
              </a:rPr>
              <a:t>Matai `</a:t>
            </a:r>
            <a:r>
              <a:rPr lang="en-US" dirty="0" err="1" smtClean="0">
                <a:latin typeface="CS Avva Shenouda" pitchFamily="34" charset="0"/>
              </a:rPr>
              <a:t>epekiwt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tekmau</a:t>
            </a:r>
            <a:r>
              <a:rPr lang="en-US" dirty="0" smtClean="0">
                <a:latin typeface="CS Avva Shenouda" pitchFamily="34" charset="0"/>
              </a:rPr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solidFill>
                  <a:srgbClr val="FFCC00"/>
                </a:solidFill>
              </a:rPr>
              <a:t>"Honor your father and your mother." (Eph 6:2)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Beginer</a:t>
            </a:r>
            <a:r>
              <a:rPr lang="en-US" dirty="0" smtClean="0"/>
              <a:t> vocabulary Review</a:t>
            </a:r>
            <a:endParaRPr 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8153400" cy="4419600"/>
          </a:xfrm>
        </p:spPr>
        <p:txBody>
          <a:bodyPr>
            <a:normAutofit fontScale="85000" lnSpcReduction="20000"/>
          </a:bodyPr>
          <a:lstStyle/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romi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kahi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ioh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ry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con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syri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iwt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bal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yi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ran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chimi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vorsi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seri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ourw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ri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cwni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ajp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ve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soury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mau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]`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jij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`;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hiomi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nicwni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nirwmi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niran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nimau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ni`alou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jom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niourw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nibal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nisau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ninyb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niseri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totc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</a:t>
            </a:r>
            <a:r>
              <a:rPr lang="en-US" dirty="0" smtClean="0">
                <a:latin typeface="CS Avva Shenouda" pitchFamily="34" charset="0"/>
              </a:rPr>
              <a:t>]	</a:t>
            </a:r>
            <a:r>
              <a:rPr lang="en-US" dirty="0" err="1" smtClean="0">
                <a:latin typeface="CS Avva Shenouda" pitchFamily="34" charset="0"/>
              </a:rPr>
              <a:t>ourwou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vyou`i</a:t>
            </a:r>
            <a:endParaRPr lang="en-US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  <p:bldP spid="13312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Personal pronouns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2057400" cy="4724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Anok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N;ok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N;o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N;of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N;oc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`Anon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N;wten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FF0000"/>
                </a:solidFill>
                <a:latin typeface="CS Avva Shenouda" pitchFamily="34" charset="0"/>
              </a:rPr>
              <a:t>N;wou</a:t>
            </a: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066800"/>
            <a:ext cx="3581400" cy="472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I (</a:t>
            </a:r>
            <a:r>
              <a:rPr lang="en-US" sz="3200" dirty="0" err="1" smtClean="0">
                <a:latin typeface="+mn-lt"/>
              </a:rPr>
              <a:t>m,f</a:t>
            </a:r>
            <a:r>
              <a:rPr lang="en-US" sz="3200" dirty="0" smtClean="0">
                <a:latin typeface="+mn-lt"/>
              </a:rPr>
              <a:t>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 (masc. sing.)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 (fem. sing.)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He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She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We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 (</a:t>
            </a:r>
            <a:r>
              <a:rPr lang="en-US" sz="3200" dirty="0" err="1" smtClean="0">
                <a:latin typeface="+mn-lt"/>
              </a:rPr>
              <a:t>plur</a:t>
            </a:r>
            <a:r>
              <a:rPr lang="en-US" sz="3200" dirty="0" smtClean="0">
                <a:latin typeface="+mn-lt"/>
              </a:rPr>
              <a:t>. m &amp; f)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They (m &amp; f)</a:t>
            </a:r>
            <a:endParaRPr lang="en-US" sz="3200" dirty="0">
              <a:latin typeface="+mn-lt"/>
            </a:endParaRP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6" name="Picture 8" descr="C:\Users\Sam Ekladious\AppData\Local\Microsoft\Windows\INetCache\IE\L3YUJTHZ\mr__pointy_finger_with_transperancy_by_aethertechindustries-d5jfd19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7415596">
            <a:off x="6188626" y="2016915"/>
            <a:ext cx="3126764" cy="18134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Connectors for Simple being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467600" cy="4800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4000" b="1" dirty="0" err="1" smtClean="0">
                <a:solidFill>
                  <a:srgbClr val="FF0000"/>
                </a:solidFill>
                <a:latin typeface="CS Avva Shenouda" pitchFamily="34" charset="0"/>
              </a:rPr>
              <a:t>pe</a:t>
            </a:r>
            <a:r>
              <a:rPr lang="en-US" sz="40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dirty="0" smtClean="0">
                <a:latin typeface="CS Avva Shenouda" pitchFamily="34" charset="0"/>
              </a:rPr>
              <a:t>_ </a:t>
            </a:r>
            <a:r>
              <a:rPr lang="en-US" sz="3200" b="1" dirty="0" smtClean="0">
                <a:solidFill>
                  <a:srgbClr val="FF0000"/>
                </a:solidFill>
              </a:rPr>
              <a:t>am, is </a:t>
            </a:r>
            <a:r>
              <a:rPr lang="en-US" sz="3200" dirty="0" smtClean="0"/>
              <a:t>(singular masculine)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4000" b="1" dirty="0" err="1" smtClean="0">
                <a:solidFill>
                  <a:srgbClr val="FF0000"/>
                </a:solidFill>
                <a:latin typeface="CS Avva Shenouda" pitchFamily="34" charset="0"/>
              </a:rPr>
              <a:t>te</a:t>
            </a:r>
            <a:r>
              <a:rPr lang="en-US" sz="40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dirty="0" smtClean="0">
                <a:latin typeface="CS Avva Shenouda" pitchFamily="34" charset="0"/>
              </a:rPr>
              <a:t>_ </a:t>
            </a:r>
            <a:r>
              <a:rPr lang="en-US" sz="3200" b="1" dirty="0" smtClean="0">
                <a:solidFill>
                  <a:srgbClr val="FF0000"/>
                </a:solidFill>
              </a:rPr>
              <a:t>am, is </a:t>
            </a:r>
            <a:r>
              <a:rPr lang="en-US" sz="3200" dirty="0" smtClean="0"/>
              <a:t>(singular feminine)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4000" b="1" dirty="0" smtClean="0">
                <a:solidFill>
                  <a:srgbClr val="FF0000"/>
                </a:solidFill>
                <a:latin typeface="CS Avva Shenouda" pitchFamily="34" charset="0"/>
              </a:rPr>
              <a:t>ne</a:t>
            </a:r>
            <a:r>
              <a:rPr lang="en-US" sz="4000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dirty="0" smtClean="0">
                <a:latin typeface="CS Avva Shenouda" pitchFamily="34" charset="0"/>
              </a:rPr>
              <a:t>_ </a:t>
            </a:r>
            <a:r>
              <a:rPr lang="en-US" sz="3200" b="1" dirty="0" smtClean="0">
                <a:solidFill>
                  <a:srgbClr val="FF0000"/>
                </a:solidFill>
              </a:rPr>
              <a:t>are </a:t>
            </a:r>
            <a:r>
              <a:rPr lang="en-US" sz="3200" dirty="0" smtClean="0"/>
              <a:t>(plural masculine &amp; feminine)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b="1" u="sng" dirty="0" smtClean="0">
                <a:solidFill>
                  <a:srgbClr val="0070C0"/>
                </a:solidFill>
              </a:rPr>
              <a:t>Examples: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1" dirty="0" smtClean="0">
                <a:solidFill>
                  <a:srgbClr val="002060"/>
                </a:solidFill>
                <a:latin typeface="CS Avva Shenouda" pitchFamily="34" charset="0"/>
              </a:rPr>
              <a:t>`</a:t>
            </a:r>
            <a:r>
              <a:rPr lang="en-US" b="1" dirty="0" err="1" smtClean="0">
                <a:solidFill>
                  <a:srgbClr val="002060"/>
                </a:solidFill>
                <a:latin typeface="CS Avva Shenouda" pitchFamily="34" charset="0"/>
              </a:rPr>
              <a:t>anok</a:t>
            </a:r>
            <a:r>
              <a:rPr lang="en-US" b="1" dirty="0" smtClean="0">
                <a:solidFill>
                  <a:srgbClr val="002060"/>
                </a:solidFill>
                <a:latin typeface="CS Avva Shenouda" pitchFamily="34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S Avva Shenouda" pitchFamily="34" charset="0"/>
              </a:rPr>
              <a:t>pe</a:t>
            </a:r>
            <a:r>
              <a:rPr lang="en-US" b="1" dirty="0" smtClean="0">
                <a:solidFill>
                  <a:srgbClr val="002060"/>
                </a:solidFill>
                <a:latin typeface="CS Avva Shenouda" pitchFamily="34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S Avva Shenouda" pitchFamily="34" charset="0"/>
              </a:rPr>
              <a:t>pirwmi</a:t>
            </a:r>
            <a:r>
              <a:rPr lang="en-US" b="1" dirty="0" smtClean="0">
                <a:solidFill>
                  <a:srgbClr val="002060"/>
                </a:solidFill>
                <a:latin typeface="CS Avva Shenouda" pitchFamily="34" charset="0"/>
              </a:rPr>
              <a:t>.</a:t>
            </a:r>
          </a:p>
          <a:p>
            <a:pPr marL="1257300" lvl="2" indent="-457200"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I am the man.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02060"/>
                </a:solidFill>
                <a:latin typeface="CS Avva Shenouda" pitchFamily="34" charset="0"/>
              </a:rPr>
              <a:t>`</a:t>
            </a:r>
            <a:r>
              <a:rPr lang="en-US" sz="2800" b="1" dirty="0" err="1" smtClean="0">
                <a:solidFill>
                  <a:srgbClr val="002060"/>
                </a:solidFill>
                <a:latin typeface="CS Avva Shenouda" pitchFamily="34" charset="0"/>
              </a:rPr>
              <a:t>anok</a:t>
            </a:r>
            <a:r>
              <a:rPr lang="en-US" sz="2800" b="1" dirty="0" smtClean="0">
                <a:solidFill>
                  <a:srgbClr val="002060"/>
                </a:solidFill>
                <a:latin typeface="CS Avva Shenouda" pitchFamily="34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CS Avva Shenouda" pitchFamily="34" charset="0"/>
              </a:rPr>
              <a:t>ourwmi</a:t>
            </a:r>
            <a:r>
              <a:rPr lang="en-US" sz="2800" b="1" dirty="0" smtClean="0">
                <a:solidFill>
                  <a:srgbClr val="002060"/>
                </a:solidFill>
                <a:latin typeface="CS Avva Shenouda" pitchFamily="34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CS Avva Shenouda" pitchFamily="34" charset="0"/>
              </a:rPr>
              <a:t>pe</a:t>
            </a:r>
            <a:r>
              <a:rPr lang="en-US" sz="2800" b="1" dirty="0" smtClean="0">
                <a:solidFill>
                  <a:srgbClr val="002060"/>
                </a:solidFill>
                <a:latin typeface="CS Avva Shenouda" pitchFamily="34" charset="0"/>
              </a:rPr>
              <a:t>.</a:t>
            </a:r>
          </a:p>
          <a:p>
            <a:pPr marL="1257300" lvl="2" indent="-457200"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I am a man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200" dirty="0" smtClean="0"/>
          </a:p>
          <a:p>
            <a:pPr marL="457200" indent="-457200">
              <a:buFont typeface="+mj-lt"/>
              <a:buAutoNum type="arabicPeriod" startAt="3"/>
            </a:pPr>
            <a:endParaRPr lang="en-US" sz="3200" dirty="0" smtClean="0"/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CS Avva Shenoud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(Part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191000" cy="4724400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n;of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pe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pi`alou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is the boy.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`n;of oualou pe.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is a boy.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n;oc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te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]`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chimi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 is the woman.</a:t>
            </a:r>
            <a:endParaRPr lang="en-US" sz="2900" b="1" dirty="0" err="1" smtClean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n;oc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ou`chimi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te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 is a woman.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n;ok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pe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picon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are the brother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n;ok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oucon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pe</a:t>
            </a:r>
            <a:r>
              <a:rPr lang="en-US" sz="3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.</a:t>
            </a:r>
          </a:p>
          <a:p>
            <a:pPr lvl="1" indent="-342900"/>
            <a:r>
              <a:rPr lang="en-US" sz="29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are a brother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648200" y="1828801"/>
            <a:ext cx="4267200" cy="448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  <a:cs typeface="+mn-cs"/>
              </a:rPr>
              <a:t>`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n;o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te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]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cwni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.</a:t>
            </a:r>
          </a:p>
          <a:p>
            <a:pPr marL="914400" lvl="1" indent="-228600" algn="l">
              <a:spcBef>
                <a:spcPts val="0"/>
              </a:spcBef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You are the sister.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  <a:cs typeface="+mn-cs"/>
              </a:rPr>
              <a:t>`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n;o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oucwni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te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.</a:t>
            </a:r>
          </a:p>
          <a:p>
            <a:pPr marL="914400" lvl="1" indent="-228600" algn="l">
              <a:spcBef>
                <a:spcPts val="0"/>
              </a:spcBef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You are a sister.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  <a:cs typeface="+mn-cs"/>
              </a:rPr>
              <a:t>anon 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han`cnyou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ne.</a:t>
            </a:r>
          </a:p>
          <a:p>
            <a:pPr marL="914400" lvl="1" indent="-228600" algn="l">
              <a:spcBef>
                <a:spcPts val="0"/>
              </a:spcBef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We are brothers.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  <a:cs typeface="+mn-cs"/>
              </a:rPr>
              <a:t>`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n;wten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cs typeface="+mn-cs"/>
              </a:rPr>
              <a:t>hansyri</a:t>
            </a:r>
            <a:r>
              <a:rPr lang="en-US" sz="2400" dirty="0" smtClean="0">
                <a:solidFill>
                  <a:schemeClr val="tx2"/>
                </a:solidFill>
                <a:cs typeface="+mn-cs"/>
              </a:rPr>
              <a:t> ne.</a:t>
            </a:r>
          </a:p>
          <a:p>
            <a:pPr marL="914400" lvl="1" indent="-228600" algn="l"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You are sons.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</a:rPr>
              <a:t>`</a:t>
            </a:r>
            <a:r>
              <a:rPr lang="en-US" sz="2400" dirty="0" err="1" smtClean="0">
                <a:solidFill>
                  <a:schemeClr val="tx2"/>
                </a:solidFill>
              </a:rPr>
              <a:t>n;wou</a:t>
            </a:r>
            <a:r>
              <a:rPr lang="en-US" sz="2400" dirty="0" smtClean="0">
                <a:solidFill>
                  <a:schemeClr val="tx2"/>
                </a:solidFill>
              </a:rPr>
              <a:t> ne </a:t>
            </a:r>
            <a:r>
              <a:rPr lang="en-US" sz="2400" dirty="0" err="1" smtClean="0">
                <a:solidFill>
                  <a:schemeClr val="tx2"/>
                </a:solidFill>
              </a:rPr>
              <a:t>nihiomi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</a:p>
          <a:p>
            <a:pPr marL="914400" lvl="1" indent="-228600" algn="l">
              <a:spcBef>
                <a:spcPts val="0"/>
              </a:spcBef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They are the women.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7"/>
            </a:pPr>
            <a:r>
              <a:rPr lang="en-US" sz="2400" dirty="0" smtClean="0">
                <a:solidFill>
                  <a:schemeClr val="tx2"/>
                </a:solidFill>
              </a:rPr>
              <a:t>`</a:t>
            </a:r>
            <a:r>
              <a:rPr lang="en-US" sz="2400" dirty="0" err="1" smtClean="0">
                <a:solidFill>
                  <a:schemeClr val="tx2"/>
                </a:solidFill>
              </a:rPr>
              <a:t>n;wou</a:t>
            </a:r>
            <a:r>
              <a:rPr lang="en-US" sz="2400" dirty="0" smtClean="0">
                <a:solidFill>
                  <a:schemeClr val="tx2"/>
                </a:solidFill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</a:rPr>
              <a:t>hanhiomi</a:t>
            </a:r>
            <a:r>
              <a:rPr lang="en-US" sz="2400" dirty="0" smtClean="0">
                <a:solidFill>
                  <a:schemeClr val="tx2"/>
                </a:solidFill>
              </a:rPr>
              <a:t> ne.</a:t>
            </a:r>
          </a:p>
          <a:p>
            <a:pPr marL="914400" lvl="1" indent="-228600" algn="l">
              <a:spcBef>
                <a:spcPts val="0"/>
              </a:spcBef>
              <a:buFont typeface="Franklin Gothic Book" pitchFamily="34" charset="0"/>
              <a:buChar char="†"/>
            </a:pPr>
            <a:r>
              <a:rPr lang="en-US" sz="1800" b="1" dirty="0" smtClean="0">
                <a:solidFill>
                  <a:schemeClr val="accent4">
                    <a:lumMod val="75000"/>
                  </a:schemeClr>
                </a:solidFill>
                <a:latin typeface="+mn-lt"/>
                <a:cs typeface="+mn-cs"/>
              </a:rPr>
              <a:t>They are women.</a:t>
            </a: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7" dur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2" dur="1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7" dur="1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2" dur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</a:t>
            </a:r>
            <a:r>
              <a:rPr lang="en-US" dirty="0" smtClean="0">
                <a:solidFill>
                  <a:srgbClr val="990033"/>
                </a:solidFill>
              </a:rPr>
              <a:t>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3352801"/>
            <a:ext cx="7772400" cy="762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 err="1">
                <a:latin typeface="CS Avva Shenouda" pitchFamily="34" charset="0"/>
              </a:rPr>
              <a:t>Oujai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qen</a:t>
            </a:r>
            <a:r>
              <a:rPr lang="en-US" dirty="0">
                <a:latin typeface="CS Avva Shenouda" pitchFamily="34" charset="0"/>
              </a:rPr>
              <a:t> `P[</a:t>
            </a:r>
            <a:r>
              <a:rPr lang="en-US" dirty="0" err="1">
                <a:latin typeface="CS Avva Shenouda" pitchFamily="34" charset="0"/>
              </a:rPr>
              <a:t>oic</a:t>
            </a:r>
            <a:endParaRPr lang="en-US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1600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2449</TotalTime>
  <Words>362</Words>
  <Application>Microsoft Office PowerPoint</Application>
  <PresentationFormat>On-screen Show (4:3)</PresentationFormat>
  <Paragraphs>129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Trek</vt:lpstr>
      <vt:lpstr>Coptic Lesson 14</vt:lpstr>
      <vt:lpstr>Coptic Alphabets</vt:lpstr>
      <vt:lpstr>Review Questions</vt:lpstr>
      <vt:lpstr>Rule for the Ghamma G</vt:lpstr>
      <vt:lpstr>Coptic Reading – Part 13</vt:lpstr>
      <vt:lpstr>Coptic Bible Verses</vt:lpstr>
      <vt:lpstr>Beginer vocabulary Review</vt:lpstr>
      <vt:lpstr>Personal pronouns</vt:lpstr>
      <vt:lpstr>Connectors for Simple being</vt:lpstr>
      <vt:lpstr>Exercise (Part 1)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Ossama Ekladious</cp:lastModifiedBy>
  <cp:revision>406</cp:revision>
  <dcterms:created xsi:type="dcterms:W3CDTF">2014-03-29T18:43:12Z</dcterms:created>
  <dcterms:modified xsi:type="dcterms:W3CDTF">2019-10-31T16:02:29Z</dcterms:modified>
</cp:coreProperties>
</file>