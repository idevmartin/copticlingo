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349" r:id="rId1"/>
  </p:sldMasterIdLst>
  <p:notesMasterIdLst>
    <p:notesMasterId r:id="rId12"/>
  </p:notesMasterIdLst>
  <p:sldIdLst>
    <p:sldId id="256" r:id="rId2"/>
    <p:sldId id="269" r:id="rId3"/>
    <p:sldId id="296" r:id="rId4"/>
    <p:sldId id="302" r:id="rId5"/>
    <p:sldId id="395" r:id="rId6"/>
    <p:sldId id="355" r:id="rId7"/>
    <p:sldId id="350" r:id="rId8"/>
    <p:sldId id="361" r:id="rId9"/>
    <p:sldId id="272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3300"/>
    <a:srgbClr val="9900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3" autoAdjust="0"/>
    <p:restoredTop sz="89775" autoAdjust="0"/>
  </p:normalViewPr>
  <p:slideViewPr>
    <p:cSldViewPr>
      <p:cViewPr varScale="1">
        <p:scale>
          <a:sx n="136" d="100"/>
          <a:sy n="136" d="100"/>
        </p:scale>
        <p:origin x="28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AD8348-8BBD-40CC-ACD4-38785057F3D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7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7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6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3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1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28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7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45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498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59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22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8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12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94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03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E513-2739-4749-BE7C-2B77D8253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9080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679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7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5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50" r:id="rId1"/>
    <p:sldLayoutId id="2147485351" r:id="rId2"/>
    <p:sldLayoutId id="2147485352" r:id="rId3"/>
    <p:sldLayoutId id="2147485353" r:id="rId4"/>
    <p:sldLayoutId id="2147485354" r:id="rId5"/>
    <p:sldLayoutId id="2147485355" r:id="rId6"/>
    <p:sldLayoutId id="2147485356" r:id="rId7"/>
    <p:sldLayoutId id="2147485357" r:id="rId8"/>
    <p:sldLayoutId id="2147485358" r:id="rId9"/>
    <p:sldLayoutId id="2147485359" r:id="rId10"/>
    <p:sldLayoutId id="2147485360" r:id="rId11"/>
    <p:sldLayoutId id="2147485361" r:id="rId12"/>
    <p:sldLayoutId id="2147485362" r:id="rId13"/>
    <p:sldLayoutId id="2147485363" r:id="rId14"/>
    <p:sldLayoutId id="2147485364" r:id="rId15"/>
    <p:sldLayoutId id="2147485365" r:id="rId16"/>
    <p:sldLayoutId id="2147485366" r:id="rId17"/>
    <p:sldLayoutId id="2147485367" r:id="rId18"/>
    <p:sldLayoutId id="2147485369" r:id="rId19"/>
    <p:sldLayoutId id="2147485370" r:id="rId20"/>
    <p:sldLayoutId id="2147485371" r:id="rId2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14600"/>
            <a:ext cx="8305800" cy="90033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Coptic Lesson 22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possessive ARTICLE "of"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Review 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72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Christ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CS Avva Shenouda" panose="020B7200000000000000" pitchFamily="34" charset="0"/>
              </a:rPr>
              <a:t>`</a:t>
            </a:r>
            <a:r>
              <a:rPr lang="en-US" sz="2800" dirty="0" err="1">
                <a:latin typeface="CS Avva Shenouda" panose="020B7200000000000000" pitchFamily="34" charset="0"/>
              </a:rPr>
              <a:t>sbe-sasf</a:t>
            </a:r>
            <a:endParaRPr 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77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sz="4000" dirty="0">
                <a:latin typeface="CS Avva Shenouda" panose="020B7200000000000000" pitchFamily="34" charset="0"/>
              </a:rPr>
              <a:t>=o=z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 err="1">
                <a:latin typeface="CS Avva Shenouda" panose="020B7200000000000000" pitchFamily="34" charset="0"/>
              </a:rPr>
              <a:t>tebi-'it</a:t>
            </a:r>
            <a:endParaRPr 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59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000" dirty="0">
                <a:latin typeface="CS Avva Shenouda" panose="020B7200000000000000" pitchFamily="34" charset="0"/>
              </a:rPr>
              <a:t>=n=;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Savior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lang="en-US" sz="2800" dirty="0">
                <a:latin typeface="CS Avva Shenouda" pitchFamily="34" charset="0"/>
              </a:rPr>
              <a:t>`</a:t>
            </a:r>
            <a:r>
              <a:rPr lang="en-US" sz="2800" dirty="0" err="1">
                <a:latin typeface="CS Avva Shenouda" pitchFamily="34" charset="0"/>
              </a:rPr>
              <a:t>pneuma</a:t>
            </a:r>
            <a:endParaRPr lang="en-US" alt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Spirit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altLang="en-US" sz="4000" dirty="0">
                <a:latin typeface="CS Avva Shenouda" panose="020B7200000000000000" pitchFamily="34" charset="0"/>
              </a:rPr>
              <a:t>=</a:t>
            </a:r>
            <a:r>
              <a:rPr lang="en-US" sz="4000" dirty="0">
                <a:latin typeface="CS Avva Shenouda" pitchFamily="34" charset="0"/>
              </a:rPr>
              <a:t>=p=n=a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lang="en-US" altLang="en-US" sz="2800" dirty="0">
                <a:latin typeface="CS Avva Shenouda" panose="020B7200000000000000" pitchFamily="34" charset="0"/>
              </a:rPr>
              <a:t>pen[</a:t>
            </a:r>
            <a:r>
              <a:rPr lang="en-US" altLang="en-US" sz="2800" dirty="0" err="1">
                <a:latin typeface="CS Avva Shenouda" panose="020B7200000000000000" pitchFamily="34" charset="0"/>
              </a:rPr>
              <a:t>oic</a:t>
            </a:r>
            <a:endParaRPr lang="en-US" alt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Our Lord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4000" dirty="0">
                <a:latin typeface="CS Avva Shenouda" pitchFamily="34" charset="0"/>
              </a:rPr>
              <a:t>Pen¡</a:t>
            </a: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4000" dirty="0">
                <a:latin typeface="CS Avva Shenouda" pitchFamily="34" charset="0"/>
              </a:rPr>
              <a:t>=c=w=r</a:t>
            </a:r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4000" dirty="0">
                <a:latin typeface="CS Avva Shenouda" pitchFamily="34" charset="0"/>
              </a:rPr>
              <a:t>P=,=c</a:t>
            </a: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sz="4000" dirty="0">
                <a:latin typeface="CS Avva Shenouda" panose="020B7200000000000000" pitchFamily="34" charset="0"/>
              </a:rPr>
              <a:t>=o=b</a:t>
            </a:r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buClr>
                <a:schemeClr val="tx2"/>
              </a:buClr>
              <a:buSzPct val="70000"/>
            </a:pPr>
            <a:r>
              <a:rPr lang="en-US" sz="2800" dirty="0" err="1">
                <a:latin typeface="CS Avva Shenouda" pitchFamily="34" charset="0"/>
              </a:rPr>
              <a:t>cwtyr</a:t>
            </a:r>
            <a:endParaRPr 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lang="en-US" altLang="en-US" sz="2800" dirty="0" err="1">
                <a:latin typeface="CS Avva Shenouda" panose="020B7200000000000000" pitchFamily="34" charset="0"/>
              </a:rPr>
              <a:t>Pi`,rictoc</a:t>
            </a:r>
            <a:endParaRPr lang="en-US" alt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CS Avva Shenouda" panose="020B7200000000000000" pitchFamily="34" charset="0"/>
              </a:rPr>
              <a:t>`</a:t>
            </a:r>
            <a:r>
              <a:rPr lang="en-US" sz="2800" dirty="0" err="1">
                <a:latin typeface="CS Avva Shenouda" panose="020B7200000000000000" pitchFamily="34" charset="0"/>
              </a:rPr>
              <a:t>sbe-`cnau</a:t>
            </a:r>
            <a:endParaRPr lang="en-US" sz="2800" dirty="0">
              <a:latin typeface="CS Avva Shenouda" panose="020B7200000000000000" pitchFamily="34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pic>
        <p:nvPicPr>
          <p:cNvPr id="48" name="Picture 5" descr="copt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731070">
            <a:off x="6934412" y="429927"/>
            <a:ext cx="2068867" cy="111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5029200" cy="63658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imes New Roman" pitchFamily="18" charset="0"/>
              </a:rPr>
              <a:t>Rule for the Kei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&lt;</a:t>
            </a:r>
            <a:r>
              <a:rPr lang="en-US" sz="4000" dirty="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33475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&lt; ,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3477" name="Text Box 5"/>
          <p:cNvSpPr txBox="1">
            <a:spLocks noChangeArrowheads="1"/>
          </p:cNvSpPr>
          <p:nvPr/>
        </p:nvSpPr>
        <p:spPr bwMode="auto">
          <a:xfrm>
            <a:off x="3429000" y="12954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8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sh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3429000" y="3352800"/>
            <a:ext cx="762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kh</a:t>
            </a: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80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1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2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3" name="Text Box 11"/>
          <p:cNvSpPr txBox="1">
            <a:spLocks noChangeArrowheads="1"/>
          </p:cNvSpPr>
          <p:nvPr/>
        </p:nvSpPr>
        <p:spPr bwMode="auto">
          <a:xfrm>
            <a:off x="3962400" y="1371600"/>
            <a:ext cx="4114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 a Coptic Word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4" name="Text Box 12"/>
          <p:cNvSpPr txBox="1">
            <a:spLocks noChangeArrowheads="1"/>
          </p:cNvSpPr>
          <p:nvPr/>
        </p:nvSpPr>
        <p:spPr bwMode="auto">
          <a:xfrm>
            <a:off x="3962400" y="2362200"/>
            <a:ext cx="44196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before the e-family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962400" y="3352800"/>
            <a:ext cx="2743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 algn="l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otherwise)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86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3487" name="Text Box 15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,ymi</a:t>
            </a:r>
          </a:p>
        </p:txBody>
      </p:sp>
      <p:sp>
        <p:nvSpPr>
          <p:cNvPr id="233488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,aric</a:t>
            </a:r>
          </a:p>
        </p:txBody>
      </p:sp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,ere</a:t>
            </a:r>
          </a:p>
        </p:txBody>
      </p:sp>
      <p:sp>
        <p:nvSpPr>
          <p:cNvPr id="233490" name="Text Box 18"/>
          <p:cNvSpPr txBox="1">
            <a:spLocks noChangeArrowheads="1"/>
          </p:cNvSpPr>
          <p:nvPr/>
        </p:nvSpPr>
        <p:spPr bwMode="auto">
          <a:xfrm>
            <a:off x="6324600" y="46482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`,rwm</a:t>
            </a:r>
          </a:p>
        </p:txBody>
      </p:sp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Ar,y</a:t>
            </a: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3124200" y="5486400"/>
            <a:ext cx="24384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Mona,oc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3" name="Text Box 21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,w</a:t>
            </a:r>
          </a:p>
        </p:txBody>
      </p:sp>
      <p:sp>
        <p:nvSpPr>
          <p:cNvPr id="233494" name="Text Box 22"/>
          <p:cNvSpPr txBox="1">
            <a:spLocks noChangeArrowheads="1"/>
          </p:cNvSpPr>
          <p:nvPr/>
        </p:nvSpPr>
        <p:spPr bwMode="auto">
          <a:xfrm>
            <a:off x="6629400" y="2895600"/>
            <a:ext cx="2514600" cy="10668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  <p:sp>
        <p:nvSpPr>
          <p:cNvPr id="233495" name="Text Box 23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Lu,nia</a:t>
            </a:r>
          </a:p>
        </p:txBody>
      </p:sp>
      <p:sp>
        <p:nvSpPr>
          <p:cNvPr id="233496" name="Text Box 24"/>
          <p:cNvSpPr txBox="1">
            <a:spLocks noChangeArrowheads="1"/>
          </p:cNvSpPr>
          <p:nvPr/>
        </p:nvSpPr>
        <p:spPr bwMode="auto">
          <a:xfrm>
            <a:off x="2362200" y="6156325"/>
            <a:ext cx="1981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Pi,iwn</a:t>
            </a:r>
          </a:p>
        </p:txBody>
      </p:sp>
      <p:sp>
        <p:nvSpPr>
          <p:cNvPr id="233497" name="Text Box 25"/>
          <p:cNvSpPr txBox="1">
            <a:spLocks noChangeArrowheads="1"/>
          </p:cNvSpPr>
          <p:nvPr/>
        </p:nvSpPr>
        <p:spPr bwMode="auto">
          <a:xfrm>
            <a:off x="44958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,wra</a:t>
            </a:r>
          </a:p>
        </p:txBody>
      </p:sp>
      <p:sp>
        <p:nvSpPr>
          <p:cNvPr id="233498" name="Text Box 26"/>
          <p:cNvSpPr txBox="1">
            <a:spLocks noChangeArrowheads="1"/>
          </p:cNvSpPr>
          <p:nvPr/>
        </p:nvSpPr>
        <p:spPr bwMode="auto">
          <a:xfrm>
            <a:off x="6324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/>
      <p:bldP spid="233478" grpId="0"/>
      <p:bldP spid="233479" grpId="0"/>
      <p:bldP spid="233483" grpId="0"/>
      <p:bldP spid="233485" grpId="0"/>
      <p:bldP spid="233486" grpId="0"/>
      <p:bldP spid="233487" grpId="0"/>
      <p:bldP spid="233489" grpId="0"/>
      <p:bldP spid="233492" grpId="0"/>
      <p:bldP spid="233493" grpId="0"/>
      <p:bldP spid="233494" grpId="0" animBg="1"/>
      <p:bldP spid="233495" grpId="0"/>
      <p:bldP spid="233496" grpId="0"/>
      <p:bldP spid="233497" grpId="0"/>
      <p:bldP spid="23349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65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u="sng" dirty="0">
                <a:solidFill>
                  <a:srgbClr val="FF0000"/>
                </a:solidFill>
              </a:rPr>
              <a:t>Vocabulary List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4800600" y="3505200"/>
            <a:ext cx="3352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go</a:t>
            </a: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1524000" y="35052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se</a:t>
            </a: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4800600" y="2590355"/>
            <a:ext cx="2819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love</a:t>
            </a:r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1524000" y="26670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menre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anose="020B7200000000000000" pitchFamily="34" charset="0"/>
            </a:endParaRPr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4800600" y="1752155"/>
            <a:ext cx="3124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and, with</a:t>
            </a:r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1752600" y="1828800"/>
            <a:ext cx="1981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nem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anose="020B7200000000000000" pitchFamily="34" charset="0"/>
            </a:endParaRPr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4800600" y="913955"/>
            <a:ext cx="28194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to, for, toward</a:t>
            </a:r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1752600" y="990600"/>
            <a:ext cx="1981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`e</a:t>
            </a:r>
          </a:p>
        </p:txBody>
      </p:sp>
      <p:sp>
        <p:nvSpPr>
          <p:cNvPr id="249879" name="Rectangle 23"/>
          <p:cNvSpPr>
            <a:spLocks noChangeArrowheads="1"/>
          </p:cNvSpPr>
          <p:nvPr/>
        </p:nvSpPr>
        <p:spPr bwMode="auto">
          <a:xfrm>
            <a:off x="4800600" y="4190555"/>
            <a:ext cx="24384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Lord, lady</a:t>
            </a:r>
          </a:p>
        </p:txBody>
      </p:sp>
      <p:sp>
        <p:nvSpPr>
          <p:cNvPr id="249880" name="Rectangle 24"/>
          <p:cNvSpPr>
            <a:spLocks noChangeArrowheads="1"/>
          </p:cNvSpPr>
          <p:nvPr/>
        </p:nvSpPr>
        <p:spPr bwMode="auto">
          <a:xfrm>
            <a:off x="1600200" y="4267200"/>
            <a:ext cx="23622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nyb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anose="020B7200000000000000" pitchFamily="34" charset="0"/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600200" y="5105400"/>
            <a:ext cx="22860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`</a:t>
            </a: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nte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anose="020B7200000000000000" pitchFamily="34" charset="0"/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4800600" y="4952555"/>
            <a:ext cx="1981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of</a:t>
            </a:r>
          </a:p>
        </p:txBody>
      </p:sp>
      <p:sp>
        <p:nvSpPr>
          <p:cNvPr id="15" name="Rectangle 24"/>
          <p:cNvSpPr>
            <a:spLocks noChangeArrowheads="1"/>
          </p:cNvSpPr>
          <p:nvPr/>
        </p:nvSpPr>
        <p:spPr bwMode="auto">
          <a:xfrm>
            <a:off x="1447800" y="59436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anose="020B7200000000000000" pitchFamily="34" charset="0"/>
              </a:rPr>
              <a:t>seri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anose="020B7200000000000000" pitchFamily="34" charset="0"/>
            </a:endParaRP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4800600" y="5943155"/>
            <a:ext cx="2743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daughter</a:t>
            </a:r>
          </a:p>
        </p:txBody>
      </p:sp>
    </p:spTree>
    <p:extLst>
      <p:ext uri="{BB962C8B-B14F-4D97-AF65-F5344CB8AC3E}">
        <p14:creationId xmlns:p14="http://schemas.microsoft.com/office/powerpoint/2010/main" val="34492559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/>
      <p:bldP spid="249861" grpId="0"/>
      <p:bldP spid="249862" grpId="0"/>
      <p:bldP spid="249863" grpId="0"/>
      <p:bldP spid="249864" grpId="0"/>
      <p:bldP spid="249865" grpId="0"/>
      <p:bldP spid="249866" grpId="0"/>
      <p:bldP spid="249867" grpId="0"/>
      <p:bldP spid="249879" grpId="0"/>
      <p:bldP spid="249880" grpId="0"/>
      <p:bldP spid="28" grpId="0"/>
      <p:bldP spid="29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83036" y="152400"/>
            <a:ext cx="6577928" cy="727055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3200" b="1" dirty="0"/>
              <a:t>Beginner Vocabulary Review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265522" y="800100"/>
            <a:ext cx="8915400" cy="5257800"/>
          </a:xfrm>
        </p:spPr>
        <p:txBody>
          <a:bodyPr>
            <a:noAutofit/>
          </a:bodyPr>
          <a:lstStyle/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 err="1">
                <a:latin typeface="CS Avva Shenouda" pitchFamily="34" charset="0"/>
              </a:rPr>
              <a:t>romi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kahi</a:t>
            </a:r>
            <a:r>
              <a:rPr lang="en-US" sz="2800" cap="none" dirty="0">
                <a:latin typeface="CS Avva Shenouda" pitchFamily="34" charset="0"/>
              </a:rPr>
              <a:t>	`</a:t>
            </a:r>
            <a:r>
              <a:rPr lang="en-US" sz="2800" cap="none" dirty="0" err="1">
                <a:latin typeface="CS Avva Shenouda" pitchFamily="34" charset="0"/>
              </a:rPr>
              <a:t>Vnou</a:t>
            </a:r>
            <a:r>
              <a:rPr lang="en-US" sz="2800" cap="none" dirty="0">
                <a:latin typeface="CS Avva Shenouda" pitchFamily="34" charset="0"/>
              </a:rPr>
              <a:t>]	`</a:t>
            </a:r>
            <a:r>
              <a:rPr lang="en-US" sz="2800" cap="none" dirty="0" err="1">
                <a:latin typeface="CS Avva Shenouda" pitchFamily="34" charset="0"/>
              </a:rPr>
              <a:t>alou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ioh</a:t>
            </a:r>
            <a:endParaRPr lang="en-US" sz="2800" cap="none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 err="1">
                <a:latin typeface="CS Avva Shenouda" pitchFamily="34" charset="0"/>
              </a:rPr>
              <a:t>ry</a:t>
            </a:r>
            <a:r>
              <a:rPr lang="en-US" sz="2800" cap="none" dirty="0">
                <a:latin typeface="CS Avva Shenouda" pitchFamily="34" charset="0"/>
              </a:rPr>
              <a:t>	con	</a:t>
            </a:r>
            <a:r>
              <a:rPr lang="en-US" sz="2800" cap="none" dirty="0" err="1">
                <a:latin typeface="CS Avva Shenouda" pitchFamily="34" charset="0"/>
              </a:rPr>
              <a:t>syri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iwt</a:t>
            </a:r>
            <a:r>
              <a:rPr lang="en-US" sz="2800" cap="none" dirty="0">
                <a:latin typeface="CS Avva Shenouda" pitchFamily="34" charset="0"/>
              </a:rPr>
              <a:t>	bal</a:t>
            </a: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 err="1">
                <a:latin typeface="CS Avva Shenouda" pitchFamily="34" charset="0"/>
              </a:rPr>
              <a:t>yi</a:t>
            </a:r>
            <a:r>
              <a:rPr lang="en-US" sz="2800" cap="none" dirty="0">
                <a:latin typeface="CS Avva Shenouda" pitchFamily="34" charset="0"/>
              </a:rPr>
              <a:t>	ran	</a:t>
            </a:r>
            <a:r>
              <a:rPr lang="en-US" sz="2800" cap="none" dirty="0" err="1">
                <a:latin typeface="CS Avva Shenouda" pitchFamily="34" charset="0"/>
              </a:rPr>
              <a:t>ro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ouro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nyb</a:t>
            </a:r>
            <a:endParaRPr lang="en-US" sz="2800" cap="none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>
                <a:latin typeface="CS Avva Shenouda" pitchFamily="34" charset="0"/>
              </a:rPr>
              <a:t>`</a:t>
            </a:r>
            <a:r>
              <a:rPr lang="en-US" sz="2800" cap="none" dirty="0" err="1">
                <a:latin typeface="CS Avva Shenouda" pitchFamily="34" charset="0"/>
              </a:rPr>
              <a:t>chimi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vorsi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seri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ourw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ri</a:t>
            </a:r>
            <a:endParaRPr lang="en-US" sz="2800" cap="none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 err="1">
                <a:latin typeface="CS Avva Shenouda" pitchFamily="34" charset="0"/>
              </a:rPr>
              <a:t>cwni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ajp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ve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sau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soury</a:t>
            </a:r>
            <a:endParaRPr lang="en-US" sz="2800" cap="none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 err="1">
                <a:latin typeface="CS Avva Shenouda" pitchFamily="34" charset="0"/>
              </a:rPr>
              <a:t>mau</a:t>
            </a:r>
            <a:r>
              <a:rPr lang="en-US" sz="2800" cap="none" dirty="0">
                <a:latin typeface="CS Avva Shenouda" pitchFamily="34" charset="0"/>
              </a:rPr>
              <a:t>	]`</a:t>
            </a:r>
            <a:r>
              <a:rPr lang="en-US" sz="2800" cap="none" dirty="0" err="1">
                <a:latin typeface="CS Avva Shenouda" pitchFamily="34" charset="0"/>
              </a:rPr>
              <a:t>alou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jij</a:t>
            </a:r>
            <a:r>
              <a:rPr lang="en-US" sz="2800" cap="none" dirty="0">
                <a:latin typeface="CS Avva Shenouda" pitchFamily="34" charset="0"/>
              </a:rPr>
              <a:t>	`;</a:t>
            </a:r>
            <a:r>
              <a:rPr lang="en-US" sz="2800" cap="none" dirty="0" err="1">
                <a:latin typeface="CS Avva Shenouda" pitchFamily="34" charset="0"/>
              </a:rPr>
              <a:t>nyb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hiomi</a:t>
            </a:r>
            <a:endParaRPr lang="en-US" sz="2800" cap="none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 err="1">
                <a:latin typeface="CS Avva Shenouda" pitchFamily="34" charset="0"/>
              </a:rPr>
              <a:t>nicwni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nirwmi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niran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nimau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ni`alou</a:t>
            </a:r>
            <a:endParaRPr lang="en-US" sz="2800" cap="none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 err="1">
                <a:latin typeface="CS Avva Shenouda" pitchFamily="34" charset="0"/>
              </a:rPr>
              <a:t>jom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niourw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nibal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nisau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ninyb</a:t>
            </a:r>
            <a:endParaRPr lang="en-US" sz="2800" cap="none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cap="none" dirty="0" err="1">
                <a:latin typeface="CS Avva Shenouda" pitchFamily="34" charset="0"/>
              </a:rPr>
              <a:t>niseri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totc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io</a:t>
            </a:r>
            <a:r>
              <a:rPr lang="en-US" sz="2800" cap="none" dirty="0">
                <a:latin typeface="CS Avva Shenouda" pitchFamily="34" charset="0"/>
              </a:rPr>
              <a:t>]	</a:t>
            </a:r>
            <a:r>
              <a:rPr lang="en-US" sz="2800" cap="none" dirty="0" err="1">
                <a:latin typeface="CS Avva Shenouda" pitchFamily="34" charset="0"/>
              </a:rPr>
              <a:t>ourwou</a:t>
            </a:r>
            <a:r>
              <a:rPr lang="en-US" sz="2800" cap="none" dirty="0">
                <a:latin typeface="CS Avva Shenouda" pitchFamily="34" charset="0"/>
              </a:rPr>
              <a:t>	</a:t>
            </a:r>
            <a:r>
              <a:rPr lang="en-US" sz="2800" cap="none" dirty="0" err="1">
                <a:latin typeface="CS Avva Shenouda" pitchFamily="34" charset="0"/>
              </a:rPr>
              <a:t>vyou`i</a:t>
            </a:r>
            <a:endParaRPr lang="en-US" sz="2800" cap="none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animBg="1"/>
      <p:bldP spid="1331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7620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Possessive Article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153400" cy="51816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Possessive "of " is formed by: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preposition </a:t>
            </a:r>
            <a:r>
              <a:rPr lang="en-US" sz="3200" b="1" cap="none" dirty="0">
                <a:solidFill>
                  <a:srgbClr val="C00000"/>
                </a:solidFill>
                <a:latin typeface="CS Avva Shenouda" panose="020B7200000000000000" pitchFamily="34" charset="0"/>
              </a:rPr>
              <a:t>`</a:t>
            </a:r>
            <a:r>
              <a:rPr lang="en-US" sz="3600" b="1" cap="none" dirty="0" err="1">
                <a:solidFill>
                  <a:srgbClr val="C00000"/>
                </a:solidFill>
                <a:latin typeface="CS Avva Shenouda" panose="020B7200000000000000" pitchFamily="34" charset="0"/>
              </a:rPr>
              <a:t>nte</a:t>
            </a:r>
            <a:endParaRPr lang="en-US" sz="3600" b="1" cap="none" dirty="0">
              <a:solidFill>
                <a:srgbClr val="C00000"/>
              </a:solidFill>
              <a:latin typeface="CS Avva Shenouda" panose="020B7200000000000000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</a:t>
            </a:r>
            <a:r>
              <a:rPr lang="en-US" sz="3200" b="1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>
                <a:solidFill>
                  <a:srgbClr val="C0000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`n </a:t>
            </a:r>
            <a:r>
              <a:rPr lang="en-US" sz="3200" b="1" cap="none" dirty="0">
                <a:latin typeface="CS Avva Shenouda" panose="020B7200000000000000" pitchFamily="34" charset="0"/>
                <a:cs typeface="Times New Roman" panose="02020603050405020304" pitchFamily="18" charset="0"/>
              </a:rPr>
              <a:t>(</a:t>
            </a:r>
            <a:r>
              <a:rPr lang="en-US" sz="3200" b="1" cap="none" dirty="0">
                <a:solidFill>
                  <a:srgbClr val="C0000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`m</a:t>
            </a:r>
            <a:r>
              <a:rPr lang="en-US" sz="3200" b="1" cap="none" dirty="0">
                <a:latin typeface="CS Avva Shenouda" panose="020B7200000000000000" pitchFamily="34" charset="0"/>
                <a:cs typeface="Times New Roman" panose="02020603050405020304" pitchFamily="18" charset="0"/>
              </a:rPr>
              <a:t>) </a:t>
            </a:r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object as a prefix</a:t>
            </a:r>
          </a:p>
          <a:p>
            <a:pPr marL="0" indent="0" algn="ctr">
              <a:buNone/>
            </a:pPr>
            <a:r>
              <a:rPr lang="en-US" sz="3600" cap="none" dirty="0">
                <a:solidFill>
                  <a:srgbClr val="C0000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`n</a:t>
            </a:r>
            <a:r>
              <a:rPr lang="en-US" sz="3000" cap="none" dirty="0">
                <a:solidFill>
                  <a:srgbClr val="C0000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 </a:t>
            </a:r>
            <a:r>
              <a:rPr lang="en-US" sz="3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 </a:t>
            </a:r>
            <a:r>
              <a:rPr lang="en-US" sz="3600" cap="none" dirty="0">
                <a:solidFill>
                  <a:srgbClr val="C0000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`m</a:t>
            </a:r>
            <a:r>
              <a:rPr lang="en-US" sz="3000" cap="none" dirty="0">
                <a:latin typeface="CS Avva Shenouda" panose="020B7200000000000000" pitchFamily="34" charset="0"/>
                <a:cs typeface="Times New Roman" panose="02020603050405020304" pitchFamily="18" charset="0"/>
              </a:rPr>
              <a:t> </a:t>
            </a:r>
            <a:r>
              <a:rPr lang="en-US" sz="3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word begins with </a:t>
            </a:r>
          </a:p>
          <a:p>
            <a:pPr marL="0" indent="0"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3000" cap="none" dirty="0">
                <a:solidFill>
                  <a:srgbClr val="0070C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b</a:t>
            </a:r>
            <a:r>
              <a:rPr lang="en-US" sz="30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000" cap="none" dirty="0">
                <a:solidFill>
                  <a:srgbClr val="0070C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 m</a:t>
            </a:r>
            <a:r>
              <a:rPr lang="en-US" sz="30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000" cap="none" dirty="0">
                <a:solidFill>
                  <a:srgbClr val="0070C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 p</a:t>
            </a:r>
            <a:r>
              <a:rPr lang="en-US" sz="30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000" cap="none" dirty="0">
                <a:solidFill>
                  <a:srgbClr val="0070C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 '</a:t>
            </a:r>
            <a:r>
              <a:rPr lang="en-US" sz="30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000" cap="none" dirty="0">
                <a:solidFill>
                  <a:srgbClr val="0070C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 v</a:t>
            </a:r>
            <a:r>
              <a:rPr lang="en-US" sz="30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000" cap="none" dirty="0">
                <a:solidFill>
                  <a:srgbClr val="0070C0"/>
                </a:solidFill>
                <a:latin typeface="CS Avva Shenouda" panose="020B7200000000000000" pitchFamily="34" charset="0"/>
                <a:cs typeface="Times New Roman" panose="02020603050405020304" pitchFamily="18" charset="0"/>
              </a:rPr>
              <a:t> f</a:t>
            </a:r>
            <a:r>
              <a:rPr lang="en-US" sz="30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/>
              <a:t>Possessive Article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764" y="1891450"/>
            <a:ext cx="3927835" cy="4724400"/>
          </a:xfrm>
        </p:spPr>
        <p:txBody>
          <a:bodyPr>
            <a:normAutofit fontScale="85000" lnSpcReduction="10000"/>
          </a:bodyPr>
          <a:lstStyle/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cap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m</a:t>
            </a:r>
            <a:r>
              <a:rPr lang="en-US" sz="3800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`viwt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spcBef>
                <a:spcPts val="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father</a:t>
            </a:r>
            <a:endParaRPr lang="en-US" sz="3200" b="1" dirty="0">
              <a:solidFill>
                <a:srgbClr val="FF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3800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cap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m</a:t>
            </a:r>
            <a:r>
              <a:rPr lang="en-US" sz="3800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Pi</a:t>
            </a:r>
            <a:r>
              <a:rPr lang="en-US" sz="38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=c=l</a:t>
            </a:r>
          </a:p>
          <a:p>
            <a:pPr marL="914400" lvl="1" indent="-342900" fontAlgn="base">
              <a:spcBef>
                <a:spcPts val="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Israel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cap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</a:t>
            </a:r>
            <a:r>
              <a:rPr lang="en-US" sz="3800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I</a:t>
            </a:r>
            <a:r>
              <a:rPr lang="en-US" sz="38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=l=y=m</a:t>
            </a:r>
          </a:p>
          <a:p>
            <a:pPr marL="914400" lvl="1" indent="-342900" algn="l" fontAlgn="base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Jerusalem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700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Qen</a:t>
            </a:r>
            <a:r>
              <a:rPr lang="en-US" sz="37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`</a:t>
            </a:r>
            <a:r>
              <a:rPr lang="en-US" sz="3700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vran</a:t>
            </a:r>
            <a:r>
              <a:rPr lang="en-US" sz="37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 </a:t>
            </a:r>
            <a:r>
              <a:rPr lang="en-US" sz="3700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700" cap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m</a:t>
            </a:r>
            <a:r>
              <a:rPr lang="en-US" sz="3700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`Viwt</a:t>
            </a:r>
            <a:endParaRPr lang="en-US" sz="37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Name of the Father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C00000"/>
                </a:solidFill>
                <a:latin typeface="+mj-lt"/>
              </a:rPr>
              <a:t>Translate the following: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800600" y="1639088"/>
            <a:ext cx="4267200" cy="522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`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pkahi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`</a:t>
            </a:r>
            <a:r>
              <a:rPr lang="en-US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n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I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=l=y==m</a:t>
            </a:r>
          </a:p>
          <a:p>
            <a:pPr marL="914400" lvl="1" indent="-342900" algn="l">
              <a:lnSpc>
                <a:spcPct val="90000"/>
              </a:lnSpc>
              <a:spcBef>
                <a:spcPts val="3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land of Jerusalem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]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jom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`</a:t>
            </a:r>
            <a:r>
              <a:rPr lang="en-US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nte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V]</a:t>
            </a:r>
          </a:p>
          <a:p>
            <a:pPr marL="914400" lvl="1" indent="-342900" algn="l">
              <a:lnSpc>
                <a:spcPct val="90000"/>
              </a:lnSpc>
              <a:spcBef>
                <a:spcPts val="3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power of God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`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pyi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`</a:t>
            </a:r>
            <a:r>
              <a:rPr lang="en-US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nte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niaggeloc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  <a:ea typeface="+mj-ea"/>
              <a:cs typeface="+mj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3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house of the angels</a:t>
            </a:r>
          </a:p>
          <a:p>
            <a:pPr marL="514350" lvl="1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8"/>
            </a:pP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Nisyri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`</a:t>
            </a:r>
            <a:r>
              <a:rPr lang="en-US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nte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piouwini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  <a:ea typeface="+mj-ea"/>
              <a:cs typeface="+mj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3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sons of light</a:t>
            </a:r>
          </a:p>
          <a:p>
            <a:pPr marL="514350" lvl="1" indent="-51435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9"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`P[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oic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`</a:t>
            </a:r>
            <a:r>
              <a:rPr lang="en-US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nte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  <a:ea typeface="+mj-ea"/>
                <a:cs typeface="+mj-cs"/>
              </a:rPr>
              <a:t>nijom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  <a:ea typeface="+mj-ea"/>
              <a:cs typeface="+mj-cs"/>
            </a:endParaRPr>
          </a:p>
          <a:p>
            <a:pPr marL="914400" lvl="1" indent="-342900">
              <a:lnSpc>
                <a:spcPct val="90000"/>
              </a:lnSpc>
              <a:spcBef>
                <a:spcPts val="3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Lord of powers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7" dur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2" dur="1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600200" y="4343400"/>
            <a:ext cx="6019800" cy="762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800" dirty="0" err="1">
                <a:latin typeface="CS Avva Shenouda" pitchFamily="34" charset="0"/>
              </a:rPr>
              <a:t>O</a:t>
            </a:r>
            <a:r>
              <a:rPr lang="en-US" sz="4800" cap="none" dirty="0" err="1">
                <a:latin typeface="CS Avva Shenouda" pitchFamily="34" charset="0"/>
              </a:rPr>
              <a:t>ujai</a:t>
            </a:r>
            <a:r>
              <a:rPr lang="en-US" sz="4800" dirty="0">
                <a:latin typeface="CS Avva Shenouda" pitchFamily="34" charset="0"/>
              </a:rPr>
              <a:t> </a:t>
            </a:r>
            <a:r>
              <a:rPr lang="en-US" sz="4800" cap="none" dirty="0" err="1">
                <a:latin typeface="CS Avva Shenouda" pitchFamily="34" charset="0"/>
              </a:rPr>
              <a:t>qen</a:t>
            </a:r>
            <a:r>
              <a:rPr lang="en-US" sz="4800" dirty="0">
                <a:latin typeface="CS Avva Shenouda" pitchFamily="34" charset="0"/>
              </a:rPr>
              <a:t> `P</a:t>
            </a:r>
            <a:r>
              <a:rPr lang="en-US" sz="4800" cap="none" dirty="0">
                <a:latin typeface="CS Avva Shenouda" pitchFamily="34" charset="0"/>
              </a:rPr>
              <a:t>[</a:t>
            </a:r>
            <a:r>
              <a:rPr lang="en-US" sz="4800" cap="none" dirty="0" err="1">
                <a:latin typeface="CS Avva Shenouda" pitchFamily="34" charset="0"/>
              </a:rPr>
              <a:t>oic</a:t>
            </a:r>
            <a:endParaRPr lang="en-US" sz="4800" cap="none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981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{2E69DDE7-709F-6B4E-8C74-A94F58B34261}tf10001073</Template>
  <TotalTime>4448</TotalTime>
  <Words>444</Words>
  <Application>Microsoft Macintosh PowerPoint</Application>
  <PresentationFormat>On-screen Show (4:3)</PresentationFormat>
  <Paragraphs>105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CS Avva Shenouda</vt:lpstr>
      <vt:lpstr>Times New Roman</vt:lpstr>
      <vt:lpstr>Tw Cen MT</vt:lpstr>
      <vt:lpstr>Wingdings</vt:lpstr>
      <vt:lpstr>Droplet</vt:lpstr>
      <vt:lpstr>   Coptic Lesson 22  possessive ARTICLE "of"</vt:lpstr>
      <vt:lpstr>Coptic Alphabets</vt:lpstr>
      <vt:lpstr>Review Questions</vt:lpstr>
      <vt:lpstr>Rule for the Kei &lt;: </vt:lpstr>
      <vt:lpstr>Vocabulary List</vt:lpstr>
      <vt:lpstr>Beginner Vocabulary Review</vt:lpstr>
      <vt:lpstr>Possessive Article</vt:lpstr>
      <vt:lpstr>Possessive Article Examples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615</cp:revision>
  <dcterms:created xsi:type="dcterms:W3CDTF">2014-03-29T18:43:12Z</dcterms:created>
  <dcterms:modified xsi:type="dcterms:W3CDTF">2024-03-05T21:01:01Z</dcterms:modified>
</cp:coreProperties>
</file>