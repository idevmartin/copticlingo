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notesMasterIdLst>
    <p:notesMasterId r:id="rId15"/>
  </p:notesMasterIdLst>
  <p:sldIdLst>
    <p:sldId id="256" r:id="rId2"/>
    <p:sldId id="269" r:id="rId3"/>
    <p:sldId id="296" r:id="rId4"/>
    <p:sldId id="393" r:id="rId5"/>
    <p:sldId id="387" r:id="rId6"/>
    <p:sldId id="355" r:id="rId7"/>
    <p:sldId id="350" r:id="rId8"/>
    <p:sldId id="389" r:id="rId9"/>
    <p:sldId id="390" r:id="rId10"/>
    <p:sldId id="361" r:id="rId11"/>
    <p:sldId id="392" r:id="rId12"/>
    <p:sldId id="272" r:id="rId13"/>
    <p:sldId id="268" r:id="rId1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Font typeface="Wingdings" pitchFamily="2" charset="2"/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sz="3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CS Avva Shenoud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3300"/>
    <a:srgbClr val="990033"/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105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21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5FAD8348-8BBD-40CC-ACD4-38785057F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4570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5840E-E3BC-437A-8D27-233C3533F67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3CC25E-5E07-488B-A3AA-CD3E432910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113A-07F2-427F-A786-16A0434B76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0C8791-A3C4-4C63-BA3C-5B205951B4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79BD3-2A51-40DD-9928-2FEE22DFEE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A874E8-E911-4CA4-B27C-5F8AA24550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E8DBEE-AB55-4A2D-87EB-F169B9842F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pPr>
              <a:defRPr/>
            </a:pPr>
            <a:fld id="{F2422EC5-2D12-487C-A09A-C8B1BB55B1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3281D-6E33-4ACB-816C-920381DD9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18343-9AE2-4057-9FF5-20E4BB0589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5AAA5-A6A3-4367-B1E0-10EB4BC842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39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CC13F-6B64-4AA4-AA16-688C32EC7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85EB1375-5A98-456C-8276-0A37D7B364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14600"/>
            <a:ext cx="8305800" cy="90033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Coptic </a:t>
            </a:r>
            <a:r>
              <a:rPr lang="en-US" dirty="0"/>
              <a:t>Lesson </a:t>
            </a:r>
            <a:r>
              <a:rPr lang="en-US" dirty="0" smtClean="0"/>
              <a:t>15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Possessive Adjectives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5195888" cy="5000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dirty="0"/>
              <a:t>Coptic Alphabets</a:t>
            </a:r>
          </a:p>
        </p:txBody>
      </p:sp>
      <p:pic>
        <p:nvPicPr>
          <p:cNvPr id="5123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731070">
            <a:off x="6934412" y="429927"/>
            <a:ext cx="2068867" cy="111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5715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Review </a:t>
            </a:r>
            <a:r>
              <a:rPr lang="en-US" dirty="0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200" dirty="0">
              <a:cs typeface="Times New Roman" pitchFamily="18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4102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00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400" dirty="0">
              <a:cs typeface="Times New Roman" pitchFamily="18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g, j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26670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pictau-coou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54102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96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=f^</a:t>
            </a:r>
            <a:endParaRPr lang="en-US" sz="4000" dirty="0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cs typeface="Times New Roman" pitchFamily="18" charset="0"/>
              </a:rPr>
              <a:t>ce-`tiou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5410200" y="3733800"/>
            <a:ext cx="3276600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65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=x=e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4102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Lord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50000"/>
              </a:spcBef>
              <a:defRPr/>
            </a:pP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26670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54102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kh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,</a:t>
            </a:r>
            <a:endParaRPr lang="ar-EG" sz="4000" dirty="0" smtClean="0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26670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Iota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4102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y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tabLst>
                <a:tab pos="914400" algn="l"/>
              </a:tabLst>
              <a:defRPr/>
            </a:pPr>
            <a:endParaRPr lang="en-US" sz="4000" dirty="0"/>
          </a:p>
        </p:txBody>
      </p:sp>
      <p:sp>
        <p:nvSpPr>
          <p:cNvPr id="6168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69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0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1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2" name="Line 33"/>
          <p:cNvSpPr>
            <a:spLocks noChangeShapeType="1"/>
          </p:cNvSpPr>
          <p:nvPr/>
        </p:nvSpPr>
        <p:spPr bwMode="auto">
          <a:xfrm>
            <a:off x="457200" y="44196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3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4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5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6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7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8" name="Line 39"/>
          <p:cNvSpPr>
            <a:spLocks noChangeShapeType="1"/>
          </p:cNvSpPr>
          <p:nvPr/>
        </p:nvSpPr>
        <p:spPr bwMode="auto">
          <a:xfrm>
            <a:off x="54102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180" name="Text Box 52"/>
          <p:cNvSpPr txBox="1">
            <a:spLocks noChangeArrowheads="1"/>
          </p:cNvSpPr>
          <p:nvPr/>
        </p:nvSpPr>
        <p:spPr bwMode="auto">
          <a:xfrm>
            <a:off x="914400" y="1143000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6181" name="Text Box 53"/>
          <p:cNvSpPr txBox="1">
            <a:spLocks noChangeArrowheads="1"/>
          </p:cNvSpPr>
          <p:nvPr/>
        </p:nvSpPr>
        <p:spPr bwMode="auto">
          <a:xfrm>
            <a:off x="6324600" y="1143000"/>
            <a:ext cx="137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6182" name="Text Box 54"/>
          <p:cNvSpPr txBox="1">
            <a:spLocks noChangeArrowheads="1"/>
          </p:cNvSpPr>
          <p:nvPr/>
        </p:nvSpPr>
        <p:spPr bwMode="auto">
          <a:xfrm>
            <a:off x="3505200" y="1143000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i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i</a:t>
            </a:r>
            <a:endParaRPr lang="en-US" sz="4000" dirty="0"/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  <a:buClr>
                <a:schemeClr val="tx2"/>
              </a:buClr>
              <a:buSzPct val="70000"/>
              <a:tabLst>
                <a:tab pos="914400" algn="l"/>
              </a:tabLst>
            </a:pPr>
            <a:r>
              <a:rPr lang="en-US" sz="4000" dirty="0" smtClean="0"/>
              <a:t>`P¡</a:t>
            </a:r>
          </a:p>
        </p:txBody>
      </p:sp>
      <p:sp>
        <p:nvSpPr>
          <p:cNvPr id="42" name="Rectangle 11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j</a:t>
            </a:r>
            <a:endParaRPr lang="en-US" sz="4000" dirty="0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4000" dirty="0" smtClean="0"/>
              <a:t>=s</a:t>
            </a:r>
            <a:endParaRPr lang="en-US" sz="4000" dirty="0"/>
          </a:p>
        </p:txBody>
      </p:sp>
      <p:sp>
        <p:nvSpPr>
          <p:cNvPr id="44" name="Rectangle 13"/>
          <p:cNvSpPr>
            <a:spLocks noChangeArrowheads="1"/>
          </p:cNvSpPr>
          <p:nvPr/>
        </p:nvSpPr>
        <p:spPr bwMode="auto">
          <a:xfrm>
            <a:off x="26670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chemeClr val="tx2"/>
              </a:buClr>
              <a:buSzPct val="70000"/>
            </a:pPr>
            <a:r>
              <a:rPr lang="en-US" sz="2800" dirty="0" smtClean="0"/>
              <a:t>`P[</a:t>
            </a:r>
            <a:r>
              <a:rPr lang="en-US" sz="2800" dirty="0" err="1" smtClean="0"/>
              <a:t>oic</a:t>
            </a:r>
            <a:endParaRPr lang="en-US" sz="2800" dirty="0">
              <a:latin typeface="CS Avva Shenouda" charset="0"/>
            </a:endParaRP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26670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Ganga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6670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dirty="0" smtClean="0">
                <a:cs typeface="Times New Roman" pitchFamily="18" charset="0"/>
              </a:rPr>
              <a:t>'it-se</a:t>
            </a:r>
            <a:endParaRPr lang="en-US" sz="2800" dirty="0">
              <a:cs typeface="Times New Roman" pitchFamily="18" charset="0"/>
            </a:endParaRPr>
          </a:p>
        </p:txBody>
      </p:sp>
      <p:sp>
        <p:nvSpPr>
          <p:cNvPr id="47" name="Rectangle 13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79" grpId="0"/>
      <p:bldP spid="23576" grpId="0"/>
      <p:bldP spid="23574" grpId="0"/>
      <p:bldP spid="23573" grpId="0"/>
      <p:bldP spid="23572" grpId="0"/>
      <p:bldP spid="23571" grpId="0"/>
      <p:bldP spid="23570" grpId="0"/>
      <p:bldP spid="23569" grpId="0"/>
      <p:bldP spid="23567" grpId="0"/>
      <p:bldP spid="23565" grpId="0"/>
      <p:bldP spid="23564" grpId="0"/>
      <p:bldP spid="23563" grpId="0"/>
      <p:bldP spid="23562" grpId="0"/>
      <p:bldP spid="23561" grpId="0"/>
      <p:bldP spid="39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sz="4000">
                <a:latin typeface="Times New Roman" pitchFamily="18" charset="0"/>
              </a:rPr>
              <a:t>Rule for the Delta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D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25283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 d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d</a:t>
            </a: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225287" name="Text Box 7"/>
          <p:cNvSpPr txBox="1">
            <a:spLocks noChangeArrowheads="1"/>
          </p:cNvSpPr>
          <p:nvPr/>
        </p:nvSpPr>
        <p:spPr bwMode="auto">
          <a:xfrm>
            <a:off x="3810000" y="2514600"/>
            <a:ext cx="4953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5288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25289" name="Text Box 9"/>
          <p:cNvSpPr txBox="1">
            <a:spLocks noChangeArrowheads="1"/>
          </p:cNvSpPr>
          <p:nvPr/>
        </p:nvSpPr>
        <p:spPr bwMode="auto">
          <a:xfrm>
            <a:off x="762000" y="3962400"/>
            <a:ext cx="1524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doxa</a:t>
            </a:r>
          </a:p>
        </p:txBody>
      </p:sp>
      <p:sp>
        <p:nvSpPr>
          <p:cNvPr id="225290" name="Text Box 10"/>
          <p:cNvSpPr txBox="1">
            <a:spLocks noChangeArrowheads="1"/>
          </p:cNvSpPr>
          <p:nvPr/>
        </p:nvSpPr>
        <p:spPr bwMode="auto">
          <a:xfrm>
            <a:off x="2590800" y="39624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dikeoc</a:t>
            </a:r>
          </a:p>
        </p:txBody>
      </p:sp>
      <p:sp>
        <p:nvSpPr>
          <p:cNvPr id="225291" name="Text Box 11"/>
          <p:cNvSpPr txBox="1">
            <a:spLocks noChangeArrowheads="1"/>
          </p:cNvSpPr>
          <p:nvPr/>
        </p:nvSpPr>
        <p:spPr bwMode="auto">
          <a:xfrm>
            <a:off x="4724400" y="39624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Dauid</a:t>
            </a:r>
          </a:p>
        </p:txBody>
      </p:sp>
      <p:sp>
        <p:nvSpPr>
          <p:cNvPr id="225293" name="Text Box 13"/>
          <p:cNvSpPr txBox="1">
            <a:spLocks noChangeArrowheads="1"/>
          </p:cNvSpPr>
          <p:nvPr/>
        </p:nvSpPr>
        <p:spPr bwMode="auto">
          <a:xfrm>
            <a:off x="7010400" y="3962400"/>
            <a:ext cx="1828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dwron</a:t>
            </a:r>
          </a:p>
        </p:txBody>
      </p:sp>
      <p:sp>
        <p:nvSpPr>
          <p:cNvPr id="225294" name="Text Box 14"/>
          <p:cNvSpPr txBox="1">
            <a:spLocks noChangeArrowheads="1"/>
          </p:cNvSpPr>
          <p:nvPr/>
        </p:nvSpPr>
        <p:spPr bwMode="auto">
          <a:xfrm>
            <a:off x="1981200" y="46482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Daniyl</a:t>
            </a:r>
          </a:p>
        </p:txBody>
      </p:sp>
      <p:sp>
        <p:nvSpPr>
          <p:cNvPr id="225296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97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99" name="Text Box 19"/>
          <p:cNvSpPr txBox="1">
            <a:spLocks noChangeArrowheads="1"/>
          </p:cNvSpPr>
          <p:nvPr/>
        </p:nvSpPr>
        <p:spPr bwMode="auto">
          <a:xfrm>
            <a:off x="3810000" y="1371600"/>
            <a:ext cx="449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names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5300" name="Text Box 20"/>
          <p:cNvSpPr txBox="1">
            <a:spLocks noChangeArrowheads="1"/>
          </p:cNvSpPr>
          <p:nvPr/>
        </p:nvSpPr>
        <p:spPr bwMode="auto">
          <a:xfrm>
            <a:off x="5181600" y="4648200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demwn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/>
      <p:bldP spid="225286" grpId="0"/>
      <p:bldP spid="225288" grpId="0"/>
      <p:bldP spid="225289" grpId="0"/>
      <p:bldP spid="225291" grpId="0"/>
      <p:bldP spid="2252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Coptic Bible Verses – Part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latin typeface="CS Avva Shenouda" pitchFamily="34" charset="0"/>
              </a:rPr>
              <a:t>Rasi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qen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ncyou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niben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Rejoice in the Lord always. (Phil 4:4)</a:t>
            </a:r>
          </a:p>
          <a:p>
            <a:r>
              <a:rPr lang="en-US" dirty="0" err="1" smtClean="0">
                <a:latin typeface="CS Avva Shenouda" pitchFamily="34" charset="0"/>
              </a:rPr>
              <a:t>Twbh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ejen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neten`eryou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Pray for one another. (</a:t>
            </a:r>
            <a:r>
              <a:rPr lang="en-US" sz="2400" dirty="0" err="1" smtClean="0">
                <a:solidFill>
                  <a:srgbClr val="CC3300"/>
                </a:solidFill>
              </a:rPr>
              <a:t>Jm</a:t>
            </a:r>
            <a:r>
              <a:rPr lang="en-US" sz="2400" dirty="0" smtClean="0">
                <a:solidFill>
                  <a:srgbClr val="CC3300"/>
                </a:solidFill>
              </a:rPr>
              <a:t> 5:16)</a:t>
            </a:r>
          </a:p>
          <a:p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ouagapy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pe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God is love. (I 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4:16)</a:t>
            </a:r>
          </a:p>
          <a:p>
            <a:r>
              <a:rPr lang="en-US" dirty="0" err="1" smtClean="0">
                <a:latin typeface="CS Avva Shenouda" pitchFamily="34" charset="0"/>
              </a:rPr>
              <a:t>Jemnom</a:t>
            </a:r>
            <a:r>
              <a:rPr lang="en-US" dirty="0" smtClean="0">
                <a:latin typeface="CS Avva Shenouda" pitchFamily="34" charset="0"/>
              </a:rPr>
              <a:t>] </a:t>
            </a:r>
            <a:r>
              <a:rPr lang="en-US" dirty="0" err="1" smtClean="0">
                <a:latin typeface="CS Avva Shenouda" pitchFamily="34" charset="0"/>
              </a:rPr>
              <a:t>anok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ai</a:t>
            </a:r>
            <a:r>
              <a:rPr lang="en-US" dirty="0" smtClean="0">
                <a:latin typeface="CS Avva Shenouda" pitchFamily="34" charset="0"/>
              </a:rPr>
              <a:t>[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 smtClean="0">
                <a:latin typeface="CS Avva Shenouda" pitchFamily="34" charset="0"/>
              </a:rPr>
              <a:t> `</a:t>
            </a:r>
            <a:r>
              <a:rPr lang="en-US" dirty="0" err="1" smtClean="0">
                <a:latin typeface="CS Avva Shenouda" pitchFamily="34" charset="0"/>
              </a:rPr>
              <a:t>epikocmoc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Be of good cheer, I have overcome the world. (</a:t>
            </a:r>
            <a:r>
              <a:rPr lang="en-US" sz="2400" dirty="0" err="1" smtClean="0">
                <a:solidFill>
                  <a:srgbClr val="CC3300"/>
                </a:solidFill>
              </a:rPr>
              <a:t>Jn</a:t>
            </a:r>
            <a:r>
              <a:rPr lang="en-US" sz="2400" dirty="0" smtClean="0">
                <a:solidFill>
                  <a:srgbClr val="CC3300"/>
                </a:solidFill>
              </a:rPr>
              <a:t> 16:33)</a:t>
            </a:r>
          </a:p>
          <a:p>
            <a:r>
              <a:rPr lang="en-US" dirty="0" smtClean="0">
                <a:latin typeface="CS Avva Shenouda" pitchFamily="34" charset="0"/>
              </a:rPr>
              <a:t>}</a:t>
            </a:r>
            <a:r>
              <a:rPr lang="en-US" dirty="0" err="1" smtClean="0">
                <a:latin typeface="CS Avva Shenouda" pitchFamily="34" charset="0"/>
              </a:rPr>
              <a:t>ar,y</a:t>
            </a:r>
            <a:r>
              <a:rPr lang="en-US" dirty="0" smtClean="0">
                <a:latin typeface="CS Avva Shenouda" pitchFamily="34" charset="0"/>
              </a:rPr>
              <a:t> `n]</a:t>
            </a:r>
            <a:r>
              <a:rPr lang="en-US" dirty="0" err="1" smtClean="0">
                <a:latin typeface="CS Avva Shenouda" pitchFamily="34" charset="0"/>
              </a:rPr>
              <a:t>covia</a:t>
            </a:r>
            <a:r>
              <a:rPr lang="en-US" dirty="0" smtClean="0">
                <a:latin typeface="CS Avva Shenouda" pitchFamily="34" charset="0"/>
              </a:rPr>
              <a:t> ]ho] `</a:t>
            </a:r>
            <a:r>
              <a:rPr lang="en-US" dirty="0" err="1" smtClean="0">
                <a:latin typeface="CS Avva Shenouda" pitchFamily="34" charset="0"/>
              </a:rPr>
              <a:t>nte</a:t>
            </a:r>
            <a:r>
              <a:rPr lang="en-US" dirty="0" smtClean="0">
                <a:latin typeface="CS Avva Shenouda" pitchFamily="34" charset="0"/>
              </a:rPr>
              <a:t> `P[</a:t>
            </a:r>
            <a:r>
              <a:rPr lang="en-US" dirty="0" err="1" smtClean="0">
                <a:latin typeface="CS Avva Shenouda" pitchFamily="34" charset="0"/>
              </a:rPr>
              <a:t>oic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dirty="0" err="1" smtClean="0">
                <a:latin typeface="CS Avva Shenouda" pitchFamily="34" charset="0"/>
              </a:rPr>
              <a:t>te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>
                <a:solidFill>
                  <a:srgbClr val="CC3300"/>
                </a:solidFill>
              </a:rPr>
              <a:t>The fear of the Lord is the beginning of wisdom. (Ps 110:10)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00276" y="568345"/>
            <a:ext cx="6577928" cy="72705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Beginner Vocabulary Review</a:t>
            </a:r>
            <a:endParaRPr lang="en-US" sz="3200" b="1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447800"/>
            <a:ext cx="8153400" cy="4419600"/>
          </a:xfrm>
        </p:spPr>
        <p:txBody>
          <a:bodyPr>
            <a:normAutofit fontScale="92500" lnSpcReduction="20000"/>
          </a:bodyPr>
          <a:lstStyle/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romi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kahi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Vnou</a:t>
            </a:r>
            <a:r>
              <a:rPr lang="en-US" dirty="0" smtClean="0">
                <a:latin typeface="CS Avva Shenouda" pitchFamily="34" charset="0"/>
              </a:rPr>
              <a:t>]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ioh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ry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con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syri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iwt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bal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yi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ran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ouro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smtClean="0">
                <a:latin typeface="CS Avva Shenouda" pitchFamily="34" charset="0"/>
              </a:rPr>
              <a:t>`</a:t>
            </a:r>
            <a:r>
              <a:rPr lang="en-US" dirty="0" err="1" smtClean="0">
                <a:latin typeface="CS Avva Shenouda" pitchFamily="34" charset="0"/>
              </a:rPr>
              <a:t>chimi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vorsi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seri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ourw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ri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cwni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ajp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ve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soury</a:t>
            </a:r>
            <a:endParaRPr lang="en-US" dirty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Wingdings" pitchFamily="2" charset="2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mau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]`</a:t>
            </a:r>
            <a:r>
              <a:rPr lang="en-US" dirty="0" err="1" smtClean="0">
                <a:latin typeface="CS Avva Shenouda" pitchFamily="34" charset="0"/>
              </a:rPr>
              <a:t>alou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jij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smtClean="0">
                <a:latin typeface="CS Avva Shenouda" pitchFamily="34" charset="0"/>
              </a:rPr>
              <a:t>`;</a:t>
            </a:r>
            <a:r>
              <a:rPr lang="en-US" dirty="0" err="1" smtClean="0">
                <a:latin typeface="CS Avva Shenouda" pitchFamily="34" charset="0"/>
              </a:rPr>
              <a:t>nyb</a:t>
            </a:r>
            <a:r>
              <a:rPr lang="en-US" dirty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hiomi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nicwni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nirwmi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niran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nimau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ni`alou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jom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niourw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nibal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nisau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ninyb</a:t>
            </a:r>
            <a:endParaRPr lang="en-US" dirty="0" smtClean="0">
              <a:latin typeface="CS Avva Shenouda" pitchFamily="34" charset="0"/>
            </a:endParaRPr>
          </a:p>
          <a:p>
            <a:pPr marL="666750" indent="-609600">
              <a:spcBef>
                <a:spcPts val="1200"/>
              </a:spcBef>
              <a:buFont typeface="+mj-lt"/>
              <a:buAutoNum type="arabicPeriod"/>
              <a:tabLst>
                <a:tab pos="457200" algn="l"/>
                <a:tab pos="2000250" algn="l"/>
                <a:tab pos="3371850" algn="l"/>
                <a:tab pos="4743450" algn="l"/>
                <a:tab pos="6400800" algn="l"/>
              </a:tabLst>
            </a:pPr>
            <a:r>
              <a:rPr lang="en-US" dirty="0" err="1" smtClean="0">
                <a:latin typeface="CS Avva Shenouda" pitchFamily="34" charset="0"/>
              </a:rPr>
              <a:t>niseri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totc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io</a:t>
            </a:r>
            <a:r>
              <a:rPr lang="en-US" dirty="0" smtClean="0">
                <a:latin typeface="CS Avva Shenouda" pitchFamily="34" charset="0"/>
              </a:rPr>
              <a:t>]	</a:t>
            </a:r>
            <a:r>
              <a:rPr lang="en-US" dirty="0" err="1" smtClean="0">
                <a:latin typeface="CS Avva Shenouda" pitchFamily="34" charset="0"/>
              </a:rPr>
              <a:t>ourwou</a:t>
            </a:r>
            <a:r>
              <a:rPr lang="en-US" dirty="0" smtClean="0">
                <a:latin typeface="CS Avva Shenouda" pitchFamily="34" charset="0"/>
              </a:rPr>
              <a:t>	</a:t>
            </a:r>
            <a:r>
              <a:rPr lang="en-US" dirty="0" err="1" smtClean="0">
                <a:latin typeface="CS Avva Shenouda" pitchFamily="34" charset="0"/>
              </a:rPr>
              <a:t>vyou`i</a:t>
            </a:r>
            <a:endParaRPr lang="en-US" dirty="0"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/>
      <p:bldP spid="13312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B0F0"/>
                </a:solidFill>
              </a:rPr>
              <a:t>Singular Masculine Possessed Noun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2667000" cy="4495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pa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pek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pef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pec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peten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pou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ran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2800" y="990600"/>
            <a:ext cx="4953000" cy="472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my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 </a:t>
            </a:r>
            <a:r>
              <a:rPr lang="en-US" sz="2000" dirty="0" smtClean="0">
                <a:latin typeface="+mn-lt"/>
              </a:rPr>
              <a:t>(masculine)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(feminine)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his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her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(plural)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their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name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B0F0"/>
                </a:solidFill>
              </a:rPr>
              <a:t>Singular Feminine Possessed Noun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2895600" cy="4495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ta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tek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tef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tec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teten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tou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vorsi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3800" y="990600"/>
            <a:ext cx="4572000" cy="472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my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 </a:t>
            </a:r>
            <a:r>
              <a:rPr lang="en-US" sz="2000" dirty="0" smtClean="0">
                <a:latin typeface="+mn-lt"/>
              </a:rPr>
              <a:t>(masculine)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(feminine)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his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her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(plural)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their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table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endParaRPr lang="en-US" sz="3200" dirty="0" smtClean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5867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B0F0"/>
                </a:solidFill>
              </a:rPr>
              <a:t>Plural Possessed Noun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2895600" cy="4495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na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nek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nef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nec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neten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3200" b="1" dirty="0" err="1" smtClean="0">
                <a:latin typeface="CS Avva Shenouda" pitchFamily="34" charset="0"/>
              </a:rPr>
              <a:t>nou</a:t>
            </a:r>
            <a:r>
              <a:rPr lang="en-US" sz="3200" b="1" dirty="0" err="1" smtClean="0">
                <a:solidFill>
                  <a:srgbClr val="FFFF00"/>
                </a:solidFill>
                <a:latin typeface="CS Avva Shenouda" pitchFamily="34" charset="0"/>
              </a:rPr>
              <a:t>totc</a:t>
            </a: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Font typeface="Wingdings" pitchFamily="2" charset="2"/>
              <a:buChar char="v"/>
            </a:pPr>
            <a:endParaRPr lang="en-US" sz="3200" b="1" dirty="0" smtClean="0">
              <a:solidFill>
                <a:srgbClr val="FF0000"/>
              </a:solidFill>
              <a:latin typeface="CS Avva Shenouda" pitchFamily="34" charset="0"/>
            </a:endParaRPr>
          </a:p>
          <a:p>
            <a:pPr>
              <a:buNone/>
            </a:pPr>
            <a:endParaRPr lang="en-US" b="1" dirty="0" smtClean="0">
              <a:solidFill>
                <a:srgbClr val="FF0000"/>
              </a:solidFill>
              <a:latin typeface="CS Avva Shenoud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3800" y="990600"/>
            <a:ext cx="4572000" cy="472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my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 </a:t>
            </a:r>
            <a:r>
              <a:rPr lang="en-US" sz="2000" dirty="0" smtClean="0">
                <a:latin typeface="+mn-lt"/>
              </a:rPr>
              <a:t>(masculine)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(feminine)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his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her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your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2000" dirty="0" smtClean="0">
                <a:latin typeface="+mn-lt"/>
              </a:rPr>
              <a:t>(plural)</a:t>
            </a:r>
          </a:p>
          <a:p>
            <a:pPr algn="l">
              <a:buFont typeface="Franklin Gothic Book" pitchFamily="34" charset="0"/>
              <a:buChar char="="/>
            </a:pPr>
            <a:r>
              <a:rPr lang="en-US" sz="3200" dirty="0" smtClean="0">
                <a:latin typeface="+mn-lt"/>
              </a:rPr>
              <a:t> their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dirty="0" smtClean="0">
                <a:solidFill>
                  <a:srgbClr val="FFFF00"/>
                </a:solidFill>
                <a:latin typeface="+mn-lt"/>
              </a:rPr>
              <a:t>chairs</a:t>
            </a:r>
          </a:p>
        </p:txBody>
      </p:sp>
      <p:sp>
        <p:nvSpPr>
          <p:cNvPr id="7170" name="AutoShape 2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2" name="AutoShape 4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74" name="AutoShape 6" descr="Image result for Poin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 smtClean="0"/>
              <a:t>Exercise (Part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47244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paiwt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father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pekiwt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father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tamau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mother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na`cnyou</a:t>
            </a:r>
            <a:endParaRPr lang="en-US" sz="3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lvl="1" indent="-342900"/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brothers</a:t>
            </a: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40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tetencwni</a:t>
            </a:r>
            <a:endParaRPr lang="en-US" sz="3500" dirty="0" smtClean="0">
              <a:cs typeface="+mn-cs"/>
            </a:endParaRPr>
          </a:p>
          <a:p>
            <a:pPr marL="722376" lvl="1" indent="-342900" algn="l">
              <a:lnSpc>
                <a:spcPct val="90000"/>
              </a:lnSpc>
              <a:buClr>
                <a:schemeClr val="accent1"/>
              </a:buClr>
              <a:buSzPct val="90000"/>
              <a:buFont typeface="Wingdings 2"/>
              <a:buChar char="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Your sister (Plu.)</a:t>
            </a:r>
          </a:p>
          <a:p>
            <a:pPr marL="514350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pecsyri</a:t>
            </a:r>
            <a:endParaRPr lang="en-US" sz="3500" dirty="0" smtClean="0">
              <a:cs typeface="+mn-cs"/>
            </a:endParaRPr>
          </a:p>
          <a:p>
            <a:pPr marL="722376" lvl="1" indent="-342900" algn="l">
              <a:lnSpc>
                <a:spcPct val="90000"/>
              </a:lnSpc>
              <a:buClr>
                <a:schemeClr val="accent1"/>
              </a:buClr>
              <a:buSzPct val="90000"/>
              <a:buFont typeface="Wingdings 2"/>
              <a:buChar char="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Her son</a:t>
            </a:r>
          </a:p>
          <a:p>
            <a:pPr marL="514350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3500" dirty="0" err="1" smtClean="0">
                <a:cs typeface="+mn-cs"/>
              </a:rPr>
              <a:t>naio</a:t>
            </a:r>
            <a:r>
              <a:rPr lang="en-US" sz="3500" dirty="0" smtClean="0">
                <a:cs typeface="+mn-cs"/>
              </a:rPr>
              <a:t>]</a:t>
            </a:r>
          </a:p>
          <a:p>
            <a:pPr marL="722376" lvl="1" indent="-342900" algn="l">
              <a:lnSpc>
                <a:spcPct val="90000"/>
              </a:lnSpc>
              <a:buClr>
                <a:schemeClr val="accent1"/>
              </a:buClr>
              <a:buSzPct val="90000"/>
              <a:buFont typeface="Wingdings 2"/>
              <a:buChar char="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My fathers</a:t>
            </a: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500" dirty="0" err="1" smtClean="0">
                <a:cs typeface="+mn-cs"/>
              </a:rPr>
              <a:t>nenbal</a:t>
            </a:r>
          </a:p>
          <a:p>
            <a:pPr marL="722376" lvl="1" indent="-342900" algn="l">
              <a:lnSpc>
                <a:spcPct val="90000"/>
              </a:lnSpc>
              <a:buClr>
                <a:schemeClr val="accent1"/>
              </a:buClr>
              <a:buSzPct val="90000"/>
              <a:buFont typeface="Wingdings 2"/>
              <a:buChar char="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Our eyes</a:t>
            </a: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 smtClean="0"/>
              <a:t>Exercise (Part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4724400"/>
          </a:xfrm>
        </p:spPr>
        <p:txBody>
          <a:bodyPr>
            <a:normAutofit fontScale="92500" lnSpcReduction="10000"/>
          </a:bodyPr>
          <a:lstStyle/>
          <a:p>
            <a:pPr marL="457200" lvl="1" indent="-45720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name</a:t>
            </a: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paran</a:t>
            </a:r>
            <a:endParaRPr lang="en-US" sz="3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2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son</a:t>
            </a: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peksyri</a:t>
            </a:r>
            <a:endParaRPr lang="en-US" sz="3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3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wife</a:t>
            </a: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tahiomi</a:t>
            </a:r>
            <a:endParaRPr lang="en-US" sz="3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514350" lvl="1" indent="-514350">
              <a:lnSpc>
                <a:spcPct val="120000"/>
              </a:lnSpc>
              <a:spcBef>
                <a:spcPts val="600"/>
              </a:spcBef>
              <a:buSzPct val="80000"/>
              <a:buFont typeface="+mj-lt"/>
              <a:buAutoNum type="arabicPeriod" startAt="4"/>
            </a:pPr>
            <a:r>
              <a:rPr lang="en-US" sz="31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brothers</a:t>
            </a:r>
          </a:p>
          <a:p>
            <a:pPr marL="758952" lvl="1" indent="-457200">
              <a:lnSpc>
                <a:spcPct val="120000"/>
              </a:lnSpc>
              <a:spcBef>
                <a:spcPts val="600"/>
              </a:spcBef>
            </a:pPr>
            <a:r>
              <a:rPr lang="en-US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S Avva Shenouda" pitchFamily="34" charset="0"/>
              </a:rPr>
              <a:t>na`cnyou</a:t>
            </a:r>
            <a:endParaRPr lang="en-US" sz="3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  <a:p>
            <a:pPr marL="457200" indent="-45720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1430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 smtClean="0">
                <a:solidFill>
                  <a:srgbClr val="C00000"/>
                </a:solidFill>
                <a:latin typeface="+mj-lt"/>
              </a:rPr>
              <a:t>Translate the following into English: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495800" y="1905000"/>
            <a:ext cx="4419600" cy="583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5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Your cats (Plu.)</a:t>
            </a:r>
          </a:p>
          <a:p>
            <a:pPr marL="9715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3500" dirty="0" err="1" smtClean="0">
                <a:cs typeface="+mn-cs"/>
              </a:rPr>
              <a:t>tetensau</a:t>
            </a:r>
            <a:endParaRPr lang="en-US" sz="3500" dirty="0" smtClean="0">
              <a:cs typeface="+mn-cs"/>
            </a:endParaRP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6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Her man</a:t>
            </a:r>
          </a:p>
          <a:p>
            <a:pPr marL="9715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3500" dirty="0" err="1" smtClean="0">
                <a:cs typeface="+mn-cs"/>
              </a:rPr>
              <a:t>pecromi</a:t>
            </a:r>
            <a:endParaRPr lang="en-US" sz="3500" dirty="0" smtClean="0">
              <a:cs typeface="+mn-cs"/>
            </a:endParaRP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7"/>
            </a:pPr>
            <a:r>
              <a:rPr lang="en-US" sz="2900" b="1" dirty="0" smtClean="0">
                <a:solidFill>
                  <a:srgbClr val="FFC000"/>
                </a:solidFill>
                <a:latin typeface="+mn-lt"/>
                <a:cs typeface="+mn-cs"/>
              </a:rPr>
              <a:t>My hands</a:t>
            </a:r>
          </a:p>
          <a:p>
            <a:pPr marL="9715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3500" dirty="0" err="1" smtClean="0">
                <a:cs typeface="+mn-cs"/>
              </a:rPr>
              <a:t>najij</a:t>
            </a:r>
            <a:endParaRPr lang="en-US" sz="3500" dirty="0" smtClean="0">
              <a:cs typeface="+mn-cs"/>
            </a:endParaRPr>
          </a:p>
          <a:p>
            <a:pPr marL="514350" lvl="1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+mj-lt"/>
              <a:buAutoNum type="arabicPeriod" startAt="8"/>
            </a:pPr>
            <a:r>
              <a:rPr lang="en-US" sz="3200" b="1" dirty="0" smtClean="0">
                <a:solidFill>
                  <a:srgbClr val="FFC000"/>
                </a:solidFill>
                <a:latin typeface="+mn-lt"/>
                <a:cs typeface="+mn-cs"/>
              </a:rPr>
              <a:t>Our watches</a:t>
            </a:r>
          </a:p>
          <a:p>
            <a:pPr marL="971550" lvl="2" indent="-514350" algn="l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sz="3500" dirty="0" err="1" smtClean="0">
                <a:cs typeface="+mn-cs"/>
              </a:rPr>
              <a:t>nenajp</a:t>
            </a:r>
            <a:endParaRPr lang="en-US" sz="3500" dirty="0" smtClean="0">
              <a:cs typeface="+mn-cs"/>
            </a:endParaRPr>
          </a:p>
          <a:p>
            <a:pPr marL="182880" indent="-342900" algn="l">
              <a:lnSpc>
                <a:spcPct val="80000"/>
              </a:lnSpc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</a:pPr>
            <a:endParaRPr lang="en-US" sz="2900" b="1" dirty="0" smtClean="0">
              <a:solidFill>
                <a:srgbClr val="FFC000"/>
              </a:solidFill>
              <a:latin typeface="+mn-lt"/>
              <a:cs typeface="+mn-cs"/>
            </a:endParaRPr>
          </a:p>
          <a:p>
            <a:pPr marL="457200" indent="-457200" algn="l">
              <a:spcBef>
                <a:spcPts val="600"/>
              </a:spcBef>
              <a:buFont typeface="+mj-lt"/>
              <a:buAutoNum type="arabicPeriod" startAt="5"/>
            </a:pPr>
            <a:endParaRPr lang="en-US" sz="1800" b="1" dirty="0" err="1" smtClean="0">
              <a:solidFill>
                <a:schemeClr val="accent4">
                  <a:lumMod val="75000"/>
                </a:schemeClr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2" dur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defRPr/>
            </a:pPr>
            <a:r>
              <a:rPr lang="en-US" sz="4000" dirty="0"/>
              <a:t> All slides are available at </a:t>
            </a:r>
            <a:br>
              <a:rPr lang="en-US" sz="4000" dirty="0"/>
            </a:br>
            <a:r>
              <a:rPr lang="en-US" dirty="0">
                <a:solidFill>
                  <a:srgbClr val="990033"/>
                </a:solidFill>
              </a:rPr>
              <a:t>http://</a:t>
            </a:r>
            <a:r>
              <a:rPr lang="en-US" dirty="0" smtClean="0">
                <a:solidFill>
                  <a:srgbClr val="990033"/>
                </a:solidFill>
              </a:rPr>
              <a:t>www.ekladious.com/coptic.html</a:t>
            </a:r>
            <a:endParaRPr lang="en-US" sz="4000" dirty="0">
              <a:solidFill>
                <a:srgbClr val="990033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4000" dirty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86000" y="4114800"/>
            <a:ext cx="4495800" cy="762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dirty="0" err="1" smtClean="0">
                <a:latin typeface="CS Avva Shenouda" pitchFamily="34" charset="0"/>
              </a:rPr>
              <a:t>O</a:t>
            </a:r>
            <a:r>
              <a:rPr lang="en-US" cap="none" dirty="0" err="1" smtClean="0">
                <a:latin typeface="CS Avva Shenouda" pitchFamily="34" charset="0"/>
              </a:rPr>
              <a:t>ujai</a:t>
            </a:r>
            <a:r>
              <a:rPr lang="en-US" dirty="0" smtClean="0">
                <a:latin typeface="CS Avva Shenouda" pitchFamily="34" charset="0"/>
              </a:rPr>
              <a:t> </a:t>
            </a:r>
            <a:r>
              <a:rPr lang="en-US" cap="none" dirty="0" err="1">
                <a:latin typeface="CS Avva Shenouda" pitchFamily="34" charset="0"/>
              </a:rPr>
              <a:t>qen</a:t>
            </a:r>
            <a:r>
              <a:rPr lang="en-US" dirty="0">
                <a:latin typeface="CS Avva Shenouda" pitchFamily="34" charset="0"/>
              </a:rPr>
              <a:t> `P</a:t>
            </a:r>
            <a:r>
              <a:rPr lang="en-US" cap="none" dirty="0">
                <a:latin typeface="CS Avva Shenouda" pitchFamily="34" charset="0"/>
              </a:rPr>
              <a:t>[</a:t>
            </a:r>
            <a:r>
              <a:rPr lang="en-US" cap="none" dirty="0" err="1">
                <a:latin typeface="CS Avva Shenouda" pitchFamily="34" charset="0"/>
              </a:rPr>
              <a:t>oic</a:t>
            </a:r>
            <a:endParaRPr lang="en-US" cap="none" dirty="0">
              <a:latin typeface="CS Avva Shenouda" pitchFamily="34" charset="0"/>
            </a:endParaRPr>
          </a:p>
        </p:txBody>
      </p:sp>
      <p:pic>
        <p:nvPicPr>
          <p:cNvPr id="21507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1981200"/>
            <a:ext cx="15430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3082</TotalTime>
  <Words>312</Words>
  <Application>Microsoft Office PowerPoint</Application>
  <PresentationFormat>On-screen Show (4:3)</PresentationFormat>
  <Paragraphs>147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Technic</vt:lpstr>
      <vt:lpstr> Coptic Lesson 15   Possessive Adjectives</vt:lpstr>
      <vt:lpstr>Coptic Alphabets</vt:lpstr>
      <vt:lpstr>Review Questions</vt:lpstr>
      <vt:lpstr>Rule for the Delta D</vt:lpstr>
      <vt:lpstr>Coptic Bible Verses – Part 3</vt:lpstr>
      <vt:lpstr>Beginner Vocabulary Review</vt:lpstr>
      <vt:lpstr>Singular Masculine Possessed Noun</vt:lpstr>
      <vt:lpstr>Singular Feminine Possessed Noun</vt:lpstr>
      <vt:lpstr>Plural Possessed Noun</vt:lpstr>
      <vt:lpstr>Exercise (Part 1)</vt:lpstr>
      <vt:lpstr>Exercise (Part 2)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500</cp:revision>
  <dcterms:created xsi:type="dcterms:W3CDTF">2014-03-29T18:43:12Z</dcterms:created>
  <dcterms:modified xsi:type="dcterms:W3CDTF">2021-08-25T01:01:58Z</dcterms:modified>
</cp:coreProperties>
</file>