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29"/>
  </p:notesMasterIdLst>
  <p:sldIdLst>
    <p:sldId id="256" r:id="rId2"/>
    <p:sldId id="269" r:id="rId3"/>
    <p:sldId id="267" r:id="rId4"/>
    <p:sldId id="281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65" r:id="rId16"/>
    <p:sldId id="277" r:id="rId17"/>
    <p:sldId id="278" r:id="rId18"/>
    <p:sldId id="279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76" r:id="rId27"/>
    <p:sldId id="268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66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13" autoAdjust="0"/>
    <p:restoredTop sz="94660"/>
  </p:normalViewPr>
  <p:slideViewPr>
    <p:cSldViewPr>
      <p:cViewPr>
        <p:scale>
          <a:sx n="100" d="100"/>
          <a:sy n="100" d="100"/>
        </p:scale>
        <p:origin x="-1140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3E205A4D-CB84-4B37-84EC-F7B82ED51F2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26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9027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2902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2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3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3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3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9033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034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9035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36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9037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903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9039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D6FB678-B069-4F4F-8D57-99CB50206E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5DC961-B4BE-4EE2-8A54-8F04446BC68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15C599-6AE8-40BC-AFB4-0774DF28605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F1AE47-6DE8-48FA-8ACA-C07A96ADE26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C3E37-25A4-435F-9953-2C85E11FE87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AC75F0-0E3F-4E59-82AA-FE4E41D3AF8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B17544-F6A2-43C9-ACE1-81C4CF8DBD3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D657985-828A-471C-AC2C-5F69EDBB1D8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888288-EC35-421E-83F5-9186B083EC5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BFD07D-52E1-4131-BE95-3825E7D2A65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EDD66B0-D105-4419-A095-1DDCC6F3698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92F4833-D118-49E1-81EA-72F2D12547F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A3538F30-EEDA-4A49-AB11-251207F8472D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28004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8005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28006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7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8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9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10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8011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012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8013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28014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801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Coptic Lesson 6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Coptic Reading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2589213" y="274638"/>
            <a:ext cx="3892550" cy="534987"/>
          </a:xfrm>
          <a:noFill/>
        </p:spPr>
        <p:txBody>
          <a:bodyPr/>
          <a:lstStyle/>
          <a:p>
            <a:r>
              <a:rPr lang="en-US" sz="2800"/>
              <a:t>Coptic Alphabets</a:t>
            </a:r>
          </a:p>
        </p:txBody>
      </p:sp>
      <p:pic>
        <p:nvPicPr>
          <p:cNvPr id="30725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r>
              <a:rPr lang="en-US"/>
              <a:t>Review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9436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Khai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26670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Kh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q</a:t>
            </a: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5943600" y="5100638"/>
            <a:ext cx="27432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Kei</a:t>
            </a: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26670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k, sh, kh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59436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Soo</a:t>
            </a: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26670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^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59436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Ganga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2667000" y="3733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g, j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9436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Iota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26670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e, ee, y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9436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Tee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6670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ti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} ]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59436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Delta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26670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d, z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3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4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>
            <a:off x="457200" y="580072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59436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604" name="Text Box 52"/>
          <p:cNvSpPr txBox="1">
            <a:spLocks noChangeArrowheads="1"/>
          </p:cNvSpPr>
          <p:nvPr/>
        </p:nvSpPr>
        <p:spPr bwMode="auto">
          <a:xfrm>
            <a:off x="762000" y="1066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solidFill>
                  <a:schemeClr val="tx2"/>
                </a:solidFill>
              </a:rPr>
              <a:t>Coptic</a:t>
            </a:r>
          </a:p>
        </p:txBody>
      </p:sp>
      <p:sp>
        <p:nvSpPr>
          <p:cNvPr id="23605" name="Text Box 53"/>
          <p:cNvSpPr txBox="1">
            <a:spLocks noChangeArrowheads="1"/>
          </p:cNvSpPr>
          <p:nvPr/>
        </p:nvSpPr>
        <p:spPr bwMode="auto">
          <a:xfrm>
            <a:off x="3581400" y="1066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solidFill>
                  <a:schemeClr val="tx2"/>
                </a:solidFill>
              </a:rPr>
              <a:t>English</a:t>
            </a:r>
          </a:p>
        </p:txBody>
      </p:sp>
      <p:sp>
        <p:nvSpPr>
          <p:cNvPr id="23606" name="Text Box 54"/>
          <p:cNvSpPr txBox="1">
            <a:spLocks noChangeArrowheads="1"/>
          </p:cNvSpPr>
          <p:nvPr/>
        </p:nvSpPr>
        <p:spPr bwMode="auto">
          <a:xfrm>
            <a:off x="6553200" y="1066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solidFill>
                  <a:schemeClr val="tx2"/>
                </a:solidFill>
              </a:rPr>
              <a:t>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80" grpId="0"/>
      <p:bldP spid="23579" grpId="0"/>
      <p:bldP spid="23578" grpId="0"/>
      <p:bldP spid="23577" grpId="0"/>
      <p:bldP spid="23576" grpId="0"/>
      <p:bldP spid="23575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2" grpId="0"/>
      <p:bldP spid="23561" grpId="0"/>
      <p:bldP spid="235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1625"/>
            <a:ext cx="4495800" cy="636588"/>
          </a:xfrm>
        </p:spPr>
        <p:txBody>
          <a:bodyPr/>
          <a:lstStyle/>
          <a:p>
            <a:pPr algn="l"/>
            <a:r>
              <a:rPr lang="en-US" sz="4000">
                <a:latin typeface="Times New Roman" pitchFamily="18" charset="0"/>
              </a:rPr>
              <a:t>Rule for the Iota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i</a:t>
            </a:r>
            <a:r>
              <a:rPr lang="en-US" sz="400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44835" name="Line 99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37" name="Text Box 101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 </a:t>
            </a:r>
            <a:r>
              <a:rPr lang="en-US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44838" name="Text Box 102"/>
          <p:cNvSpPr txBox="1">
            <a:spLocks noChangeArrowheads="1"/>
          </p:cNvSpPr>
          <p:nvPr/>
        </p:nvSpPr>
        <p:spPr bwMode="auto">
          <a:xfrm>
            <a:off x="3352800" y="12192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39" name="Text Box 103"/>
          <p:cNvSpPr txBox="1">
            <a:spLocks noChangeArrowheads="1"/>
          </p:cNvSpPr>
          <p:nvPr/>
        </p:nvSpPr>
        <p:spPr bwMode="auto">
          <a:xfrm>
            <a:off x="3276600" y="21336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0" name="Text Box 104"/>
          <p:cNvSpPr txBox="1">
            <a:spLocks noChangeArrowheads="1"/>
          </p:cNvSpPr>
          <p:nvPr/>
        </p:nvSpPr>
        <p:spPr bwMode="auto">
          <a:xfrm>
            <a:off x="3352800" y="3276600"/>
            <a:ext cx="762000" cy="534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y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3" name="Freeform 107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4" name="Line 108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5" name="Line 109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8" name="Text Box 112"/>
          <p:cNvSpPr txBox="1">
            <a:spLocks noChangeArrowheads="1"/>
          </p:cNvSpPr>
          <p:nvPr/>
        </p:nvSpPr>
        <p:spPr bwMode="auto">
          <a:xfrm>
            <a:off x="3886200" y="1371600"/>
            <a:ext cx="44196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if 1</a:t>
            </a:r>
            <a:r>
              <a:rPr lang="en-US" sz="32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letter in a word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49" name="Text Box 113"/>
          <p:cNvSpPr txBox="1">
            <a:spLocks noChangeArrowheads="1"/>
          </p:cNvSpPr>
          <p:nvPr/>
        </p:nvSpPr>
        <p:spPr bwMode="auto">
          <a:xfrm>
            <a:off x="3886200" y="2286000"/>
            <a:ext cx="51816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 or between consonants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50" name="Text Box 114"/>
          <p:cNvSpPr txBox="1">
            <a:spLocks noChangeArrowheads="1"/>
          </p:cNvSpPr>
          <p:nvPr/>
        </p:nvSpPr>
        <p:spPr bwMode="auto">
          <a:xfrm>
            <a:off x="3886200" y="3276600"/>
            <a:ext cx="32004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next to a vowel)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1" name="Text Box 115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44852" name="Text Box 116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isi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3" name="Text Box 117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rwmi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4" name="Text Box 118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iom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5" name="Text Box 119"/>
          <p:cNvSpPr txBox="1">
            <a:spLocks noChangeArrowheads="1"/>
          </p:cNvSpPr>
          <p:nvPr/>
        </p:nvSpPr>
        <p:spPr bwMode="auto">
          <a:xfrm>
            <a:off x="6324600" y="4648200"/>
            <a:ext cx="19050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Icrayl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6" name="Text Box 120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niben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7" name="Text Box 121"/>
          <p:cNvSpPr txBox="1">
            <a:spLocks noChangeArrowheads="1"/>
          </p:cNvSpPr>
          <p:nvPr/>
        </p:nvSpPr>
        <p:spPr bwMode="auto">
          <a:xfrm>
            <a:off x="32766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8" name="Text Box 122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nai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0" name="Text Box 124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agioc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1" name="Text Box 125"/>
          <p:cNvSpPr txBox="1">
            <a:spLocks noChangeArrowheads="1"/>
          </p:cNvSpPr>
          <p:nvPr/>
        </p:nvSpPr>
        <p:spPr bwMode="auto">
          <a:xfrm>
            <a:off x="2362200" y="6156325"/>
            <a:ext cx="22098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`&lt;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rictoc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2" name="Text Box 126"/>
          <p:cNvSpPr txBox="1">
            <a:spLocks noChangeArrowheads="1"/>
          </p:cNvSpPr>
          <p:nvPr/>
        </p:nvSpPr>
        <p:spPr bwMode="auto">
          <a:xfrm>
            <a:off x="48006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ilewc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3" name="Text Box 127"/>
          <p:cNvSpPr txBox="1">
            <a:spLocks noChangeArrowheads="1"/>
          </p:cNvSpPr>
          <p:nvPr/>
        </p:nvSpPr>
        <p:spPr bwMode="auto">
          <a:xfrm>
            <a:off x="6705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Mari`a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4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838" grpId="0"/>
      <p:bldP spid="244839" grpId="0"/>
      <p:bldP spid="244840" grpId="0"/>
      <p:bldP spid="244848" grpId="0"/>
      <p:bldP spid="244850" grpId="0"/>
      <p:bldP spid="244851" grpId="0"/>
      <p:bldP spid="244852" grpId="0"/>
      <p:bldP spid="244854" grpId="0"/>
      <p:bldP spid="244857" grpId="0"/>
      <p:bldP spid="244858" grpId="0"/>
      <p:bldP spid="244860" grpId="0"/>
      <p:bldP spid="244861" grpId="0"/>
      <p:bldP spid="244862" grpId="0"/>
      <p:bldP spid="2448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Coptic Reading – Part 1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371600"/>
            <a:ext cx="5486400" cy="4911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Na  	ne  	ni  	no 	nw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Ma	me	mi	mo	mw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Ba	be	bi	bo	bw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Ka 	ke	ki	ko	kw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Ta 	te	ti	to	tw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Ca	ce	ci	co	cw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Za	ze	zi	zo	zw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]a	]e	]i	]o	]w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Coptic Reading – Part 2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an 	en  	yn   	in 	on 	wn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am	em	ym   	im	om	wm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ab	eb	yb   	ib	ob	wb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ak 	ek	yk 	ik	ok	wk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at 	et	yt	it	ot	wt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ac	ec	yc	ic	oc	wc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az	ez	yz   	iz	oz	wz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a]	e]	y]	i]	o]	w]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</a:t>
            </a:r>
            <a:r>
              <a:rPr lang="en-US" dirty="0" smtClean="0"/>
              <a:t>Reading – Part 3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,a  ,e  	,y   ,i  	,o 	,w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da	de	dy   di	do	dw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Ba	be	by    bi	bo	bw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ra 	re	ry    ri	ro	rw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Ta 	te	ty	ti	to	tw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Ca	ce	cy	ci	co	cw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Za	ze	zy   zi	zo	zw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a,  e,  	y,   i,  	o, 	w,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ad	ed	yd   id	od	wd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aB	eb	yb    ib	ob	wb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ar 	er	yr    ir	or	wr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am 	em	ym	im	om	wm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aC	ec	yc	ic	oc	wc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aZ	ez	yz   iz	oz	wz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,a  ,e  	,y   ,i  	,o 	,w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da	de	dy   di	do	dw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ja	je	jy    ji	jo	jw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ra 	re	ry    ri	ro	rw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sa 	se	sy	si	so	sw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qa	qe	qy	qi	qo	qw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ga	ge	gy   gi	go	gw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a, 	e,  	y,   i, 	o, 	w,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ad	ed	yd   id	od	wd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aj	ej	yj   ij	oj	wj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ar 	er	yr 	ir	or	wr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as 	es	ys	is	os	ws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aq	eq	yq	iq	oq	wq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ag	eg	yg   	ig	og	wg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va  ve  	vy   vi  	vo 	vw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pa	pe	py   pi	po	pw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ja	je	jy    ji	jo	jw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la 	le	ly    li	lo	lw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;a 	;e	;y	;i	;o	;w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[a	[e	[y	[i	[o	[w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'a	'e	'y   'i	'o	'w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a[ 	e[  	y[   i[ 	o[ 	w[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al	el	yl   il	ol	wl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av	ev	yv   iv	ov	wv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a; 	e;	y; 	i;	o;	w;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ap 	ep	yp	ip	op	wp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a'	e'	y'	i'	o'	w'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ag	eg	yg   	ig	og	wg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va  ve  	vy   vi  	vo 	vw	vou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xa	xe	xy   xi	xo	xw	xou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ja	je	jy    ji	jo	jw	jou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fa 	fe	fy    fi	fo	fw   fou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ha 	he	hy	hi	ho	hw	hou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[a	[e	[y	[i	[o	[w	[ou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'a	'e	'y   'i	'o	'w	'ou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a]	e]  	y]   i] 	o] 	w]	ou]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ax	ex	yx   ix	ox	wx	oux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av	ev	yv   iv	ov	wv	ouv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af 	ef	yf 	if	of	wf   ouf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ah 	eh	yh	ih	oh	wh	ouh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a'	e'	y'	i'	o'	w'	ou'</a:t>
            </a:r>
          </a:p>
          <a:p>
            <a:pPr marL="609600" indent="-609600"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600">
                <a:latin typeface="CS Avva Shenouda" pitchFamily="34" charset="0"/>
              </a:rPr>
              <a:t>aq	eq	yq   	iq	oq	wq	ouq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086600" cy="4911725"/>
          </a:xfrm>
        </p:spPr>
        <p:txBody>
          <a:bodyPr/>
          <a:lstStyle/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na 	ne	ni	no	nw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fa 	fe	fi	fo	fou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ra 	re	ri	ro	rw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ta 	te	ti	to	tou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ha 	he	hi	ho	hw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ja 	je	ji	jo	jw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naf 	neh	nit	noj	nwr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far 	fet	fin	foh	fwi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ran 	ref	rit	ror	rwf</a:t>
            </a:r>
          </a:p>
          <a:p>
            <a:pPr marL="1257300" lvl="1" indent="-533400">
              <a:lnSpc>
                <a:spcPct val="80000"/>
              </a:lnSpc>
              <a:buFont typeface="Wingdings" pitchFamily="2" charset="2"/>
              <a:buAutoNum type="arabicPeriod"/>
              <a:tabLst>
                <a:tab pos="1257300" algn="l"/>
                <a:tab pos="2286000" algn="l"/>
                <a:tab pos="3257550" algn="l"/>
                <a:tab pos="4114800" algn="l"/>
                <a:tab pos="5029200" algn="l"/>
                <a:tab pos="6000750" algn="l"/>
              </a:tabLst>
            </a:pPr>
            <a:r>
              <a:rPr lang="en-US" sz="3200">
                <a:latin typeface="CS Avva Shenouda" pitchFamily="34" charset="0"/>
              </a:rPr>
              <a:t>taj 	ten	tin	tor	tour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524000"/>
            <a:ext cx="8153400" cy="4495800"/>
          </a:xfrm>
        </p:spPr>
        <p:txBody>
          <a:bodyPr/>
          <a:lstStyle/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han 	hei	hin	hof	hwf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jaf 	jef	jij	jof	jwr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`nte  	nane 	`nje	`nran	`nta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`wou 	oui	rwou	jaji	taho 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`ew 	oou	hoou	hani	ou 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ouai 	ouoh 	jwou 	houi 	ou`w </a:t>
            </a:r>
          </a:p>
          <a:p>
            <a:pPr indent="-28575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nof 	jwr 	tote 	ioh 	`wou</a:t>
            </a:r>
            <a:r>
              <a:rPr lang="en-US" sz="4000">
                <a:latin typeface="CS Avva Shenouda" pitchFamily="34" charset="0"/>
              </a:rPr>
              <a:t/>
            </a:r>
            <a:br>
              <a:rPr lang="en-US" sz="4000">
                <a:latin typeface="CS Avva Shenouda" pitchFamily="34" charset="0"/>
              </a:rPr>
            </a:br>
            <a:endParaRPr lang="en-US" sz="480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0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/>
      <p:bldP spid="1300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8153400" cy="4419600"/>
          </a:xfrm>
        </p:spPr>
        <p:txBody>
          <a:bodyPr/>
          <a:lstStyle/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ai	ia	oi	io	iom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la	[i	[wm	pan	ran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cam	[ah	map	mar	jij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cat	fat	`sne	cen]	qer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qen	sai	pisai	swi	piswi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sep	syp	`fsyp	can	cyt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con	cwni	coni	pan	ran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ial	moi	amoi	iwt	cwma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jwr	jwri	`cnof	]`aco	]`pla</a:t>
            </a:r>
          </a:p>
          <a:p>
            <a:pPr marL="514350" indent="-4572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 sz="3600">
                <a:latin typeface="CS Avva Shenouda" pitchFamily="34" charset="0"/>
              </a:rPr>
              <a:t> qaq	qwq	ja[i	ren	maren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/>
      <p:bldP spid="13107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Coptic Reading – Part </a:t>
            </a:r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8153400" cy="4419600"/>
          </a:xfrm>
        </p:spPr>
        <p:txBody>
          <a:bodyPr/>
          <a:lstStyle/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Yi	you	nyou	hyt	sihyt</a:t>
            </a:r>
          </a:p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myt	my]	taio	`mmoc	cen]</a:t>
            </a:r>
          </a:p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Ou	mwou	erw]	oui	ouwm</a:t>
            </a:r>
          </a:p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Ser	sep	cap	car	carra</a:t>
            </a:r>
          </a:p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Ten	ten]	jwou	hwou	tyren</a:t>
            </a:r>
          </a:p>
          <a:p>
            <a:pPr marL="666750" indent="-609600">
              <a:lnSpc>
                <a:spcPct val="80000"/>
              </a:lnSpc>
              <a:buFont typeface="Wingdings" pitchFamily="2" charset="2"/>
              <a:buAutoNum type="arabicPeriod"/>
              <a:tabLst>
                <a:tab pos="457200" algn="l"/>
                <a:tab pos="1828800" algn="l"/>
                <a:tab pos="3200400" algn="l"/>
                <a:tab pos="4743450" algn="l"/>
                <a:tab pos="6172200" algn="l"/>
              </a:tabLst>
            </a:pPr>
            <a:r>
              <a:rPr lang="en-US">
                <a:latin typeface="CS Avva Shenouda" pitchFamily="34" charset="0"/>
              </a:rPr>
              <a:t>]mi	fwte	fw]	ejen	tyrou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  <p:bldP spid="13312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Reading Exercise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Practice the word </a:t>
            </a: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Piparaklyton</a:t>
            </a:r>
            <a:endParaRPr lang="en-US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</a:t>
            </a: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Pipa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Piparak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Piparakly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Piparaklyton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Piparaklyton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+mj-lt"/>
              </a:rPr>
              <a:t>=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+mj-lt"/>
              </a:rPr>
              <a:t>The comforter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Reading Exercise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Practice the word </a:t>
            </a: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pipethwou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=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The evil one</a:t>
            </a:r>
            <a:endParaRPr lang="en-US" sz="2800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</a:t>
            </a: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Pipe</a:t>
            </a: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Pipet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Pipethw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Pipethwou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Font typeface="Wingdings" pitchFamily="2" charset="2"/>
              <a:buChar char="v"/>
            </a:pPr>
            <a:r>
              <a:rPr lang="en-US" dirty="0" smtClean="0"/>
              <a:t>Practice the word </a:t>
            </a: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piracmoc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=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The temptation</a:t>
            </a:r>
            <a:endParaRPr lang="en-US" sz="2800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</a:t>
            </a: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Pirac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Piracmoc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Reading Exercise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715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Practice the word 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]</a:t>
            </a: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metouro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=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The kingdom</a:t>
            </a:r>
            <a:endParaRPr lang="en-US" sz="2800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]</a:t>
            </a: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]met</a:t>
            </a: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]</a:t>
            </a: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metou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]</a:t>
            </a: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metouro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Practice the word </a:t>
            </a:r>
            <a:r>
              <a:rPr lang="en-US" dirty="0" err="1" smtClean="0">
                <a:solidFill>
                  <a:srgbClr val="FF0000"/>
                </a:solidFill>
                <a:latin typeface="CS Avva Shenouda" pitchFamily="34" charset="0"/>
              </a:rPr>
              <a:t>Pi`,~rictoc</a:t>
            </a:r>
            <a:r>
              <a:rPr lang="en-US" dirty="0" smtClean="0">
                <a:solidFill>
                  <a:srgbClr val="FF0000"/>
                </a:solidFill>
                <a:latin typeface="CS Avva Shenouda" pitchFamily="34" charset="0"/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=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00B0F0"/>
                </a:solidFill>
              </a:rPr>
              <a:t>Christ</a:t>
            </a:r>
            <a:endParaRPr lang="en-US" sz="2800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</a:t>
            </a:r>
          </a:p>
          <a:p>
            <a:pPr algn="ctr">
              <a:buNone/>
            </a:pPr>
            <a:r>
              <a:rPr lang="en-US" dirty="0" smtClean="0">
                <a:solidFill>
                  <a:srgbClr val="FFFF00"/>
                </a:solidFill>
                <a:latin typeface="CS Avva Shenouda" pitchFamily="34" charset="0"/>
              </a:rPr>
              <a:t>Pi`,</a:t>
            </a: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Pi`,ric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r>
              <a:rPr lang="en-US" dirty="0" err="1" smtClean="0">
                <a:solidFill>
                  <a:srgbClr val="FFFF00"/>
                </a:solidFill>
                <a:latin typeface="CS Avva Shenouda" pitchFamily="34" charset="0"/>
              </a:rPr>
              <a:t>Pi`,rictoc</a:t>
            </a: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  <a:p>
            <a:pPr algn="ctr">
              <a:buNone/>
            </a:pPr>
            <a:endParaRPr lang="en-US" dirty="0" smtClean="0">
              <a:solidFill>
                <a:srgbClr val="FFFF00"/>
              </a:solidFill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piAlva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piW</a:t>
            </a:r>
            <a:r>
              <a:rPr lang="en-US" dirty="0" smtClean="0">
                <a:latin typeface="CS Avva Shenouda" pitchFamily="34" charset="0"/>
              </a:rPr>
              <a:t> ]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pijwk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ebol</a:t>
            </a:r>
            <a:r>
              <a:rPr lang="en-US" dirty="0" smtClean="0">
                <a:latin typeface="CS Avva Shenouda" pitchFamily="34" charset="0"/>
              </a:rPr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"I am the Alpha and the Omega, the Beginning and the End." (Rev 1:8)</a:t>
            </a:r>
          </a:p>
          <a:p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piwik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pwnq</a:t>
            </a:r>
            <a:r>
              <a:rPr lang="en-US" dirty="0" smtClean="0">
                <a:latin typeface="CS Avva Shenouda" pitchFamily="34" charset="0"/>
              </a:rPr>
              <a:t>.</a:t>
            </a:r>
            <a:br>
              <a:rPr lang="en-US" dirty="0" smtClean="0">
                <a:latin typeface="CS Avva Shenouda" pitchFamily="34" charset="0"/>
              </a:rPr>
            </a:br>
            <a:r>
              <a:rPr lang="en-US" sz="2800" dirty="0" smtClean="0">
                <a:solidFill>
                  <a:srgbClr val="FFCC00"/>
                </a:solidFill>
              </a:rPr>
              <a:t>"I am the Bread of life." (</a:t>
            </a:r>
            <a:r>
              <a:rPr lang="en-US" sz="2800" dirty="0" err="1" smtClean="0">
                <a:solidFill>
                  <a:srgbClr val="FFCC00"/>
                </a:solidFill>
              </a:rPr>
              <a:t>Jn</a:t>
            </a:r>
            <a:r>
              <a:rPr lang="en-US" sz="2800" dirty="0" smtClean="0">
                <a:solidFill>
                  <a:srgbClr val="FFCC00"/>
                </a:solidFill>
              </a:rPr>
              <a:t> 6:35)</a:t>
            </a:r>
          </a:p>
          <a:p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vouwini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mpikocmoc</a:t>
            </a:r>
            <a:r>
              <a:rPr lang="en-US" dirty="0" smtClean="0">
                <a:latin typeface="CS Avva Shenouda" pitchFamily="34" charset="0"/>
              </a:rPr>
              <a:t>.</a:t>
            </a:r>
            <a:br>
              <a:rPr lang="en-US" dirty="0" smtClean="0">
                <a:latin typeface="CS Avva Shenouda" pitchFamily="34" charset="0"/>
              </a:rPr>
            </a:br>
            <a:r>
              <a:rPr lang="en-US" sz="2800" dirty="0" smtClean="0">
                <a:solidFill>
                  <a:srgbClr val="FFCC00"/>
                </a:solidFill>
              </a:rPr>
              <a:t>"I am the light of the world." (</a:t>
            </a:r>
            <a:r>
              <a:rPr lang="en-US" sz="2800" dirty="0" err="1" smtClean="0">
                <a:solidFill>
                  <a:srgbClr val="FFCC00"/>
                </a:solidFill>
              </a:rPr>
              <a:t>Jn</a:t>
            </a:r>
            <a:r>
              <a:rPr lang="en-US" sz="2800" dirty="0" smtClean="0">
                <a:solidFill>
                  <a:srgbClr val="FFCC00"/>
                </a:solidFill>
              </a:rPr>
              <a:t> 8:12)</a:t>
            </a:r>
          </a:p>
          <a:p>
            <a:r>
              <a:rPr lang="en-US" dirty="0" smtClean="0">
                <a:latin typeface="CS Avva Shenouda" pitchFamily="34" charset="0"/>
              </a:rPr>
              <a:t>Matai `</a:t>
            </a:r>
            <a:r>
              <a:rPr lang="en-US" dirty="0" err="1" smtClean="0">
                <a:latin typeface="CS Avva Shenouda" pitchFamily="34" charset="0"/>
              </a:rPr>
              <a:t>epekiwt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tekmau</a:t>
            </a:r>
            <a:r>
              <a:rPr lang="en-US" dirty="0" smtClean="0">
                <a:latin typeface="CS Avva Shenouda" pitchFamily="34" charset="0"/>
              </a:rPr>
              <a:t>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>
                <a:solidFill>
                  <a:srgbClr val="FFCC00"/>
                </a:solidFill>
              </a:rPr>
              <a:t>"Honor your father and your mother." (Eph 6:2)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err="1" smtClean="0">
                <a:latin typeface="CS Avva Shenouda" pitchFamily="34" charset="0"/>
              </a:rPr>
              <a:t>Menre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teten`eryou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Love one another. (I Pet 1:22)</a:t>
            </a:r>
          </a:p>
          <a:p>
            <a:r>
              <a:rPr lang="en-US" dirty="0" err="1" smtClean="0">
                <a:latin typeface="CS Avva Shenouda" pitchFamily="34" charset="0"/>
              </a:rPr>
              <a:t>Mosi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Pi`pneuma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Walk in the Spirit. (Gal 5:16)</a:t>
            </a:r>
          </a:p>
          <a:p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Mpererho</a:t>
            </a:r>
            <a:r>
              <a:rPr lang="en-US" dirty="0" smtClean="0">
                <a:latin typeface="CS Avva Shenouda" pitchFamily="34" charset="0"/>
              </a:rPr>
              <a:t>] ],y gar </a:t>
            </a:r>
            <a:r>
              <a:rPr lang="en-US" dirty="0" err="1" smtClean="0">
                <a:latin typeface="CS Avva Shenouda" pitchFamily="34" charset="0"/>
              </a:rPr>
              <a:t>nemak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Fear not, for I am with you. (Isa 41:10)</a:t>
            </a:r>
          </a:p>
          <a:p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Mpermenre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Do not love the world. (I </a:t>
            </a:r>
            <a:r>
              <a:rPr lang="en-US" sz="2400" dirty="0" err="1" smtClean="0">
                <a:solidFill>
                  <a:srgbClr val="FFCC00"/>
                </a:solidFill>
              </a:rPr>
              <a:t>Jn</a:t>
            </a:r>
            <a:r>
              <a:rPr lang="en-US" sz="2400" dirty="0" smtClean="0">
                <a:solidFill>
                  <a:srgbClr val="FFCC00"/>
                </a:solidFill>
              </a:rPr>
              <a:t> 2:15)</a:t>
            </a:r>
          </a:p>
          <a:p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Pqybc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mpicwma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pibal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The lamp of the body is the eye. (Matt 6:22)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err="1" smtClean="0">
                <a:latin typeface="CS Avva Shenouda" pitchFamily="34" charset="0"/>
              </a:rPr>
              <a:t>Rasi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ncyou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niben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Rejoice in the Lord always. (Phil 4:4)</a:t>
            </a:r>
          </a:p>
          <a:p>
            <a:r>
              <a:rPr lang="en-US" dirty="0" err="1" smtClean="0">
                <a:latin typeface="CS Avva Shenouda" pitchFamily="34" charset="0"/>
              </a:rPr>
              <a:t>Twbh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ejen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neten`eryou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Pray for one another. (</a:t>
            </a:r>
            <a:r>
              <a:rPr lang="en-US" sz="2400" dirty="0" err="1" smtClean="0">
                <a:solidFill>
                  <a:srgbClr val="FFCC00"/>
                </a:solidFill>
              </a:rPr>
              <a:t>Jm</a:t>
            </a:r>
            <a:r>
              <a:rPr lang="en-US" sz="2400" dirty="0" smtClean="0">
                <a:solidFill>
                  <a:srgbClr val="FFCC00"/>
                </a:solidFill>
              </a:rPr>
              <a:t> 5:16)</a:t>
            </a:r>
          </a:p>
          <a:p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ouagapy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God is love. (I </a:t>
            </a:r>
            <a:r>
              <a:rPr lang="en-US" sz="2400" dirty="0" err="1" smtClean="0">
                <a:solidFill>
                  <a:srgbClr val="FFCC00"/>
                </a:solidFill>
              </a:rPr>
              <a:t>Jn</a:t>
            </a:r>
            <a:r>
              <a:rPr lang="en-US" sz="2400" dirty="0" smtClean="0">
                <a:solidFill>
                  <a:srgbClr val="FFCC00"/>
                </a:solidFill>
              </a:rPr>
              <a:t> 4:16)</a:t>
            </a:r>
          </a:p>
          <a:p>
            <a:r>
              <a:rPr lang="en-US" dirty="0" err="1" smtClean="0">
                <a:latin typeface="CS Avva Shenouda" pitchFamily="34" charset="0"/>
              </a:rPr>
              <a:t>Jemnom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ai</a:t>
            </a:r>
            <a:r>
              <a:rPr lang="en-US" dirty="0" smtClean="0">
                <a:latin typeface="CS Avva Shenouda" pitchFamily="34" charset="0"/>
              </a:rPr>
              <a:t>[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Be of good cheer, I have overcome the world. (</a:t>
            </a:r>
            <a:r>
              <a:rPr lang="en-US" sz="2400" dirty="0" err="1" smtClean="0">
                <a:solidFill>
                  <a:srgbClr val="FFCC00"/>
                </a:solidFill>
              </a:rPr>
              <a:t>Jn</a:t>
            </a:r>
            <a:r>
              <a:rPr lang="en-US" sz="2400" dirty="0" smtClean="0">
                <a:solidFill>
                  <a:srgbClr val="FFCC00"/>
                </a:solidFill>
              </a:rPr>
              <a:t> 16:33)</a:t>
            </a:r>
          </a:p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`n]</a:t>
            </a:r>
            <a:r>
              <a:rPr lang="en-US" dirty="0" err="1" smtClean="0">
                <a:latin typeface="CS Avva Shenouda" pitchFamily="34" charset="0"/>
              </a:rPr>
              <a:t>covia</a:t>
            </a:r>
            <a:r>
              <a:rPr lang="en-US" dirty="0" smtClean="0">
                <a:latin typeface="CS Avva Shenouda" pitchFamily="34" charset="0"/>
              </a:rPr>
              <a:t> ]ho]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648200"/>
          </a:xfrm>
        </p:spPr>
        <p:txBody>
          <a:bodyPr/>
          <a:lstStyle/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`n]</a:t>
            </a:r>
            <a:r>
              <a:rPr lang="en-US" dirty="0" err="1" smtClean="0">
                <a:latin typeface="CS Avva Shenouda" pitchFamily="34" charset="0"/>
              </a:rPr>
              <a:t>covia</a:t>
            </a:r>
            <a:r>
              <a:rPr lang="en-US" dirty="0" smtClean="0">
                <a:latin typeface="CS Avva Shenouda" pitchFamily="34" charset="0"/>
              </a:rPr>
              <a:t> ]ho]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The fear of the Lord is the beginning of wisdom. (Ps 110:10)</a:t>
            </a:r>
          </a:p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na,w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ntahiryny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nwten</a:t>
            </a:r>
            <a:r>
              <a:rPr lang="en-US" dirty="0" smtClean="0">
                <a:latin typeface="CS Avva Shenouda" pitchFamily="34" charset="0"/>
              </a:rPr>
              <a:t>@ </a:t>
            </a:r>
            <a:r>
              <a:rPr lang="en-US" dirty="0" err="1" smtClean="0">
                <a:latin typeface="CS Avva Shenouda" pitchFamily="34" charset="0"/>
              </a:rPr>
              <a:t>tahiryny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]</a:t>
            </a:r>
            <a:r>
              <a:rPr lang="en-US" dirty="0" err="1" smtClean="0">
                <a:latin typeface="CS Avva Shenouda" pitchFamily="34" charset="0"/>
              </a:rPr>
              <a:t>natyic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nwtem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Peace I leave with you, My peace I give to you. (</a:t>
            </a:r>
            <a:r>
              <a:rPr lang="en-US" sz="2400" dirty="0" err="1" smtClean="0">
                <a:solidFill>
                  <a:srgbClr val="FFCC00"/>
                </a:solidFill>
              </a:rPr>
              <a:t>Jn</a:t>
            </a:r>
            <a:r>
              <a:rPr lang="en-US" sz="2400" dirty="0" smtClean="0">
                <a:solidFill>
                  <a:srgbClr val="FFCC00"/>
                </a:solidFill>
              </a:rPr>
              <a:t> 14:27)</a:t>
            </a:r>
          </a:p>
          <a:p>
            <a:r>
              <a:rPr lang="en-US" dirty="0" err="1" smtClean="0">
                <a:latin typeface="CS Avva Shenouda" pitchFamily="34" charset="0"/>
              </a:rPr>
              <a:t>Pinah</a:t>
            </a:r>
            <a:r>
              <a:rPr lang="en-US" dirty="0" smtClean="0">
                <a:latin typeface="CS Avva Shenouda" pitchFamily="34" charset="0"/>
              </a:rPr>
              <a:t>] ,</a:t>
            </a:r>
            <a:r>
              <a:rPr lang="en-US" dirty="0" err="1" smtClean="0">
                <a:latin typeface="CS Avva Shenouda" pitchFamily="34" charset="0"/>
              </a:rPr>
              <a:t>wric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ni`hbyou`i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fmwout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Faith without works is dead. (James 2:20)</a:t>
            </a:r>
          </a:p>
          <a:p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Eaukec</a:t>
            </a:r>
            <a:r>
              <a:rPr lang="en-US" dirty="0" smtClean="0">
                <a:latin typeface="CS Avva Shenouda" pitchFamily="34" charset="0"/>
              </a:rPr>
              <a:t> ;</a:t>
            </a:r>
            <a:r>
              <a:rPr lang="en-US" dirty="0" err="1" smtClean="0">
                <a:latin typeface="CS Avva Shenouda" pitchFamily="34" charset="0"/>
              </a:rPr>
              <a:t>ynou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nemaf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piwmc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FFCC00"/>
                </a:solidFill>
              </a:rPr>
              <a:t>Buried with Him in baptism. (Col 2:12)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89213" y="274638"/>
            <a:ext cx="3892550" cy="534987"/>
          </a:xfrm>
          <a:noFill/>
        </p:spPr>
        <p:txBody>
          <a:bodyPr/>
          <a:lstStyle/>
          <a:p>
            <a:r>
              <a:rPr lang="en-US" sz="2800"/>
              <a:t>Coptic Alphabets</a:t>
            </a:r>
          </a:p>
        </p:txBody>
      </p:sp>
      <p:pic>
        <p:nvPicPr>
          <p:cNvPr id="44035" name="Picture 3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3352800"/>
            <a:ext cx="7772400" cy="1508125"/>
          </a:xfrm>
        </p:spPr>
        <p:txBody>
          <a:bodyPr/>
          <a:lstStyle/>
          <a:p>
            <a:r>
              <a:rPr lang="en-US">
                <a:latin typeface="CS Avva Shenouda" pitchFamily="34" charset="0"/>
              </a:rPr>
              <a:t>Oujai qen `P[oic</a:t>
            </a:r>
          </a:p>
        </p:txBody>
      </p:sp>
      <p:pic>
        <p:nvPicPr>
          <p:cNvPr id="27654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1600200"/>
            <a:ext cx="1543050" cy="12858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788</TotalTime>
  <Words>327</Words>
  <Application>Microsoft Office PowerPoint</Application>
  <PresentationFormat>On-screen Show (4:3)</PresentationFormat>
  <Paragraphs>221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Stream</vt:lpstr>
      <vt:lpstr>Coptic Lesson 6</vt:lpstr>
      <vt:lpstr>Coptic Alphabets</vt:lpstr>
      <vt:lpstr>Review Questions</vt:lpstr>
      <vt:lpstr>Rule for the Iota i: </vt:lpstr>
      <vt:lpstr>Coptic Reading – Part 1</vt:lpstr>
      <vt:lpstr>Coptic Reading – Part 2</vt:lpstr>
      <vt:lpstr>Coptic Reading – Part 3</vt:lpstr>
      <vt:lpstr>Coptic Reading – Part 4</vt:lpstr>
      <vt:lpstr>Coptic Reading – Part 5</vt:lpstr>
      <vt:lpstr>Coptic Reading – Part 6</vt:lpstr>
      <vt:lpstr>Coptic Reading – Part 7</vt:lpstr>
      <vt:lpstr>Coptic Reading – Part 8</vt:lpstr>
      <vt:lpstr>Coptic Reading – Part 9</vt:lpstr>
      <vt:lpstr>Coptic Reading – Part 10</vt:lpstr>
      <vt:lpstr>Coptic Reading – Part 11</vt:lpstr>
      <vt:lpstr>Coptic Reading – Part 12</vt:lpstr>
      <vt:lpstr>Coptic Reading – Part 13</vt:lpstr>
      <vt:lpstr>Coptic Reading – Part 14</vt:lpstr>
      <vt:lpstr>Reading Exercise</vt:lpstr>
      <vt:lpstr>Reading Exercise</vt:lpstr>
      <vt:lpstr>Reading Exercise</vt:lpstr>
      <vt:lpstr>Coptic Bible Verses</vt:lpstr>
      <vt:lpstr>Coptic Bible Verses – Part 2</vt:lpstr>
      <vt:lpstr>Coptic Bible Verses – Part 3</vt:lpstr>
      <vt:lpstr>Coptic Bible Verses – Part 4</vt:lpstr>
      <vt:lpstr>Coptic Alphabets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Ossama Ekladious</cp:lastModifiedBy>
  <cp:revision>119</cp:revision>
  <dcterms:created xsi:type="dcterms:W3CDTF">2014-03-29T18:43:12Z</dcterms:created>
  <dcterms:modified xsi:type="dcterms:W3CDTF">2018-02-28T15:54:13Z</dcterms:modified>
</cp:coreProperties>
</file>