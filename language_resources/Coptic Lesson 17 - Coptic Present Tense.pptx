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65" r:id="rId1"/>
  </p:sldMasterIdLst>
  <p:notesMasterIdLst>
    <p:notesMasterId r:id="rId16"/>
  </p:notesMasterIdLst>
  <p:sldIdLst>
    <p:sldId id="256" r:id="rId2"/>
    <p:sldId id="269" r:id="rId3"/>
    <p:sldId id="296" r:id="rId4"/>
    <p:sldId id="397" r:id="rId5"/>
    <p:sldId id="398" r:id="rId6"/>
    <p:sldId id="395" r:id="rId7"/>
    <p:sldId id="387" r:id="rId8"/>
    <p:sldId id="355" r:id="rId9"/>
    <p:sldId id="350" r:id="rId10"/>
    <p:sldId id="394" r:id="rId11"/>
    <p:sldId id="361" r:id="rId12"/>
    <p:sldId id="392" r:id="rId13"/>
    <p:sldId id="272" r:id="rId14"/>
    <p:sldId id="268" r:id="rId15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5pPr>
    <a:lvl6pPr marL="22860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6pPr>
    <a:lvl7pPr marL="27432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7pPr>
    <a:lvl8pPr marL="32004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8pPr>
    <a:lvl9pPr marL="36576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CC3300"/>
    <a:srgbClr val="99003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8383" autoAdjust="0"/>
    <p:restoredTop sz="94624" autoAdjust="0"/>
  </p:normalViewPr>
  <p:slideViewPr>
    <p:cSldViewPr>
      <p:cViewPr varScale="1">
        <p:scale>
          <a:sx n="133" d="100"/>
          <a:sy n="133" d="100"/>
        </p:scale>
        <p:origin x="-2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81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fld id="{5FAD8348-8BBD-40CC-ACD4-38785057F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701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AD8348-8BBD-40CC-ACD4-38785057F3D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verEmbos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6012" y="1904999"/>
            <a:ext cx="6938963" cy="1582271"/>
          </a:xfrm>
        </p:spPr>
        <p:txBody>
          <a:bodyPr anchor="b" anchorCtr="0"/>
          <a:lstStyle>
            <a:lvl1pPr>
              <a:lnSpc>
                <a:spcPct val="95000"/>
              </a:lnSpc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013" y="3487271"/>
            <a:ext cx="6938961" cy="1143000"/>
          </a:xfrm>
        </p:spPr>
        <p:txBody>
          <a:bodyPr/>
          <a:lstStyle>
            <a:lvl1pPr marL="0" indent="0" algn="ctr">
              <a:spcBef>
                <a:spcPts val="300"/>
              </a:spcBef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07741" y="5715000"/>
            <a:ext cx="21336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2659" y="5715000"/>
            <a:ext cx="28956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5715000"/>
            <a:ext cx="4572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2D57B0AA-AC8E-4463-ADAC-E87D09B82E4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coverAccentBottom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4400" y="4686766"/>
            <a:ext cx="7315200" cy="400705"/>
          </a:xfrm>
          <a:prstGeom prst="rect">
            <a:avLst/>
          </a:prstGeom>
        </p:spPr>
      </p:pic>
      <p:pic>
        <p:nvPicPr>
          <p:cNvPr id="10" name="Picture 9" descr="coverAccentTop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14400" y="1619136"/>
            <a:ext cx="7315200" cy="391386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3CC25E-5E07-488B-A3AA-CD3E432910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2" descr="pageAccent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313" y="1689847"/>
            <a:ext cx="7953375" cy="3048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verEmbos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2519" y="4038600"/>
            <a:ext cx="6938963" cy="1174376"/>
          </a:xfrm>
        </p:spPr>
        <p:txBody>
          <a:bodyPr anchor="b" anchorCtr="0">
            <a:noAutofit/>
          </a:bodyPr>
          <a:lstStyle>
            <a:lvl1pPr>
              <a:lnSpc>
                <a:spcPct val="95000"/>
              </a:lnSpc>
              <a:defRPr sz="5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2520" y="5212977"/>
            <a:ext cx="6938961" cy="77544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07741" y="6214969"/>
            <a:ext cx="21336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2659" y="6214969"/>
            <a:ext cx="28956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6214969"/>
            <a:ext cx="4572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" name="Picture 8" descr="coverAccentBottom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4400" y="3915801"/>
            <a:ext cx="7315200" cy="400705"/>
          </a:xfrm>
          <a:prstGeom prst="rect">
            <a:avLst/>
          </a:prstGeom>
        </p:spPr>
      </p:pic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>
          <a:xfrm>
            <a:off x="1188720" y="1004455"/>
            <a:ext cx="6766560" cy="2729345"/>
          </a:xfrm>
          <a:solidFill>
            <a:schemeClr val="bg2"/>
          </a:solidFill>
          <a:ln w="127000">
            <a:solidFill>
              <a:schemeClr val="tx1"/>
            </a:solidFill>
            <a:miter lim="800000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012" y="1904998"/>
            <a:ext cx="6938964" cy="1582271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012" y="3487271"/>
            <a:ext cx="6938960" cy="11430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SzPct val="100000"/>
              <a:buFont typeface="Wingdings" pitchFamily="2" charset="2"/>
              <a:buNone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52113A-07F2-427F-A786-16A0434B76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26" name="Picture 2" descr="SectionAccentTo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618488"/>
            <a:ext cx="7315200" cy="356382"/>
          </a:xfrm>
          <a:prstGeom prst="rect">
            <a:avLst/>
          </a:prstGeom>
          <a:noFill/>
        </p:spPr>
      </p:pic>
      <p:pic>
        <p:nvPicPr>
          <p:cNvPr id="1027" name="Picture 3" descr="SectionAccentBottom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4690872"/>
            <a:ext cx="7315200" cy="35638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pageAccent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313" y="1689847"/>
            <a:ext cx="7953375" cy="304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84293"/>
            <a:ext cx="3429000" cy="3639312"/>
          </a:xfrm>
        </p:spPr>
        <p:txBody>
          <a:bodyPr>
            <a:normAutofit/>
          </a:bodyPr>
          <a:lstStyle>
            <a:lvl1pPr marL="282575" indent="-282575">
              <a:defRPr sz="2000"/>
            </a:lvl1pPr>
            <a:lvl2pPr marL="573088" indent="-282575">
              <a:defRPr sz="1800"/>
            </a:lvl2pPr>
            <a:lvl3pPr marL="855663" indent="-282575">
              <a:defRPr sz="1800"/>
            </a:lvl3pPr>
            <a:lvl4pPr marL="1146175" indent="-282575">
              <a:defRPr sz="1800"/>
            </a:lvl4pPr>
            <a:lvl5pPr marL="1430338" indent="-282575">
              <a:defRPr sz="1800"/>
            </a:lvl5pPr>
            <a:lvl6pPr marL="1712913" indent="-282575">
              <a:defRPr sz="1800"/>
            </a:lvl6pPr>
            <a:lvl7pPr marL="2003425" indent="-282575">
              <a:defRPr sz="1800"/>
            </a:lvl7pPr>
            <a:lvl8pPr marL="2286000" indent="-282575">
              <a:defRPr sz="1800"/>
            </a:lvl8pPr>
            <a:lvl9pPr marL="2568575" indent="-282575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6106" y="2084293"/>
            <a:ext cx="3429000" cy="3639312"/>
          </a:xfrm>
        </p:spPr>
        <p:txBody>
          <a:bodyPr>
            <a:normAutofit/>
          </a:bodyPr>
          <a:lstStyle>
            <a:lvl1pPr marL="282575" indent="-282575">
              <a:defRPr sz="2000"/>
            </a:lvl1pPr>
            <a:lvl2pPr marL="573088" indent="-282575">
              <a:defRPr sz="1800"/>
            </a:lvl2pPr>
            <a:lvl3pPr marL="855663" indent="-282575">
              <a:defRPr sz="1800"/>
            </a:lvl3pPr>
            <a:lvl4pPr marL="1146175" indent="-282575">
              <a:defRPr sz="1800"/>
            </a:lvl4pPr>
            <a:lvl5pPr marL="1430338" indent="-282575">
              <a:defRPr sz="1800"/>
            </a:lvl5pPr>
            <a:lvl6pPr marL="1712913" indent="-282575">
              <a:defRPr sz="1800"/>
            </a:lvl6pPr>
            <a:lvl7pPr marL="2005013" indent="-282575">
              <a:defRPr sz="1800"/>
            </a:lvl7pPr>
            <a:lvl8pPr marL="2287588" indent="-282575">
              <a:defRPr sz="1800"/>
            </a:lvl8pPr>
            <a:lvl9pPr marL="2568575" indent="-280988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0C8791-A3C4-4C63-BA3C-5B205951B4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pageAccent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313" y="1689847"/>
            <a:ext cx="7953375" cy="304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1100" y="1839913"/>
            <a:ext cx="2743200" cy="903287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971800"/>
            <a:ext cx="3429000" cy="2751804"/>
          </a:xfrm>
        </p:spPr>
        <p:txBody>
          <a:bodyPr>
            <a:normAutofit/>
          </a:bodyPr>
          <a:lstStyle>
            <a:lvl1pPr marL="282575" indent="-282575">
              <a:defRPr sz="1800"/>
            </a:lvl1pPr>
            <a:lvl2pPr marL="573088" indent="-282575">
              <a:defRPr sz="1800"/>
            </a:lvl2pPr>
            <a:lvl3pPr marL="855663" indent="-282575">
              <a:defRPr sz="1800"/>
            </a:lvl3pPr>
            <a:lvl4pPr marL="1146175" indent="-282575">
              <a:defRPr sz="1800"/>
            </a:lvl4pPr>
            <a:lvl5pPr marL="1430338" indent="-284163">
              <a:defRPr sz="1800"/>
            </a:lvl5pPr>
            <a:lvl6pPr marL="1712913" indent="-282575">
              <a:defRPr sz="1600"/>
            </a:lvl6pPr>
            <a:lvl7pPr marL="2003425" indent="-282575">
              <a:defRPr sz="1600"/>
            </a:lvl7pPr>
            <a:lvl8pPr marL="2286000" indent="-282575">
              <a:defRPr sz="1600"/>
            </a:lvl8pPr>
            <a:lvl9pPr marL="2568575" indent="-282575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69006" y="1839913"/>
            <a:ext cx="2743200" cy="903287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6106" y="2971800"/>
            <a:ext cx="3429000" cy="2751804"/>
          </a:xfrm>
        </p:spPr>
        <p:txBody>
          <a:bodyPr>
            <a:normAutofit/>
          </a:bodyPr>
          <a:lstStyle>
            <a:lvl1pPr marL="282575" indent="-282575">
              <a:defRPr sz="1800"/>
            </a:lvl1pPr>
            <a:lvl2pPr marL="573088" indent="-282575">
              <a:defRPr sz="1800"/>
            </a:lvl2pPr>
            <a:lvl3pPr marL="855663" indent="-282575">
              <a:defRPr sz="1800"/>
            </a:lvl3pPr>
            <a:lvl4pPr marL="1146175" indent="-282575">
              <a:defRPr sz="1800"/>
            </a:lvl4pPr>
            <a:lvl5pPr marL="1430338" indent="-282575">
              <a:defRPr sz="1800"/>
            </a:lvl5pPr>
            <a:lvl6pPr marL="1712913" indent="-282575">
              <a:defRPr sz="1600"/>
            </a:lvl6pPr>
            <a:lvl7pPr marL="2003425" indent="-282575">
              <a:defRPr sz="1600"/>
            </a:lvl7pPr>
            <a:lvl8pPr marL="2286000" indent="-282575">
              <a:defRPr sz="1600"/>
            </a:lvl8pPr>
            <a:lvl9pPr marL="2568575" indent="-282575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79BD3-2A51-40DD-9928-2FEE22DFEEF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050" name="Picture 2" descr="comparisonRul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7775" y="2686050"/>
            <a:ext cx="2609850" cy="133350"/>
          </a:xfrm>
          <a:prstGeom prst="rect">
            <a:avLst/>
          </a:prstGeom>
          <a:noFill/>
        </p:spPr>
      </p:pic>
      <p:pic>
        <p:nvPicPr>
          <p:cNvPr id="12" name="Picture 2" descr="comparisonRul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5681" y="2686050"/>
            <a:ext cx="2609850" cy="13335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pageAccent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313" y="1689847"/>
            <a:ext cx="7953375" cy="304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A874E8-E911-4CA4-B27C-5F8AA24550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E8DBEE-AB55-4A2D-87EB-F169B9842F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00"/>
            <a:ext cx="3429000" cy="1371600"/>
          </a:xfrm>
        </p:spPr>
        <p:txBody>
          <a:bodyPr anchor="b">
            <a:noAutofit/>
          </a:bodyPr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106" y="914400"/>
            <a:ext cx="3429000" cy="4815841"/>
          </a:xfrm>
        </p:spPr>
        <p:txBody>
          <a:bodyPr>
            <a:normAutofit/>
          </a:bodyPr>
          <a:lstStyle>
            <a:lvl1pPr marL="341313" indent="-341313">
              <a:defRPr sz="2200"/>
            </a:lvl1pPr>
            <a:lvl2pPr marL="631825" indent="-284163">
              <a:defRPr sz="2000"/>
            </a:lvl2pPr>
            <a:lvl3pPr marL="914400" indent="-284163">
              <a:defRPr sz="1800"/>
            </a:lvl3pPr>
            <a:lvl4pPr marL="1196975" indent="-284163">
              <a:defRPr sz="1800"/>
            </a:lvl4pPr>
            <a:lvl5pPr marL="1487488" indent="-284163">
              <a:defRPr sz="1800"/>
            </a:lvl5pPr>
            <a:lvl6pPr marL="1770063" indent="-284163">
              <a:defRPr sz="1800"/>
            </a:lvl6pPr>
            <a:lvl7pPr marL="2060575" indent="-284163">
              <a:defRPr sz="1800"/>
            </a:lvl7pPr>
            <a:lvl8pPr marL="2344738" indent="-284163">
              <a:defRPr sz="1800"/>
            </a:lvl8pPr>
            <a:lvl9pPr marL="2627313" indent="-284163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667001"/>
            <a:ext cx="3429000" cy="2895600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422EC5-2D12-487C-A09A-C8B1BB55B1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3074" name="Picture 2" descr="captionAccen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326341"/>
            <a:ext cx="3429000" cy="24030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scrollwork-To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4754083" y="673398"/>
            <a:ext cx="742950" cy="361950"/>
          </a:xfrm>
          <a:prstGeom prst="rect">
            <a:avLst/>
          </a:prstGeom>
          <a:noFill/>
        </p:spPr>
      </p:pic>
      <p:pic>
        <p:nvPicPr>
          <p:cNvPr id="15" name="Picture 3" descr="scrollwork-Bottom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4754083" y="5636584"/>
            <a:ext cx="742950" cy="361950"/>
          </a:xfrm>
          <a:prstGeom prst="rect">
            <a:avLst/>
          </a:prstGeom>
          <a:noFill/>
        </p:spPr>
      </p:pic>
      <p:pic>
        <p:nvPicPr>
          <p:cNvPr id="4099" name="Picture 3" descr="scrollwork-Bottom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74169" y="5636584"/>
            <a:ext cx="742950" cy="361950"/>
          </a:xfrm>
          <a:prstGeom prst="rect">
            <a:avLst/>
          </a:prstGeom>
          <a:noFill/>
        </p:spPr>
      </p:pic>
      <p:pic>
        <p:nvPicPr>
          <p:cNvPr id="4098" name="Picture 2" descr="scrollwork-To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74169" y="673398"/>
            <a:ext cx="742950" cy="3619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00"/>
            <a:ext cx="3429000" cy="1371600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81121" y="914400"/>
            <a:ext cx="3108960" cy="4815841"/>
          </a:xfrm>
          <a:solidFill>
            <a:schemeClr val="bg2"/>
          </a:solidFill>
          <a:ln w="127000">
            <a:solidFill>
              <a:schemeClr val="bg1"/>
            </a:solidFill>
            <a:miter lim="800000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667001"/>
            <a:ext cx="3429000" cy="2895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500"/>
              </a:spcBef>
              <a:buNone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buSzPct val="100000"/>
              <a:buFont typeface="Wingdings" pitchFamily="2" charset="2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13281D-6E33-4ACB-816C-920381DD99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2" descr="captionAccent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2326341"/>
            <a:ext cx="3429000" cy="24030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scrollwork-To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1752600" y="565897"/>
            <a:ext cx="742950" cy="361950"/>
          </a:xfrm>
          <a:prstGeom prst="rect">
            <a:avLst/>
          </a:prstGeom>
          <a:noFill/>
        </p:spPr>
      </p:pic>
      <p:pic>
        <p:nvPicPr>
          <p:cNvPr id="15" name="Picture 3" descr="scrollwork-Bottom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1752600" y="4128247"/>
            <a:ext cx="742950" cy="361950"/>
          </a:xfrm>
          <a:prstGeom prst="rect">
            <a:avLst/>
          </a:prstGeom>
          <a:noFill/>
        </p:spPr>
      </p:pic>
      <p:pic>
        <p:nvPicPr>
          <p:cNvPr id="4099" name="Picture 3" descr="scrollwork-Bottom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48450" y="4128247"/>
            <a:ext cx="742950" cy="361950"/>
          </a:xfrm>
          <a:prstGeom prst="rect">
            <a:avLst/>
          </a:prstGeom>
          <a:noFill/>
        </p:spPr>
      </p:pic>
      <p:pic>
        <p:nvPicPr>
          <p:cNvPr id="4098" name="Picture 2" descr="scrollwork-To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48450" y="565897"/>
            <a:ext cx="742950" cy="3619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4406153"/>
            <a:ext cx="6583680" cy="784412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0" y="780826"/>
            <a:ext cx="4572000" cy="3467548"/>
          </a:xfrm>
          <a:solidFill>
            <a:schemeClr val="bg2"/>
          </a:solidFill>
          <a:ln w="127000">
            <a:solidFill>
              <a:schemeClr val="bg1"/>
            </a:solidFill>
            <a:miter lim="800000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5446059"/>
            <a:ext cx="7543800" cy="609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0"/>
              </a:spcBef>
              <a:buNone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buSzPct val="100000"/>
              <a:buFont typeface="Wingdings" pitchFamily="2" charset="2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146" name="Picture 2" descr="captionLongAccent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90650" y="5204012"/>
            <a:ext cx="6362700" cy="24765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 Pictures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 descr="scrollwork-Botto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993402" y="4128247"/>
            <a:ext cx="742950" cy="361950"/>
          </a:xfrm>
          <a:prstGeom prst="rect">
            <a:avLst/>
          </a:prstGeom>
          <a:noFill/>
        </p:spPr>
      </p:pic>
      <p:pic>
        <p:nvPicPr>
          <p:cNvPr id="4099" name="Picture 3" descr="scrollwork-Botto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07649" y="4128247"/>
            <a:ext cx="742950" cy="361950"/>
          </a:xfrm>
          <a:prstGeom prst="rect">
            <a:avLst/>
          </a:prstGeom>
          <a:noFill/>
        </p:spPr>
      </p:pic>
      <p:pic>
        <p:nvPicPr>
          <p:cNvPr id="12" name="Picture 2" descr="scrollwork-Top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993402" y="565897"/>
            <a:ext cx="742950" cy="361950"/>
          </a:xfrm>
          <a:prstGeom prst="rect">
            <a:avLst/>
          </a:prstGeom>
          <a:noFill/>
        </p:spPr>
      </p:pic>
      <p:pic>
        <p:nvPicPr>
          <p:cNvPr id="4098" name="Picture 2" descr="scrollwork-Top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07649" y="565897"/>
            <a:ext cx="742950" cy="3619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4406153"/>
            <a:ext cx="6583680" cy="784412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0" y="780826"/>
            <a:ext cx="2743200" cy="3467548"/>
          </a:xfrm>
          <a:solidFill>
            <a:schemeClr val="bg2"/>
          </a:solidFill>
          <a:ln w="127000">
            <a:solidFill>
              <a:schemeClr val="bg1"/>
            </a:solidFill>
            <a:miter lim="800000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5446059"/>
            <a:ext cx="7543800" cy="609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0"/>
              </a:spcBef>
              <a:buNone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buSzPct val="100000"/>
              <a:buFont typeface="Wingdings" pitchFamily="2" charset="2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146" name="Picture 2" descr="captionLongAccent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90650" y="5204012"/>
            <a:ext cx="6362700" cy="247650"/>
          </a:xfrm>
          <a:prstGeom prst="rect">
            <a:avLst/>
          </a:prstGeom>
          <a:noFill/>
        </p:spPr>
      </p:pic>
      <p:sp>
        <p:nvSpPr>
          <p:cNvPr id="14" name="Picture Placeholder 2"/>
          <p:cNvSpPr>
            <a:spLocks noGrp="1"/>
          </p:cNvSpPr>
          <p:nvPr>
            <p:ph type="pic" idx="13"/>
          </p:nvPr>
        </p:nvSpPr>
        <p:spPr>
          <a:xfrm>
            <a:off x="4912659" y="780826"/>
            <a:ext cx="2743200" cy="3467548"/>
          </a:xfrm>
          <a:solidFill>
            <a:schemeClr val="bg2"/>
          </a:solidFill>
          <a:ln w="127000">
            <a:solidFill>
              <a:schemeClr val="bg1"/>
            </a:solidFill>
            <a:miter lim="800000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pageAccent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313" y="1689847"/>
            <a:ext cx="7953375" cy="304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084294"/>
            <a:ext cx="7543800" cy="3639670"/>
          </a:xfrm>
        </p:spPr>
        <p:txBody>
          <a:bodyPr vert="eaVert"/>
          <a:lstStyle>
            <a:lvl5pPr>
              <a:defRPr/>
            </a:lvl5pPr>
            <a:lvl6pPr marL="2286000">
              <a:defRPr/>
            </a:lvl6pPr>
            <a:lvl7pPr marL="2286000">
              <a:defRPr/>
            </a:lvl7pPr>
            <a:lvl8pPr marL="2286000">
              <a:defRPr/>
            </a:lvl8pPr>
            <a:lvl9pPr marL="2286000"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518343-9AE2-4057-9FF5-20E4BB0589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922048"/>
            <a:ext cx="1676400" cy="4814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922048"/>
            <a:ext cx="5638800" cy="4814888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B5AAA5-A6A3-4367-B1E0-10EB4BC842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122" name="Picture 2" descr="verticalAccen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6225" y="860612"/>
            <a:ext cx="247364" cy="493776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39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CC13F-6B64-4AA4-AA16-688C32EC7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3E513-2739-4749-BE7C-2B77D8253A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32511"/>
      </p:ext>
    </p:extLst>
  </p:cSld>
  <p:clrMapOvr>
    <a:masterClrMapping/>
  </p:clrMapOvr>
  <p:transition xmlns:p14="http://schemas.microsoft.com/office/powerpoint/2010/main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7856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276AF7F-98A1-49B5-840E-06EE2BD970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Edging.png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381000"/>
            <a:ext cx="75438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84294"/>
            <a:ext cx="6949440" cy="3639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118412"/>
            <a:ext cx="2133600" cy="275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18412"/>
            <a:ext cx="2895600" cy="275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43400" y="6118412"/>
            <a:ext cx="457200" cy="275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6" r:id="rId1"/>
    <p:sldLayoutId id="2147484267" r:id="rId2"/>
    <p:sldLayoutId id="2147484268" r:id="rId3"/>
    <p:sldLayoutId id="2147484269" r:id="rId4"/>
    <p:sldLayoutId id="2147484270" r:id="rId5"/>
    <p:sldLayoutId id="2147484271" r:id="rId6"/>
    <p:sldLayoutId id="2147484272" r:id="rId7"/>
    <p:sldLayoutId id="2147484273" r:id="rId8"/>
    <p:sldLayoutId id="2147484274" r:id="rId9"/>
    <p:sldLayoutId id="2147484275" r:id="rId10"/>
    <p:sldLayoutId id="2147484276" r:id="rId11"/>
    <p:sldLayoutId id="2147484277" r:id="rId12"/>
    <p:sldLayoutId id="2147484278" r:id="rId13"/>
    <p:sldLayoutId id="2147484279" r:id="rId14"/>
    <p:sldLayoutId id="2147484280" r:id="rId15"/>
    <p:sldLayoutId id="2147484282" r:id="rId16"/>
    <p:sldLayoutId id="2147484283" r:id="rId17"/>
  </p:sldLayoutIdLst>
  <p:txStyles>
    <p:titleStyle>
      <a:lvl1pPr algn="ctr" defTabSz="914400" rtl="0" eaLnBrk="1" latinLnBrk="0" hangingPunct="1">
        <a:spcBef>
          <a:spcPct val="0"/>
        </a:spcBef>
        <a:buNone/>
        <a:defRPr sz="5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spcBef>
          <a:spcPts val="2000"/>
        </a:spcBef>
        <a:buSzPct val="100000"/>
        <a:buFont typeface="Wingdings" pitchFamily="2" charset="2"/>
        <a:buChar char="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1500"/>
        </a:spcBef>
        <a:buClr>
          <a:schemeClr val="tx1">
            <a:lumMod val="60000"/>
            <a:lumOff val="40000"/>
          </a:schemeClr>
        </a:buClr>
        <a:buSzPct val="100000"/>
        <a:buFont typeface="Wingdings" pitchFamily="2" charset="2"/>
        <a:buChar char="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914400" rtl="0" eaLnBrk="1" latinLnBrk="0" hangingPunct="1">
        <a:spcBef>
          <a:spcPts val="1500"/>
        </a:spcBef>
        <a:buSzPct val="100000"/>
        <a:buFont typeface="Wingdings" pitchFamily="2" charset="2"/>
        <a:buChar char="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914400" rtl="0" eaLnBrk="1" latinLnBrk="0" hangingPunct="1">
        <a:spcBef>
          <a:spcPts val="1500"/>
        </a:spcBef>
        <a:buClr>
          <a:schemeClr val="tx1">
            <a:lumMod val="60000"/>
            <a:lumOff val="40000"/>
          </a:schemeClr>
        </a:buClr>
        <a:buSzPct val="100000"/>
        <a:buFont typeface="Wingdings" pitchFamily="2" charset="2"/>
        <a:buChar char="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914400" rtl="0" eaLnBrk="1" latinLnBrk="0" hangingPunct="1">
        <a:spcBef>
          <a:spcPts val="1500"/>
        </a:spcBef>
        <a:buSzPct val="100000"/>
        <a:buFont typeface="Wingdings" pitchFamily="2" charset="2"/>
        <a:buChar char="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indent="-457200" algn="l" defTabSz="914400" rtl="0" eaLnBrk="1" latinLnBrk="0" hangingPunct="1">
        <a:spcBef>
          <a:spcPts val="1500"/>
        </a:spcBef>
        <a:buClr>
          <a:schemeClr val="tx1">
            <a:lumMod val="60000"/>
            <a:lumOff val="40000"/>
          </a:schemeClr>
        </a:buClr>
        <a:buSzPct val="100000"/>
        <a:buFont typeface="Wingdings" pitchFamily="2" charset="2"/>
        <a:buChar char="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400" indent="-457200" algn="l" defTabSz="914400" rtl="0" eaLnBrk="1" latinLnBrk="0" hangingPunct="1">
        <a:spcBef>
          <a:spcPts val="1500"/>
        </a:spcBef>
        <a:buSzPct val="100000"/>
        <a:buFont typeface="Wingdings" pitchFamily="2" charset="2"/>
        <a:buChar char=""/>
        <a:tabLst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57200" algn="l" defTabSz="914400" rtl="0" eaLnBrk="1" latinLnBrk="0" hangingPunct="1">
        <a:spcBef>
          <a:spcPts val="1500"/>
        </a:spcBef>
        <a:buClr>
          <a:schemeClr val="tx1">
            <a:lumMod val="60000"/>
            <a:lumOff val="40000"/>
          </a:schemeClr>
        </a:buClr>
        <a:buSzPct val="100000"/>
        <a:buFont typeface="Wingdings" pitchFamily="2" charset="2"/>
        <a:buChar char=""/>
        <a:tabLst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114800" indent="-457200" algn="l" defTabSz="914400" rtl="0" eaLnBrk="1" latinLnBrk="0" hangingPunct="1">
        <a:spcBef>
          <a:spcPts val="1500"/>
        </a:spcBef>
        <a:buSzPct val="100000"/>
        <a:buFont typeface="Wingdings" pitchFamily="2" charset="2"/>
        <a:buChar char=""/>
        <a:tabLst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2514600"/>
            <a:ext cx="8305800" cy="90033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Coptic Lesson 17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00B0F0"/>
                </a:solidFill>
              </a:rPr>
              <a:t>Present Tense</a:t>
            </a:r>
            <a:endParaRPr 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1828800" y="304800"/>
            <a:ext cx="5195888" cy="5000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2800" dirty="0"/>
              <a:t>Coptic Alphabets</a:t>
            </a:r>
          </a:p>
        </p:txBody>
      </p:sp>
      <p:pic>
        <p:nvPicPr>
          <p:cNvPr id="5123" name="Picture 5" descr="copt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914400"/>
            <a:ext cx="8839200" cy="476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5" descr="copti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731070">
            <a:off x="6934412" y="429927"/>
            <a:ext cx="2068867" cy="1115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5715000" cy="8382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Review </a:t>
            </a:r>
            <a:r>
              <a:rPr lang="en-US" dirty="0"/>
              <a:t>Questions</a:t>
            </a:r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200" dirty="0">
              <a:cs typeface="Times New Roman" pitchFamily="18" charset="0"/>
            </a:endParaRP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5410200" y="5791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900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400" dirty="0">
              <a:cs typeface="Times New Roman" pitchFamily="18" charset="0"/>
            </a:endParaRP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5410200" y="51054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kh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2667000" y="44196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cs typeface="Times New Roman" pitchFamily="18" charset="0"/>
              </a:rPr>
              <a:t>pictau-`cnau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5410200" y="44196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92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57200" y="44196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70000"/>
              </a:lnSpc>
              <a:defRPr/>
            </a:pPr>
            <a:r>
              <a:rPr lang="en-US" sz="4000" dirty="0" smtClean="0"/>
              <a:t>=f=b</a:t>
            </a:r>
            <a:endParaRPr lang="en-US" sz="4000" dirty="0"/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2667000" y="3733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cs typeface="Times New Roman" pitchFamily="18" charset="0"/>
              </a:rPr>
              <a:t>`</a:t>
            </a:r>
            <a:r>
              <a:rPr lang="en-US" sz="2800" dirty="0" err="1" smtClean="0">
                <a:cs typeface="Times New Roman" pitchFamily="18" charset="0"/>
              </a:rPr>
              <a:t>sbe-sasf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5410200" y="3733800"/>
            <a:ext cx="32766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77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57200" y="3733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=o=z</a:t>
            </a: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5410200" y="2971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Virgin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  <a:defRPr/>
            </a:pP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2667000" y="22860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Delta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5410200" y="22860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d, z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22860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70000"/>
              </a:lnSpc>
              <a:defRPr/>
            </a:pPr>
            <a:r>
              <a:rPr lang="en-US" sz="4000" dirty="0" smtClean="0"/>
              <a:t>d</a:t>
            </a:r>
            <a:endParaRPr lang="ar-EG" sz="4000" dirty="0" smtClean="0"/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26670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Kei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5410200" y="1600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k,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sh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kh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tabLst>
                <a:tab pos="914400" algn="l"/>
              </a:tabLst>
              <a:defRPr/>
            </a:pPr>
            <a:endParaRPr lang="en-US" sz="4000" dirty="0"/>
          </a:p>
        </p:txBody>
      </p:sp>
      <p:sp>
        <p:nvSpPr>
          <p:cNvPr id="6168" name="Line 29"/>
          <p:cNvSpPr>
            <a:spLocks noChangeShapeType="1"/>
          </p:cNvSpPr>
          <p:nvPr/>
        </p:nvSpPr>
        <p:spPr bwMode="auto">
          <a:xfrm>
            <a:off x="457200" y="16002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69" name="Line 30"/>
          <p:cNvSpPr>
            <a:spLocks noChangeShapeType="1"/>
          </p:cNvSpPr>
          <p:nvPr/>
        </p:nvSpPr>
        <p:spPr bwMode="auto"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0" name="Line 31"/>
          <p:cNvSpPr>
            <a:spLocks noChangeShapeType="1"/>
          </p:cNvSpPr>
          <p:nvPr/>
        </p:nvSpPr>
        <p:spPr bwMode="auto">
          <a:xfrm>
            <a:off x="457200" y="300037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1" name="Line 32"/>
          <p:cNvSpPr>
            <a:spLocks noChangeShapeType="1"/>
          </p:cNvSpPr>
          <p:nvPr/>
        </p:nvSpPr>
        <p:spPr bwMode="auto">
          <a:xfrm>
            <a:off x="457200" y="3700463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2" name="Line 33"/>
          <p:cNvSpPr>
            <a:spLocks noChangeShapeType="1"/>
          </p:cNvSpPr>
          <p:nvPr/>
        </p:nvSpPr>
        <p:spPr bwMode="auto">
          <a:xfrm>
            <a:off x="457200" y="44196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3" name="Line 34"/>
          <p:cNvSpPr>
            <a:spLocks noChangeShapeType="1"/>
          </p:cNvSpPr>
          <p:nvPr/>
        </p:nvSpPr>
        <p:spPr bwMode="auto">
          <a:xfrm>
            <a:off x="457200" y="5100638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4" name="Line 35"/>
          <p:cNvSpPr>
            <a:spLocks noChangeShapeType="1"/>
          </p:cNvSpPr>
          <p:nvPr/>
        </p:nvSpPr>
        <p:spPr bwMode="auto">
          <a:xfrm>
            <a:off x="457200" y="57912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5" name="Line 36"/>
          <p:cNvSpPr>
            <a:spLocks noChangeShapeType="1"/>
          </p:cNvSpPr>
          <p:nvPr/>
        </p:nvSpPr>
        <p:spPr bwMode="auto">
          <a:xfrm>
            <a:off x="457200" y="6500813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6" name="Line 37"/>
          <p:cNvSpPr>
            <a:spLocks noChangeShapeType="1"/>
          </p:cNvSpPr>
          <p:nvPr/>
        </p:nvSpPr>
        <p:spPr bwMode="auto">
          <a:xfrm>
            <a:off x="4572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7" name="Line 38"/>
          <p:cNvSpPr>
            <a:spLocks noChangeShapeType="1"/>
          </p:cNvSpPr>
          <p:nvPr/>
        </p:nvSpPr>
        <p:spPr bwMode="auto">
          <a:xfrm>
            <a:off x="26670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8" name="Line 39"/>
          <p:cNvSpPr>
            <a:spLocks noChangeShapeType="1"/>
          </p:cNvSpPr>
          <p:nvPr/>
        </p:nvSpPr>
        <p:spPr bwMode="auto">
          <a:xfrm>
            <a:off x="54102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9" name="Line 40"/>
          <p:cNvSpPr>
            <a:spLocks noChangeShapeType="1"/>
          </p:cNvSpPr>
          <p:nvPr/>
        </p:nvSpPr>
        <p:spPr bwMode="auto">
          <a:xfrm>
            <a:off x="86868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80" name="Text Box 52"/>
          <p:cNvSpPr txBox="1">
            <a:spLocks noChangeArrowheads="1"/>
          </p:cNvSpPr>
          <p:nvPr/>
        </p:nvSpPr>
        <p:spPr bwMode="auto">
          <a:xfrm>
            <a:off x="914400" y="1143000"/>
            <a:ext cx="1219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Coptic</a:t>
            </a:r>
          </a:p>
        </p:txBody>
      </p:sp>
      <p:sp>
        <p:nvSpPr>
          <p:cNvPr id="6181" name="Text Box 53"/>
          <p:cNvSpPr txBox="1">
            <a:spLocks noChangeArrowheads="1"/>
          </p:cNvSpPr>
          <p:nvPr/>
        </p:nvSpPr>
        <p:spPr bwMode="auto">
          <a:xfrm>
            <a:off x="6324600" y="1143000"/>
            <a:ext cx="137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English</a:t>
            </a:r>
          </a:p>
        </p:txBody>
      </p:sp>
      <p:sp>
        <p:nvSpPr>
          <p:cNvPr id="6182" name="Text Box 54"/>
          <p:cNvSpPr txBox="1">
            <a:spLocks noChangeArrowheads="1"/>
          </p:cNvSpPr>
          <p:nvPr/>
        </p:nvSpPr>
        <p:spPr bwMode="auto">
          <a:xfrm>
            <a:off x="3505200" y="1143000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70000"/>
              </a:lnSpc>
              <a:defRPr/>
            </a:pPr>
            <a:r>
              <a:rPr lang="en-US" sz="4000" dirty="0" smtClean="0"/>
              <a:t>,</a:t>
            </a:r>
            <a:endParaRPr lang="en-US" sz="4000" dirty="0"/>
          </a:p>
        </p:txBody>
      </p:sp>
      <p:sp>
        <p:nvSpPr>
          <p:cNvPr id="41" name="Rectangle 11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>
                <a:schemeClr val="tx2"/>
              </a:buClr>
              <a:buSzPct val="70000"/>
            </a:pPr>
            <a:r>
              <a:rPr lang="en-US" sz="4000" dirty="0" smtClean="0"/>
              <a:t>=p=r=;</a:t>
            </a:r>
            <a:endParaRPr lang="en-US" sz="4000" dirty="0"/>
          </a:p>
        </p:txBody>
      </p:sp>
      <p:sp>
        <p:nvSpPr>
          <p:cNvPr id="42" name="Rectangle 11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q</a:t>
            </a:r>
            <a:endParaRPr lang="en-US" sz="4000" dirty="0"/>
          </a:p>
        </p:txBody>
      </p:sp>
      <p:sp>
        <p:nvSpPr>
          <p:cNvPr id="43" name="Rectangle 11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70000"/>
              </a:lnSpc>
              <a:defRPr/>
            </a:pPr>
            <a:r>
              <a:rPr lang="en-US" sz="4000" dirty="0" smtClean="0"/>
              <a:t>=s</a:t>
            </a:r>
            <a:endParaRPr lang="en-US" sz="4000" dirty="0"/>
          </a:p>
        </p:txBody>
      </p:sp>
      <p:sp>
        <p:nvSpPr>
          <p:cNvPr id="44" name="Rectangle 13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buClr>
                <a:schemeClr val="tx2"/>
              </a:buClr>
              <a:buSzPct val="70000"/>
            </a:pPr>
            <a:r>
              <a:rPr lang="en-US" sz="2800" dirty="0" err="1" smtClean="0"/>
              <a:t>Par;enoc</a:t>
            </a:r>
            <a:endParaRPr lang="en-US" sz="2800" dirty="0"/>
          </a:p>
        </p:txBody>
      </p:sp>
      <p:sp>
        <p:nvSpPr>
          <p:cNvPr id="45" name="Rectangle 13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Khai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cs typeface="Times New Roman" pitchFamily="18" charset="0"/>
              </a:rPr>
              <a:t>'it-se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47" name="Rectangle 13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79" grpId="0"/>
      <p:bldP spid="23576" grpId="0"/>
      <p:bldP spid="23574" grpId="0"/>
      <p:bldP spid="23573" grpId="0"/>
      <p:bldP spid="23572" grpId="0"/>
      <p:bldP spid="23571" grpId="0"/>
      <p:bldP spid="23570" grpId="0"/>
      <p:bldP spid="23569" grpId="0"/>
      <p:bldP spid="23567" grpId="0"/>
      <p:bldP spid="23565" grpId="0"/>
      <p:bldP spid="23564" grpId="0"/>
      <p:bldP spid="23563" grpId="0"/>
      <p:bldP spid="23562" grpId="0"/>
      <p:bldP spid="23561" grpId="0"/>
      <p:bldP spid="39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6870700" cy="8382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Review </a:t>
            </a:r>
            <a:r>
              <a:rPr lang="en-US" dirty="0" smtClean="0"/>
              <a:t>for Beginners</a:t>
            </a:r>
            <a:endParaRPr lang="en-US" dirty="0"/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Delta</a:t>
            </a: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5410200" y="5791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d,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100000"/>
              </a:spcBef>
              <a:defRPr/>
            </a:pPr>
            <a:r>
              <a:rPr lang="en-US" sz="3200" dirty="0"/>
              <a:t>d</a:t>
            </a:r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Lavla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5410200" y="51054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</a:t>
            </a: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3200" dirty="0"/>
              <a:t>l</a:t>
            </a:r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2667000" y="44196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Khai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5410200" y="44196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57200" y="44196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/>
              <a:t>q</a:t>
            </a:r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2667000" y="3733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Ro</a:t>
            </a: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5410200" y="3733800"/>
            <a:ext cx="32766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</a:t>
            </a: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57200" y="3733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50000"/>
              </a:lnSpc>
              <a:defRPr/>
            </a:pPr>
            <a:r>
              <a:rPr lang="en-US" sz="4000" dirty="0"/>
              <a:t>r</a:t>
            </a: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Phei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5410200" y="2971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70000"/>
              </a:lnSpc>
              <a:defRPr/>
            </a:pPr>
            <a:r>
              <a:rPr lang="en-US" sz="4000" dirty="0"/>
              <a:t>v</a:t>
            </a: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2667000" y="22860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Pei</a:t>
            </a: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5410200" y="22860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</a:t>
            </a: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22860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/>
              <a:t>p</a:t>
            </a: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26670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5410200" y="1600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tabLst>
                <a:tab pos="914400" algn="l"/>
              </a:tabLst>
              <a:defRPr/>
            </a:pPr>
            <a:endParaRPr lang="en-US" sz="4000" dirty="0"/>
          </a:p>
        </p:txBody>
      </p:sp>
      <p:sp>
        <p:nvSpPr>
          <p:cNvPr id="6168" name="Line 29"/>
          <p:cNvSpPr>
            <a:spLocks noChangeShapeType="1"/>
          </p:cNvSpPr>
          <p:nvPr/>
        </p:nvSpPr>
        <p:spPr bwMode="auto">
          <a:xfrm>
            <a:off x="457200" y="16002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69" name="Line 30"/>
          <p:cNvSpPr>
            <a:spLocks noChangeShapeType="1"/>
          </p:cNvSpPr>
          <p:nvPr/>
        </p:nvSpPr>
        <p:spPr bwMode="auto"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0" name="Line 31"/>
          <p:cNvSpPr>
            <a:spLocks noChangeShapeType="1"/>
          </p:cNvSpPr>
          <p:nvPr/>
        </p:nvSpPr>
        <p:spPr bwMode="auto">
          <a:xfrm>
            <a:off x="457200" y="300037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1" name="Line 32"/>
          <p:cNvSpPr>
            <a:spLocks noChangeShapeType="1"/>
          </p:cNvSpPr>
          <p:nvPr/>
        </p:nvSpPr>
        <p:spPr bwMode="auto">
          <a:xfrm>
            <a:off x="457200" y="3700463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2" name="Line 33"/>
          <p:cNvSpPr>
            <a:spLocks noChangeShapeType="1"/>
          </p:cNvSpPr>
          <p:nvPr/>
        </p:nvSpPr>
        <p:spPr bwMode="auto">
          <a:xfrm>
            <a:off x="457200" y="44196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3" name="Line 34"/>
          <p:cNvSpPr>
            <a:spLocks noChangeShapeType="1"/>
          </p:cNvSpPr>
          <p:nvPr/>
        </p:nvSpPr>
        <p:spPr bwMode="auto">
          <a:xfrm>
            <a:off x="457200" y="5100638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4" name="Line 35"/>
          <p:cNvSpPr>
            <a:spLocks noChangeShapeType="1"/>
          </p:cNvSpPr>
          <p:nvPr/>
        </p:nvSpPr>
        <p:spPr bwMode="auto">
          <a:xfrm>
            <a:off x="457200" y="57912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5" name="Line 36"/>
          <p:cNvSpPr>
            <a:spLocks noChangeShapeType="1"/>
          </p:cNvSpPr>
          <p:nvPr/>
        </p:nvSpPr>
        <p:spPr bwMode="auto">
          <a:xfrm>
            <a:off x="457200" y="6500813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6" name="Line 37"/>
          <p:cNvSpPr>
            <a:spLocks noChangeShapeType="1"/>
          </p:cNvSpPr>
          <p:nvPr/>
        </p:nvSpPr>
        <p:spPr bwMode="auto">
          <a:xfrm>
            <a:off x="4572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7" name="Line 38"/>
          <p:cNvSpPr>
            <a:spLocks noChangeShapeType="1"/>
          </p:cNvSpPr>
          <p:nvPr/>
        </p:nvSpPr>
        <p:spPr bwMode="auto">
          <a:xfrm>
            <a:off x="26670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8" name="Line 39"/>
          <p:cNvSpPr>
            <a:spLocks noChangeShapeType="1"/>
          </p:cNvSpPr>
          <p:nvPr/>
        </p:nvSpPr>
        <p:spPr bwMode="auto">
          <a:xfrm>
            <a:off x="54102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9" name="Line 40"/>
          <p:cNvSpPr>
            <a:spLocks noChangeShapeType="1"/>
          </p:cNvSpPr>
          <p:nvPr/>
        </p:nvSpPr>
        <p:spPr bwMode="auto">
          <a:xfrm>
            <a:off x="86868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80" name="Text Box 52"/>
          <p:cNvSpPr txBox="1">
            <a:spLocks noChangeArrowheads="1"/>
          </p:cNvSpPr>
          <p:nvPr/>
        </p:nvSpPr>
        <p:spPr bwMode="auto">
          <a:xfrm>
            <a:off x="914400" y="1143000"/>
            <a:ext cx="1219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Coptic</a:t>
            </a:r>
          </a:p>
        </p:txBody>
      </p:sp>
      <p:sp>
        <p:nvSpPr>
          <p:cNvPr id="6181" name="Text Box 53"/>
          <p:cNvSpPr txBox="1">
            <a:spLocks noChangeArrowheads="1"/>
          </p:cNvSpPr>
          <p:nvPr/>
        </p:nvSpPr>
        <p:spPr bwMode="auto">
          <a:xfrm>
            <a:off x="6324600" y="1143000"/>
            <a:ext cx="137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English</a:t>
            </a:r>
          </a:p>
        </p:txBody>
      </p:sp>
      <p:sp>
        <p:nvSpPr>
          <p:cNvPr id="6182" name="Text Box 54"/>
          <p:cNvSpPr txBox="1">
            <a:spLocks noChangeArrowheads="1"/>
          </p:cNvSpPr>
          <p:nvPr/>
        </p:nvSpPr>
        <p:spPr bwMode="auto">
          <a:xfrm>
            <a:off x="3505200" y="1143000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/>
              <a:t>[</a:t>
            </a:r>
          </a:p>
        </p:txBody>
      </p:sp>
      <p:sp>
        <p:nvSpPr>
          <p:cNvPr id="40" name="Rectangle 9"/>
          <p:cNvSpPr>
            <a:spLocks noChangeArrowheads="1"/>
          </p:cNvSpPr>
          <p:nvPr/>
        </p:nvSpPr>
        <p:spPr bwMode="auto">
          <a:xfrm>
            <a:off x="26670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Cheema</a:t>
            </a:r>
          </a:p>
        </p:txBody>
      </p:sp>
    </p:spTree>
    <p:extLst>
      <p:ext uri="{BB962C8B-B14F-4D97-AF65-F5344CB8AC3E}">
        <p14:creationId xmlns:p14="http://schemas.microsoft.com/office/powerpoint/2010/main" val="1911277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80" grpId="0"/>
      <p:bldP spid="23579" grpId="0"/>
      <p:bldP spid="23578" grpId="0"/>
      <p:bldP spid="23577" grpId="0"/>
      <p:bldP spid="23576" grpId="0"/>
      <p:bldP spid="23574" grpId="0"/>
      <p:bldP spid="23573" grpId="0"/>
      <p:bldP spid="23572" grpId="0"/>
      <p:bldP spid="23571" grpId="0"/>
      <p:bldP spid="23570" grpId="0"/>
      <p:bldP spid="23569" grpId="0"/>
      <p:bldP spid="23568" grpId="0"/>
      <p:bldP spid="23567" grpId="0"/>
      <p:bldP spid="23566" grpId="0"/>
      <p:bldP spid="23565" grpId="0"/>
      <p:bldP spid="23564" grpId="0"/>
      <p:bldP spid="23563" grpId="0"/>
      <p:bldP spid="23561" grpId="0"/>
      <p:bldP spid="39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4495800" cy="636588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>
                <a:latin typeface="Times New Roman" pitchFamily="18" charset="0"/>
              </a:rPr>
              <a:t>Rule for the Kei</a:t>
            </a:r>
            <a:r>
              <a:rPr lang="en-US" sz="4000"/>
              <a:t> </a:t>
            </a:r>
            <a:r>
              <a:rPr lang="en-US" sz="4000">
                <a:solidFill>
                  <a:srgbClr val="FF0000"/>
                </a:solidFill>
                <a:latin typeface="CS Avva Shenouda" pitchFamily="34" charset="0"/>
              </a:rPr>
              <a:t>&lt;</a:t>
            </a:r>
            <a:r>
              <a:rPr lang="en-US" sz="4000">
                <a:solidFill>
                  <a:schemeClr val="tx1"/>
                </a:solidFill>
                <a:latin typeface="Times New Roman" pitchFamily="18" charset="0"/>
              </a:rPr>
              <a:t>:</a:t>
            </a:r>
            <a:r>
              <a:rPr lang="en-US" sz="4000">
                <a:solidFill>
                  <a:srgbClr val="FF0000"/>
                </a:solidFill>
                <a:latin typeface="CS Avva Shenouda" pitchFamily="34" charset="0"/>
              </a:rPr>
              <a:t> 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233475" name="Line 3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76" name="Text Box 4"/>
          <p:cNvSpPr txBox="1">
            <a:spLocks noChangeArrowheads="1"/>
          </p:cNvSpPr>
          <p:nvPr/>
        </p:nvSpPr>
        <p:spPr bwMode="auto">
          <a:xfrm>
            <a:off x="381000" y="2286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&lt; ,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33477" name="Text Box 5"/>
          <p:cNvSpPr txBox="1">
            <a:spLocks noChangeArrowheads="1"/>
          </p:cNvSpPr>
          <p:nvPr/>
        </p:nvSpPr>
        <p:spPr bwMode="auto">
          <a:xfrm>
            <a:off x="3429000" y="1295400"/>
            <a:ext cx="457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k</a:t>
            </a:r>
            <a:endParaRPr lang="en-US" sz="40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78" name="Text Box 6"/>
          <p:cNvSpPr txBox="1">
            <a:spLocks noChangeArrowheads="1"/>
          </p:cNvSpPr>
          <p:nvPr/>
        </p:nvSpPr>
        <p:spPr bwMode="auto">
          <a:xfrm>
            <a:off x="3352800" y="2209800"/>
            <a:ext cx="762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sh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79" name="Text Box 7"/>
          <p:cNvSpPr txBox="1">
            <a:spLocks noChangeArrowheads="1"/>
          </p:cNvSpPr>
          <p:nvPr/>
        </p:nvSpPr>
        <p:spPr bwMode="auto">
          <a:xfrm>
            <a:off x="3429000" y="3352800"/>
            <a:ext cx="7620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00100" indent="-800100">
              <a:lnSpc>
                <a:spcPct val="70000"/>
              </a:lnSpc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kh</a:t>
            </a:r>
            <a:endParaRPr lang="en-US" sz="32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80" name="Freeform 8"/>
          <p:cNvSpPr>
            <a:spLocks/>
          </p:cNvSpPr>
          <p:nvPr/>
        </p:nvSpPr>
        <p:spPr bwMode="auto">
          <a:xfrm>
            <a:off x="1981200" y="1676400"/>
            <a:ext cx="1295400" cy="923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1" name="Line 9"/>
          <p:cNvSpPr>
            <a:spLocks noChangeShapeType="1"/>
          </p:cNvSpPr>
          <p:nvPr/>
        </p:nvSpPr>
        <p:spPr bwMode="auto">
          <a:xfrm>
            <a:off x="1981200" y="2590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2" name="Line 10"/>
          <p:cNvSpPr>
            <a:spLocks noChangeShapeType="1"/>
          </p:cNvSpPr>
          <p:nvPr/>
        </p:nvSpPr>
        <p:spPr bwMode="auto">
          <a:xfrm>
            <a:off x="1981200" y="2590800"/>
            <a:ext cx="1371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3" name="Text Box 11"/>
          <p:cNvSpPr txBox="1">
            <a:spLocks noChangeArrowheads="1"/>
          </p:cNvSpPr>
          <p:nvPr/>
        </p:nvSpPr>
        <p:spPr bwMode="auto">
          <a:xfrm>
            <a:off x="3962400" y="1371600"/>
            <a:ext cx="4114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in a Coptic Word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3484" name="Text Box 12"/>
          <p:cNvSpPr txBox="1">
            <a:spLocks noChangeArrowheads="1"/>
          </p:cNvSpPr>
          <p:nvPr/>
        </p:nvSpPr>
        <p:spPr bwMode="auto">
          <a:xfrm>
            <a:off x="3962400" y="2362200"/>
            <a:ext cx="44196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Gk, before the e-family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4038600" y="3352800"/>
            <a:ext cx="2743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 algn="l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Gk, otherwise)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86" name="Text Box 14"/>
          <p:cNvSpPr txBox="1">
            <a:spLocks noChangeArrowheads="1"/>
          </p:cNvSpPr>
          <p:nvPr/>
        </p:nvSpPr>
        <p:spPr bwMode="auto">
          <a:xfrm>
            <a:off x="609600" y="39624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33487" name="Text Box 15"/>
          <p:cNvSpPr txBox="1">
            <a:spLocks noChangeArrowheads="1"/>
          </p:cNvSpPr>
          <p:nvPr/>
        </p:nvSpPr>
        <p:spPr bwMode="auto">
          <a:xfrm>
            <a:off x="609600" y="4648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,ymi</a:t>
            </a:r>
          </a:p>
        </p:txBody>
      </p:sp>
      <p:sp>
        <p:nvSpPr>
          <p:cNvPr id="233488" name="Text Box 16"/>
          <p:cNvSpPr txBox="1">
            <a:spLocks noChangeArrowheads="1"/>
          </p:cNvSpPr>
          <p:nvPr/>
        </p:nvSpPr>
        <p:spPr bwMode="auto">
          <a:xfrm>
            <a:off x="2362200" y="46482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,aric</a:t>
            </a:r>
          </a:p>
        </p:txBody>
      </p:sp>
      <p:sp>
        <p:nvSpPr>
          <p:cNvPr id="233489" name="Text Box 17"/>
          <p:cNvSpPr txBox="1">
            <a:spLocks noChangeArrowheads="1"/>
          </p:cNvSpPr>
          <p:nvPr/>
        </p:nvSpPr>
        <p:spPr bwMode="auto">
          <a:xfrm>
            <a:off x="4495800" y="4648200"/>
            <a:ext cx="1295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,ere</a:t>
            </a:r>
          </a:p>
        </p:txBody>
      </p:sp>
      <p:sp>
        <p:nvSpPr>
          <p:cNvPr id="233490" name="Text Box 18"/>
          <p:cNvSpPr txBox="1">
            <a:spLocks noChangeArrowheads="1"/>
          </p:cNvSpPr>
          <p:nvPr/>
        </p:nvSpPr>
        <p:spPr bwMode="auto">
          <a:xfrm>
            <a:off x="6324600" y="4648200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`,rwm</a:t>
            </a:r>
          </a:p>
        </p:txBody>
      </p:sp>
      <p:sp>
        <p:nvSpPr>
          <p:cNvPr id="233491" name="Text Box 19"/>
          <p:cNvSpPr txBox="1">
            <a:spLocks noChangeArrowheads="1"/>
          </p:cNvSpPr>
          <p:nvPr/>
        </p:nvSpPr>
        <p:spPr bwMode="auto">
          <a:xfrm>
            <a:off x="1219200" y="54864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Ar,y</a:t>
            </a:r>
          </a:p>
        </p:txBody>
      </p:sp>
      <p:sp>
        <p:nvSpPr>
          <p:cNvPr id="233492" name="Text Box 20"/>
          <p:cNvSpPr txBox="1">
            <a:spLocks noChangeArrowheads="1"/>
          </p:cNvSpPr>
          <p:nvPr/>
        </p:nvSpPr>
        <p:spPr bwMode="auto">
          <a:xfrm>
            <a:off x="3124200" y="5486400"/>
            <a:ext cx="24384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Mona,oc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3" name="Text Box 21"/>
          <p:cNvSpPr txBox="1">
            <a:spLocks noChangeArrowheads="1"/>
          </p:cNvSpPr>
          <p:nvPr/>
        </p:nvSpPr>
        <p:spPr bwMode="auto">
          <a:xfrm>
            <a:off x="5715000" y="5486400"/>
            <a:ext cx="1219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,w</a:t>
            </a:r>
          </a:p>
        </p:txBody>
      </p:sp>
      <p:sp>
        <p:nvSpPr>
          <p:cNvPr id="233494" name="Text Box 22"/>
          <p:cNvSpPr txBox="1">
            <a:spLocks noChangeArrowheads="1"/>
          </p:cNvSpPr>
          <p:nvPr/>
        </p:nvSpPr>
        <p:spPr bwMode="auto">
          <a:xfrm>
            <a:off x="6858000" y="2895600"/>
            <a:ext cx="2286000" cy="120032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e-family:</a:t>
            </a:r>
          </a:p>
          <a:p>
            <a:pPr algn="ctr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e&gt; y&gt; i&gt; u</a:t>
            </a:r>
          </a:p>
        </p:txBody>
      </p:sp>
      <p:sp>
        <p:nvSpPr>
          <p:cNvPr id="233495" name="Text Box 23"/>
          <p:cNvSpPr txBox="1">
            <a:spLocks noChangeArrowheads="1"/>
          </p:cNvSpPr>
          <p:nvPr/>
        </p:nvSpPr>
        <p:spPr bwMode="auto">
          <a:xfrm>
            <a:off x="228600" y="6156325"/>
            <a:ext cx="2057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Lu,nia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6" name="Text Box 24"/>
          <p:cNvSpPr txBox="1">
            <a:spLocks noChangeArrowheads="1"/>
          </p:cNvSpPr>
          <p:nvPr/>
        </p:nvSpPr>
        <p:spPr bwMode="auto">
          <a:xfrm>
            <a:off x="2362200" y="6156325"/>
            <a:ext cx="1981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Pi,iwn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7" name="Text Box 25"/>
          <p:cNvSpPr txBox="1">
            <a:spLocks noChangeArrowheads="1"/>
          </p:cNvSpPr>
          <p:nvPr/>
        </p:nvSpPr>
        <p:spPr bwMode="auto">
          <a:xfrm>
            <a:off x="4495800" y="6156325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</a:t>
            </a: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wra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8" name="Text Box 26"/>
          <p:cNvSpPr txBox="1">
            <a:spLocks noChangeArrowheads="1"/>
          </p:cNvSpPr>
          <p:nvPr/>
        </p:nvSpPr>
        <p:spPr bwMode="auto">
          <a:xfrm>
            <a:off x="6324600" y="6156325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Ic,uroc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3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3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3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0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0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0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7" grpId="0"/>
      <p:bldP spid="233478" grpId="0"/>
      <p:bldP spid="233479" grpId="0"/>
      <p:bldP spid="233483" grpId="0"/>
      <p:bldP spid="233485" grpId="0"/>
      <p:bldP spid="233486" grpId="0"/>
      <p:bldP spid="233487" grpId="0"/>
      <p:bldP spid="233489" grpId="0"/>
      <p:bldP spid="233492" grpId="0"/>
      <p:bldP spid="233493" grpId="0"/>
      <p:bldP spid="233494" grpId="0" animBg="1"/>
      <p:bldP spid="233495" grpId="0"/>
      <p:bldP spid="233496" grpId="0"/>
      <p:bldP spid="233497" grpId="0"/>
      <p:bldP spid="23349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63658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b="1" u="sng" dirty="0" smtClean="0">
                <a:solidFill>
                  <a:srgbClr val="FF0000"/>
                </a:solidFill>
              </a:rPr>
              <a:t>Vocabulary List</a:t>
            </a:r>
          </a:p>
        </p:txBody>
      </p:sp>
      <p:sp>
        <p:nvSpPr>
          <p:cNvPr id="249860" name="Rectangle 4"/>
          <p:cNvSpPr>
            <a:spLocks noChangeArrowheads="1"/>
          </p:cNvSpPr>
          <p:nvPr/>
        </p:nvSpPr>
        <p:spPr bwMode="auto">
          <a:xfrm>
            <a:off x="4572000" y="4267200"/>
            <a:ext cx="3352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</a:t>
            </a: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 come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249861" name="Rectangle 5"/>
          <p:cNvSpPr>
            <a:spLocks noChangeArrowheads="1"/>
          </p:cNvSpPr>
          <p:nvPr/>
        </p:nvSpPr>
        <p:spPr bwMode="auto">
          <a:xfrm>
            <a:off x="1066800" y="4267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`</a:t>
            </a:r>
            <a:r>
              <a:rPr lang="en-US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62" name="Rectangle 6"/>
          <p:cNvSpPr>
            <a:spLocks noChangeArrowheads="1"/>
          </p:cNvSpPr>
          <p:nvPr/>
        </p:nvSpPr>
        <p:spPr bwMode="auto">
          <a:xfrm>
            <a:off x="4572000" y="3429000"/>
            <a:ext cx="28194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</a:t>
            </a: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 sit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249863" name="Rectangle 7"/>
          <p:cNvSpPr>
            <a:spLocks noChangeArrowheads="1"/>
          </p:cNvSpPr>
          <p:nvPr/>
        </p:nvSpPr>
        <p:spPr bwMode="auto">
          <a:xfrm>
            <a:off x="1143000" y="3429000"/>
            <a:ext cx="26670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hemci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64" name="Rectangle 8"/>
          <p:cNvSpPr>
            <a:spLocks noChangeArrowheads="1"/>
          </p:cNvSpPr>
          <p:nvPr/>
        </p:nvSpPr>
        <p:spPr bwMode="auto">
          <a:xfrm>
            <a:off x="4572000" y="2514600"/>
            <a:ext cx="3124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give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249865" name="Rectangle 9"/>
          <p:cNvSpPr>
            <a:spLocks noChangeArrowheads="1"/>
          </p:cNvSpPr>
          <p:nvPr/>
        </p:nvSpPr>
        <p:spPr bwMode="auto">
          <a:xfrm>
            <a:off x="1371600" y="2590800"/>
            <a:ext cx="2133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]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66" name="Rectangle 10"/>
          <p:cNvSpPr>
            <a:spLocks noChangeArrowheads="1"/>
          </p:cNvSpPr>
          <p:nvPr/>
        </p:nvSpPr>
        <p:spPr bwMode="auto">
          <a:xfrm>
            <a:off x="4572000" y="1752600"/>
            <a:ext cx="2819400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hit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249867" name="Rectangle 11"/>
          <p:cNvSpPr>
            <a:spLocks noChangeArrowheads="1"/>
          </p:cNvSpPr>
          <p:nvPr/>
        </p:nvSpPr>
        <p:spPr bwMode="auto">
          <a:xfrm>
            <a:off x="1371600" y="1752600"/>
            <a:ext cx="2133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sari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68" name="Rectangle 12"/>
          <p:cNvSpPr>
            <a:spLocks noChangeArrowheads="1"/>
          </p:cNvSpPr>
          <p:nvPr/>
        </p:nvSpPr>
        <p:spPr bwMode="auto">
          <a:xfrm>
            <a:off x="4572000" y="914400"/>
            <a:ext cx="30480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study, keep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249869" name="Rectangle 13"/>
          <p:cNvSpPr>
            <a:spLocks noChangeArrowheads="1"/>
          </p:cNvSpPr>
          <p:nvPr/>
        </p:nvSpPr>
        <p:spPr bwMode="auto">
          <a:xfrm>
            <a:off x="1447800" y="914400"/>
            <a:ext cx="20574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`</a:t>
            </a:r>
            <a:r>
              <a:rPr lang="en-US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areh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79" name="Rectangle 23"/>
          <p:cNvSpPr>
            <a:spLocks noChangeArrowheads="1"/>
          </p:cNvSpPr>
          <p:nvPr/>
        </p:nvSpPr>
        <p:spPr bwMode="auto">
          <a:xfrm>
            <a:off x="4572000" y="5029200"/>
            <a:ext cx="2438400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</a:t>
            </a: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 speak, talk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249880" name="Rectangle 24"/>
          <p:cNvSpPr>
            <a:spLocks noChangeArrowheads="1"/>
          </p:cNvSpPr>
          <p:nvPr/>
        </p:nvSpPr>
        <p:spPr bwMode="auto">
          <a:xfrm>
            <a:off x="1143000" y="5029200"/>
            <a:ext cx="2590800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caji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1219200" y="5791200"/>
            <a:ext cx="2590800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menre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9" name="Rectangle 23"/>
          <p:cNvSpPr>
            <a:spLocks noChangeArrowheads="1"/>
          </p:cNvSpPr>
          <p:nvPr/>
        </p:nvSpPr>
        <p:spPr bwMode="auto">
          <a:xfrm>
            <a:off x="4572000" y="5791200"/>
            <a:ext cx="1981200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to like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25590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9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4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4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4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4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4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4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4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4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4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0" grpId="0"/>
      <p:bldP spid="249861" grpId="0"/>
      <p:bldP spid="249862" grpId="0"/>
      <p:bldP spid="249863" grpId="0"/>
      <p:bldP spid="249864" grpId="0"/>
      <p:bldP spid="249865" grpId="0"/>
      <p:bldP spid="249866" grpId="0"/>
      <p:bldP spid="249867" grpId="0"/>
      <p:bldP spid="249868" grpId="0"/>
      <p:bldP spid="249869" grpId="0"/>
      <p:bldP spid="249879" grpId="0"/>
      <p:bldP spid="249880" grpId="0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Coptic Bible Verses – Part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CS Avva Shenouda" pitchFamily="34" charset="0"/>
              </a:rPr>
              <a:t>Rasi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qen</a:t>
            </a:r>
            <a:r>
              <a:rPr lang="en-US" dirty="0" smtClean="0">
                <a:latin typeface="CS Avva Shenouda" pitchFamily="34" charset="0"/>
              </a:rPr>
              <a:t> `P[</a:t>
            </a:r>
            <a:r>
              <a:rPr lang="en-US" dirty="0" err="1" smtClean="0">
                <a:latin typeface="CS Avva Shenouda" pitchFamily="34" charset="0"/>
              </a:rPr>
              <a:t>oic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ncyou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niben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Rejoice in the Lord always. (Phil 4:4)</a:t>
            </a:r>
          </a:p>
          <a:p>
            <a:r>
              <a:rPr lang="en-US" dirty="0" err="1" smtClean="0">
                <a:latin typeface="CS Avva Shenouda" pitchFamily="34" charset="0"/>
              </a:rPr>
              <a:t>Twbh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ejen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neten`eryou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Pray for one another. (</a:t>
            </a:r>
            <a:r>
              <a:rPr lang="en-US" sz="2400" dirty="0" err="1" smtClean="0">
                <a:solidFill>
                  <a:srgbClr val="CC3300"/>
                </a:solidFill>
              </a:rPr>
              <a:t>Jm</a:t>
            </a:r>
            <a:r>
              <a:rPr lang="en-US" sz="2400" dirty="0" smtClean="0">
                <a:solidFill>
                  <a:srgbClr val="CC3300"/>
                </a:solidFill>
              </a:rPr>
              <a:t> 5:16)</a:t>
            </a:r>
          </a:p>
          <a:p>
            <a:r>
              <a:rPr lang="en-US" dirty="0" err="1" smtClean="0">
                <a:latin typeface="CS Avva Shenouda" pitchFamily="34" charset="0"/>
              </a:rPr>
              <a:t>Vnou</a:t>
            </a:r>
            <a:r>
              <a:rPr lang="en-US" dirty="0" smtClean="0">
                <a:latin typeface="CS Avva Shenouda" pitchFamily="34" charset="0"/>
              </a:rPr>
              <a:t>] </a:t>
            </a:r>
            <a:r>
              <a:rPr lang="en-US" dirty="0" err="1" smtClean="0">
                <a:latin typeface="CS Avva Shenouda" pitchFamily="34" charset="0"/>
              </a:rPr>
              <a:t>ouagapy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God is love. (I </a:t>
            </a:r>
            <a:r>
              <a:rPr lang="en-US" sz="2400" dirty="0" err="1" smtClean="0">
                <a:solidFill>
                  <a:srgbClr val="CC3300"/>
                </a:solidFill>
              </a:rPr>
              <a:t>Jn</a:t>
            </a:r>
            <a:r>
              <a:rPr lang="en-US" sz="2400" dirty="0" smtClean="0">
                <a:solidFill>
                  <a:srgbClr val="CC3300"/>
                </a:solidFill>
              </a:rPr>
              <a:t> 4:16)</a:t>
            </a:r>
          </a:p>
          <a:p>
            <a:r>
              <a:rPr lang="en-US" dirty="0" err="1" smtClean="0">
                <a:latin typeface="CS Avva Shenouda" pitchFamily="34" charset="0"/>
              </a:rPr>
              <a:t>Jemnom</a:t>
            </a:r>
            <a:r>
              <a:rPr lang="en-US" dirty="0" smtClean="0">
                <a:latin typeface="CS Avva Shenouda" pitchFamily="34" charset="0"/>
              </a:rPr>
              <a:t>] </a:t>
            </a:r>
            <a:r>
              <a:rPr lang="en-US" dirty="0" err="1" smtClean="0">
                <a:latin typeface="CS Avva Shenouda" pitchFamily="34" charset="0"/>
              </a:rPr>
              <a:t>anok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ai</a:t>
            </a:r>
            <a:r>
              <a:rPr lang="en-US" dirty="0" smtClean="0">
                <a:latin typeface="CS Avva Shenouda" pitchFamily="34" charset="0"/>
              </a:rPr>
              <a:t>[</a:t>
            </a:r>
            <a:r>
              <a:rPr lang="en-US" dirty="0" err="1" smtClean="0">
                <a:latin typeface="CS Avva Shenouda" pitchFamily="34" charset="0"/>
              </a:rPr>
              <a:t>ro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epikocmoc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Be of good cheer, I have overcome the world. (</a:t>
            </a:r>
            <a:r>
              <a:rPr lang="en-US" sz="2400" dirty="0" err="1" smtClean="0">
                <a:solidFill>
                  <a:srgbClr val="CC3300"/>
                </a:solidFill>
              </a:rPr>
              <a:t>Jn</a:t>
            </a:r>
            <a:r>
              <a:rPr lang="en-US" sz="2400" dirty="0" smtClean="0">
                <a:solidFill>
                  <a:srgbClr val="CC3300"/>
                </a:solidFill>
              </a:rPr>
              <a:t> 16:33)</a:t>
            </a:r>
          </a:p>
          <a:p>
            <a:r>
              <a:rPr lang="en-US" dirty="0" smtClean="0">
                <a:latin typeface="CS Avva Shenouda" pitchFamily="34" charset="0"/>
              </a:rPr>
              <a:t>}</a:t>
            </a:r>
            <a:r>
              <a:rPr lang="en-US" dirty="0" err="1" smtClean="0">
                <a:latin typeface="CS Avva Shenouda" pitchFamily="34" charset="0"/>
              </a:rPr>
              <a:t>ar,y</a:t>
            </a:r>
            <a:r>
              <a:rPr lang="en-US" dirty="0" smtClean="0">
                <a:latin typeface="CS Avva Shenouda" pitchFamily="34" charset="0"/>
              </a:rPr>
              <a:t> `n]</a:t>
            </a:r>
            <a:r>
              <a:rPr lang="en-US" dirty="0" err="1" smtClean="0">
                <a:latin typeface="CS Avva Shenouda" pitchFamily="34" charset="0"/>
              </a:rPr>
              <a:t>covia</a:t>
            </a:r>
            <a:r>
              <a:rPr lang="en-US" dirty="0" smtClean="0">
                <a:latin typeface="CS Avva Shenouda" pitchFamily="34" charset="0"/>
              </a:rPr>
              <a:t> ]ho] `</a:t>
            </a:r>
            <a:r>
              <a:rPr lang="en-US" dirty="0" err="1" smtClean="0">
                <a:latin typeface="CS Avva Shenouda" pitchFamily="34" charset="0"/>
              </a:rPr>
              <a:t>nte</a:t>
            </a:r>
            <a:r>
              <a:rPr lang="en-US" dirty="0" smtClean="0">
                <a:latin typeface="CS Avva Shenouda" pitchFamily="34" charset="0"/>
              </a:rPr>
              <a:t> `P[</a:t>
            </a:r>
            <a:r>
              <a:rPr lang="en-US" dirty="0" err="1" smtClean="0">
                <a:latin typeface="CS Avva Shenouda" pitchFamily="34" charset="0"/>
              </a:rPr>
              <a:t>oic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te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The fear of the Lord is the beginning of wisdom. (Ps 110:10)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371600" y="533400"/>
            <a:ext cx="6577928" cy="727055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Beginner Vocabulary Review</a:t>
            </a:r>
            <a:endParaRPr lang="en-US" sz="3200" b="1" dirty="0"/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447800"/>
            <a:ext cx="8153400" cy="4419600"/>
          </a:xfrm>
        </p:spPr>
        <p:txBody>
          <a:bodyPr>
            <a:normAutofit/>
          </a:bodyPr>
          <a:lstStyle/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romi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kahi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`</a:t>
            </a:r>
            <a:r>
              <a:rPr lang="en-US" dirty="0" err="1" smtClean="0">
                <a:latin typeface="CS Avva Shenouda" pitchFamily="34" charset="0"/>
              </a:rPr>
              <a:t>Vnou</a:t>
            </a:r>
            <a:r>
              <a:rPr lang="en-US" dirty="0" smtClean="0">
                <a:latin typeface="CS Avva Shenouda" pitchFamily="34" charset="0"/>
              </a:rPr>
              <a:t>]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`</a:t>
            </a:r>
            <a:r>
              <a:rPr lang="en-US" dirty="0" err="1" smtClean="0">
                <a:latin typeface="CS Avva Shenouda" pitchFamily="34" charset="0"/>
              </a:rPr>
              <a:t>alou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ioh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ry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con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syri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iwt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bal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yi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ran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ro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ouro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nyb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smtClean="0">
                <a:latin typeface="CS Avva Shenouda" pitchFamily="34" charset="0"/>
              </a:rPr>
              <a:t>`</a:t>
            </a:r>
            <a:r>
              <a:rPr lang="en-US" dirty="0" err="1" smtClean="0">
                <a:latin typeface="CS Avva Shenouda" pitchFamily="34" charset="0"/>
              </a:rPr>
              <a:t>chimi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vorsi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seri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ourw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ri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cwni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ajp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ve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sau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soury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mau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]`</a:t>
            </a:r>
            <a:r>
              <a:rPr lang="en-US" dirty="0" err="1" smtClean="0">
                <a:latin typeface="CS Avva Shenouda" pitchFamily="34" charset="0"/>
              </a:rPr>
              <a:t>alou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jij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`;</a:t>
            </a:r>
            <a:r>
              <a:rPr lang="en-US" dirty="0" err="1" smtClean="0">
                <a:latin typeface="CS Avva Shenouda" pitchFamily="34" charset="0"/>
              </a:rPr>
              <a:t>nyb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hiomi</a:t>
            </a:r>
            <a:endParaRPr lang="en-US" dirty="0" smtClean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nicwni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nirwmi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niran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nimau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ni`alou</a:t>
            </a:r>
            <a:endParaRPr lang="en-US" dirty="0" smtClean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jom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niourw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nibal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nisau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ninyb</a:t>
            </a:r>
            <a:endParaRPr lang="en-US" dirty="0" smtClean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niseri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totc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io</a:t>
            </a:r>
            <a:r>
              <a:rPr lang="en-US" dirty="0" smtClean="0">
                <a:latin typeface="CS Avva Shenouda" pitchFamily="34" charset="0"/>
              </a:rPr>
              <a:t>]	</a:t>
            </a:r>
            <a:r>
              <a:rPr lang="en-US" dirty="0" err="1" smtClean="0">
                <a:latin typeface="CS Avva Shenouda" pitchFamily="34" charset="0"/>
              </a:rPr>
              <a:t>ourwou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vyou`i</a:t>
            </a:r>
            <a:endParaRPr lang="en-US" dirty="0"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/>
      <p:bldP spid="13312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Simple Present Tense</a:t>
            </a:r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2667000" cy="51816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 smtClean="0">
                <a:latin typeface="CS Avva Shenouda" pitchFamily="34" charset="0"/>
              </a:rPr>
              <a:t>]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caji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 smtClean="0">
                <a:latin typeface="CS Avva Shenouda" pitchFamily="34" charset="0"/>
              </a:rPr>
              <a:t>`</a:t>
            </a:r>
            <a:r>
              <a:rPr lang="en-US" sz="3200" b="1" dirty="0" err="1">
                <a:latin typeface="CS Avva Shenouda" pitchFamily="34" charset="0"/>
              </a:rPr>
              <a:t>k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caji</a:t>
            </a:r>
            <a:endParaRPr lang="en-US" sz="32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Te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caji</a:t>
            </a:r>
            <a:endParaRPr lang="en-US" sz="32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 smtClean="0">
                <a:latin typeface="CS Avva Shenouda" pitchFamily="34" charset="0"/>
              </a:rPr>
              <a:t>`</a:t>
            </a:r>
            <a:r>
              <a:rPr lang="en-US" sz="3200" b="1" dirty="0" err="1" smtClean="0">
                <a:latin typeface="CS Avva Shenouda" pitchFamily="34" charset="0"/>
              </a:rPr>
              <a:t>f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caji</a:t>
            </a:r>
            <a:endParaRPr lang="en-US" sz="32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 smtClean="0">
                <a:latin typeface="CS Avva Shenouda" pitchFamily="34" charset="0"/>
              </a:rPr>
              <a:t>`</a:t>
            </a:r>
            <a:r>
              <a:rPr lang="en-US" sz="3200" b="1" dirty="0" err="1" smtClean="0">
                <a:latin typeface="CS Avva Shenouda" pitchFamily="34" charset="0"/>
              </a:rPr>
              <a:t>c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caji</a:t>
            </a:r>
            <a:endParaRPr lang="en-US" sz="32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ten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caji</a:t>
            </a:r>
            <a:endParaRPr lang="en-US" sz="32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teten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caji</a:t>
            </a:r>
            <a:endParaRPr lang="en-US" sz="32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ce</a:t>
            </a:r>
            <a:r>
              <a:rPr lang="en-US" sz="3200" b="1" dirty="0" err="1" smtClean="0">
                <a:solidFill>
                  <a:srgbClr val="FF0000"/>
                </a:solidFill>
                <a:latin typeface="CS Avva Shenouda" pitchFamily="34" charset="0"/>
              </a:rPr>
              <a:t>caji</a:t>
            </a:r>
            <a:endParaRPr lang="en-US" sz="3200" b="1" dirty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None/>
            </a:pPr>
            <a:endParaRPr lang="en-US" b="1" dirty="0" smtClean="0">
              <a:solidFill>
                <a:srgbClr val="FF0000"/>
              </a:solidFill>
              <a:latin typeface="CS Avva Shenoud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52800" y="1143000"/>
            <a:ext cx="4953000" cy="5107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	I 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speak</a:t>
            </a:r>
          </a:p>
          <a:p>
            <a:pPr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	you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speak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latin typeface="+mn-lt"/>
              </a:rPr>
              <a:t>(masculine)</a:t>
            </a:r>
          </a:p>
          <a:p>
            <a:pPr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	you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speak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latin typeface="+mn-lt"/>
              </a:rPr>
              <a:t>(feminine)</a:t>
            </a:r>
          </a:p>
          <a:p>
            <a:pPr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</a:t>
            </a:r>
            <a:r>
              <a:rPr lang="en-US" sz="3200" dirty="0">
                <a:latin typeface="+mn-lt"/>
              </a:rPr>
              <a:t>	</a:t>
            </a:r>
            <a:r>
              <a:rPr lang="en-US" sz="3200" dirty="0" smtClean="0">
                <a:latin typeface="+mn-lt"/>
              </a:rPr>
              <a:t>he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speaks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  <a:p>
            <a:pPr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     </a:t>
            </a:r>
            <a:r>
              <a:rPr lang="en-US" sz="3200" dirty="0" smtClean="0">
                <a:latin typeface="+mn-lt"/>
              </a:rPr>
              <a:t>she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speaks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  <a:p>
            <a:pPr marL="457200" indent="-457200"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   we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speak</a:t>
            </a:r>
          </a:p>
          <a:p>
            <a:pPr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     you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speak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latin typeface="+mn-lt"/>
              </a:rPr>
              <a:t>(plural)</a:t>
            </a:r>
          </a:p>
          <a:p>
            <a:pPr algn="l">
              <a:lnSpc>
                <a:spcPct val="110000"/>
              </a:lnSpc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     they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speak</a:t>
            </a:r>
          </a:p>
        </p:txBody>
      </p:sp>
      <p:sp>
        <p:nvSpPr>
          <p:cNvPr id="7170" name="AutoShape 2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2" name="AutoShape 4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4" name="AutoShape 6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Present Tense Rule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800" dirty="0">
                <a:solidFill>
                  <a:srgbClr val="990033"/>
                </a:solidFill>
                <a:latin typeface="CS Avva Shenouda"/>
                <a:cs typeface="CS Avva Shenouda"/>
              </a:rPr>
              <a:t> </a:t>
            </a:r>
            <a:r>
              <a:rPr lang="en-US" sz="4800" dirty="0" smtClean="0">
                <a:solidFill>
                  <a:srgbClr val="990033"/>
                </a:solidFill>
                <a:latin typeface="CS Avva Shenouda"/>
                <a:cs typeface="CS Avva Shenouda"/>
              </a:rPr>
              <a:t> `k  </a:t>
            </a:r>
            <a:r>
              <a:rPr lang="en-US" dirty="0" smtClean="0">
                <a:latin typeface="Wingdings"/>
                <a:ea typeface="Wingdings"/>
                <a:cs typeface="Wingdings"/>
                <a:sym typeface="Wingdings"/>
              </a:rPr>
              <a:t> </a:t>
            </a:r>
            <a:r>
              <a:rPr lang="en-US" dirty="0" smtClean="0">
                <a:latin typeface="CS Avva Shenouda"/>
                <a:cs typeface="CS Avva Shenouda"/>
              </a:rPr>
              <a:t> </a:t>
            </a:r>
            <a:r>
              <a:rPr lang="en-US" sz="4800" dirty="0" smtClean="0">
                <a:solidFill>
                  <a:srgbClr val="990033"/>
                </a:solidFill>
                <a:latin typeface="CS Avva Shenouda"/>
                <a:cs typeface="CS Avva Shenouda"/>
              </a:rPr>
              <a:t> `,  </a:t>
            </a:r>
            <a:r>
              <a:rPr lang="en-US" sz="4800" dirty="0" smtClean="0">
                <a:solidFill>
                  <a:schemeClr val="tx2"/>
                </a:solidFill>
                <a:cs typeface="CS Avva Shenouda"/>
              </a:rPr>
              <a:t>before the letters</a:t>
            </a:r>
          </a:p>
          <a:p>
            <a:pPr marL="0" indent="0" algn="ctr">
              <a:buNone/>
            </a:pPr>
            <a:r>
              <a:rPr lang="en-US" sz="4800" dirty="0" smtClean="0">
                <a:solidFill>
                  <a:srgbClr val="008000"/>
                </a:solidFill>
                <a:latin typeface="CS Avva Shenouda"/>
                <a:cs typeface="CS Avva Shenouda"/>
              </a:rPr>
              <a:t>b  l  m  n  o  r</a:t>
            </a:r>
            <a:endParaRPr lang="en-US" sz="4800" dirty="0">
              <a:solidFill>
                <a:srgbClr val="008000"/>
              </a:solidFill>
              <a:latin typeface="CS Avva Shenouda"/>
              <a:cs typeface="CS Avva Shenouda"/>
            </a:endParaRPr>
          </a:p>
        </p:txBody>
      </p:sp>
    </p:spTree>
    <p:extLst>
      <p:ext uri="{BB962C8B-B14F-4D97-AF65-F5344CB8AC3E}">
        <p14:creationId xmlns:p14="http://schemas.microsoft.com/office/powerpoint/2010/main" val="36744771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Exercise (Part 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28800"/>
            <a:ext cx="4267200" cy="4724400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ouwm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lvl="1" indent="-342900"/>
            <a:r>
              <a:rPr lang="en-US" sz="31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500" b="1" dirty="0" smtClean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eat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menre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lvl="1" indent="-342900"/>
            <a:r>
              <a:rPr lang="en-US" sz="31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5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like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moc</a:t>
            </a:r>
            <a:r>
              <a:rPr lang="en-US" sz="3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]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lvl="1" indent="-342900"/>
            <a:r>
              <a:rPr lang="en-US" sz="31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5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hate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ws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lvl="1" indent="-342900"/>
            <a:r>
              <a:rPr lang="en-US" sz="31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5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read</a:t>
            </a:r>
          </a:p>
          <a:p>
            <a:pPr marL="457200" indent="-45720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1430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 smtClean="0">
                <a:solidFill>
                  <a:srgbClr val="C00000"/>
                </a:solidFill>
                <a:latin typeface="+mj-lt"/>
              </a:rPr>
              <a:t>Use the following verbs to form a present tense: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495800" y="1905000"/>
            <a:ext cx="4419600" cy="5358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500" dirty="0" err="1" smtClean="0">
                <a:cs typeface="+mn-cs"/>
              </a:rPr>
              <a:t>hemci</a:t>
            </a:r>
            <a:endParaRPr lang="en-US" sz="3500" dirty="0" smtClean="0">
              <a:cs typeface="+mn-cs"/>
            </a:endParaRP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 smtClean="0">
                <a:solidFill>
                  <a:srgbClr val="FF6600"/>
                </a:solidFill>
                <a:latin typeface="+mn-lt"/>
                <a:cs typeface="+mn-cs"/>
              </a:rPr>
              <a:t> to </a:t>
            </a: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sit</a:t>
            </a:r>
          </a:p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500" dirty="0" err="1" smtClean="0">
                <a:cs typeface="+mn-cs"/>
              </a:rPr>
              <a:t>cw</a:t>
            </a:r>
            <a:endParaRPr lang="en-US" sz="3500" dirty="0" smtClean="0">
              <a:cs typeface="+mn-cs"/>
            </a:endParaRP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 smtClean="0">
                <a:solidFill>
                  <a:srgbClr val="FF6600"/>
                </a:solidFill>
                <a:latin typeface="+mn-lt"/>
                <a:cs typeface="+mn-cs"/>
              </a:rPr>
              <a:t> to </a:t>
            </a: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drink</a:t>
            </a:r>
          </a:p>
          <a:p>
            <a:pPr marL="514350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500" dirty="0" smtClean="0">
                <a:cs typeface="+mn-cs"/>
              </a:rPr>
              <a:t>[</a:t>
            </a:r>
            <a:r>
              <a:rPr lang="en-US" sz="3500" dirty="0" err="1" smtClean="0">
                <a:cs typeface="+mn-cs"/>
              </a:rPr>
              <a:t>i</a:t>
            </a:r>
            <a:endParaRPr lang="en-US" sz="3500" dirty="0" smtClean="0">
              <a:cs typeface="+mn-cs"/>
            </a:endParaRP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 smtClean="0">
                <a:solidFill>
                  <a:srgbClr val="FF6600"/>
                </a:solidFill>
                <a:latin typeface="+mn-lt"/>
                <a:cs typeface="+mn-cs"/>
              </a:rPr>
              <a:t> to </a:t>
            </a: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take</a:t>
            </a:r>
          </a:p>
          <a:p>
            <a:pPr marL="514350" lvl="1" indent="-514350" algn="l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8"/>
            </a:pPr>
            <a:r>
              <a:rPr lang="en-US" sz="3500" dirty="0" err="1" smtClean="0">
                <a:cs typeface="+mn-cs"/>
              </a:rPr>
              <a:t>nau</a:t>
            </a:r>
          </a:p>
          <a:p>
            <a:pPr marL="914400" lvl="1" indent="-342900" algn="l">
              <a:lnSpc>
                <a:spcPct val="90000"/>
              </a:lnSpc>
              <a:spcBef>
                <a:spcPts val="15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3000" b="1" dirty="0" smtClean="0">
                <a:solidFill>
                  <a:srgbClr val="FF6600"/>
                </a:solidFill>
                <a:latin typeface="+mn-lt"/>
                <a:cs typeface="+mn-cs"/>
              </a:rPr>
              <a:t> to </a:t>
            </a:r>
            <a:r>
              <a:rPr lang="en-US" sz="3000" b="1" dirty="0">
                <a:solidFill>
                  <a:srgbClr val="FF6600"/>
                </a:solidFill>
                <a:latin typeface="+mn-lt"/>
                <a:cs typeface="+mn-cs"/>
              </a:rPr>
              <a:t>look</a:t>
            </a:r>
          </a:p>
          <a:p>
            <a:pPr marL="182880" indent="-342900" algn="l">
              <a:lnSpc>
                <a:spcPct val="80000"/>
              </a:lnSpc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</a:pPr>
            <a:endParaRPr lang="en-US" sz="2900" b="1" dirty="0" smtClean="0">
              <a:solidFill>
                <a:srgbClr val="FFC000"/>
              </a:solidFill>
              <a:latin typeface="+mn-lt"/>
              <a:cs typeface="+mn-cs"/>
            </a:endParaRP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5"/>
            </a:pPr>
            <a:endParaRPr lang="en-US" sz="1800" b="1" dirty="0" err="1" smtClean="0">
              <a:solidFill>
                <a:schemeClr val="accent4">
                  <a:lumMod val="7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Exercise (Part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28800"/>
            <a:ext cx="4267200" cy="4724400"/>
          </a:xfrm>
        </p:spPr>
        <p:txBody>
          <a:bodyPr>
            <a:normAutofit fontScale="85000" lnSpcReduction="20000"/>
          </a:bodyPr>
          <a:lstStyle/>
          <a:p>
            <a:pPr marL="457200" lvl="1" indent="-457200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en-US" sz="3100" b="1" dirty="0" smtClean="0">
                <a:solidFill>
                  <a:srgbClr val="FF0000"/>
                </a:solidFill>
                <a:latin typeface="CS Avva Shenouda" pitchFamily="34" charset="0"/>
              </a:rPr>
              <a:t>]`</a:t>
            </a: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cqai</a:t>
            </a:r>
            <a:r>
              <a:rPr lang="en-US" sz="3100" b="1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qen</a:t>
            </a:r>
            <a:r>
              <a:rPr lang="en-US" sz="3100" b="1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pikas</a:t>
            </a:r>
            <a:endParaRPr lang="en-US" sz="31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 marL="758952" lvl="1" indent="-457200">
              <a:lnSpc>
                <a:spcPct val="120000"/>
              </a:lnSpc>
              <a:spcBef>
                <a:spcPts val="600"/>
              </a:spcBef>
            </a:pPr>
            <a:r>
              <a:rPr lang="en-US" sz="31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 write with the pen.</a:t>
            </a:r>
          </a:p>
          <a:p>
            <a:pPr marL="514350" lvl="1" indent="-514350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2"/>
            </a:pP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Pirwmi</a:t>
            </a:r>
            <a:r>
              <a:rPr lang="en-US" sz="3100" b="1" dirty="0" smtClean="0">
                <a:solidFill>
                  <a:srgbClr val="FF0000"/>
                </a:solidFill>
                <a:latin typeface="CS Avva Shenouda" pitchFamily="34" charset="0"/>
              </a:rPr>
              <a:t> `</a:t>
            </a: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fws</a:t>
            </a:r>
            <a:r>
              <a:rPr lang="en-US" sz="3100" b="1" dirty="0" smtClean="0">
                <a:solidFill>
                  <a:srgbClr val="FF0000"/>
                </a:solidFill>
                <a:latin typeface="CS Avva Shenouda" pitchFamily="34" charset="0"/>
              </a:rPr>
              <a:t> `</a:t>
            </a: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mpijwm</a:t>
            </a:r>
            <a:endParaRPr lang="en-US" sz="31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 marL="758952" lvl="1" indent="-457200">
              <a:lnSpc>
                <a:spcPct val="120000"/>
              </a:lnSpc>
              <a:spcBef>
                <a:spcPts val="600"/>
              </a:spcBef>
            </a:pPr>
            <a:r>
              <a:rPr lang="en-US" sz="31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man reads the book</a:t>
            </a:r>
            <a:r>
              <a:rPr lang="en-US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514350" lvl="1" indent="-514350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3"/>
            </a:pP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Tacwni</a:t>
            </a:r>
            <a:r>
              <a:rPr lang="en-US" sz="3100" b="1" dirty="0" smtClean="0">
                <a:solidFill>
                  <a:srgbClr val="FF0000"/>
                </a:solidFill>
                <a:latin typeface="CS Avva Shenouda" pitchFamily="34" charset="0"/>
              </a:rPr>
              <a:t> `</a:t>
            </a: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csari</a:t>
            </a:r>
            <a:r>
              <a:rPr lang="en-US" sz="3100" b="1" dirty="0" smtClean="0">
                <a:solidFill>
                  <a:srgbClr val="FF0000"/>
                </a:solidFill>
                <a:latin typeface="CS Avva Shenouda" pitchFamily="34" charset="0"/>
              </a:rPr>
              <a:t> `e]</a:t>
            </a: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sau</a:t>
            </a:r>
            <a:endParaRPr lang="en-US" sz="31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 marL="758952" lvl="1">
              <a:lnSpc>
                <a:spcPct val="120000"/>
              </a:lnSpc>
              <a:spcBef>
                <a:spcPts val="600"/>
              </a:spcBef>
            </a:pPr>
            <a:r>
              <a:rPr lang="en-US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sister hits the cat.</a:t>
            </a:r>
          </a:p>
          <a:p>
            <a:pPr marL="514350" lvl="1" indent="-514350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4"/>
            </a:pP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Pi`alou</a:t>
            </a:r>
            <a:r>
              <a:rPr lang="en-US" sz="3100" b="1" dirty="0" smtClean="0">
                <a:solidFill>
                  <a:srgbClr val="FF0000"/>
                </a:solidFill>
                <a:latin typeface="CS Avva Shenouda" pitchFamily="34" charset="0"/>
              </a:rPr>
              <a:t> `</a:t>
            </a: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fouwm</a:t>
            </a:r>
            <a:r>
              <a:rPr lang="en-US" sz="3100" b="1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nem</a:t>
            </a:r>
            <a:r>
              <a:rPr lang="en-US" sz="3100" b="1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100" b="1" dirty="0" err="1" smtClean="0">
                <a:solidFill>
                  <a:srgbClr val="FF0000"/>
                </a:solidFill>
                <a:latin typeface="CS Avva Shenouda" pitchFamily="34" charset="0"/>
              </a:rPr>
              <a:t>tefmau</a:t>
            </a:r>
            <a:endParaRPr lang="en-US" sz="31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 marL="758952" lvl="1" indent="-457200">
              <a:lnSpc>
                <a:spcPct val="120000"/>
              </a:lnSpc>
              <a:spcBef>
                <a:spcPts val="600"/>
              </a:spcBef>
            </a:pPr>
            <a:r>
              <a:rPr lang="en-US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boy eats with his mother.</a:t>
            </a:r>
          </a:p>
          <a:p>
            <a:pPr marL="457200" indent="-45720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1430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 smtClean="0">
                <a:solidFill>
                  <a:srgbClr val="C00000"/>
                </a:solidFill>
                <a:latin typeface="+mj-lt"/>
              </a:rPr>
              <a:t>Translate the following into English: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495800" y="1905000"/>
            <a:ext cx="4419600" cy="5061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514350" algn="l"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5"/>
            </a:pP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Paiwt</a:t>
            </a:r>
            <a:r>
              <a:rPr lang="en-US" sz="2600" b="1" dirty="0" smtClean="0">
                <a:solidFill>
                  <a:srgbClr val="FF0000"/>
                </a:solidFill>
                <a:cs typeface="+mn-cs"/>
              </a:rPr>
              <a:t> `</a:t>
            </a: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fcw</a:t>
            </a:r>
            <a:r>
              <a:rPr lang="en-US" sz="2600" b="1" dirty="0" smtClean="0">
                <a:solidFill>
                  <a:srgbClr val="FF0000"/>
                </a:solidFill>
                <a:cs typeface="+mn-cs"/>
              </a:rPr>
              <a:t> `</a:t>
            </a: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mpi`erw</a:t>
            </a:r>
            <a:r>
              <a:rPr lang="en-US" sz="2600" b="1" dirty="0" smtClean="0">
                <a:solidFill>
                  <a:srgbClr val="FF0000"/>
                </a:solidFill>
                <a:cs typeface="+mn-cs"/>
              </a:rPr>
              <a:t>]</a:t>
            </a:r>
          </a:p>
          <a:p>
            <a:pPr marL="758952" lvl="1" indent="-457200" algn="l"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400" dirty="0" smtClean="0">
                <a:latin typeface="+mn-lt"/>
                <a:cs typeface="+mn-cs"/>
              </a:rPr>
              <a:t>My father drinks the milk.</a:t>
            </a:r>
          </a:p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6"/>
            </a:pP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Tenmoc</a:t>
            </a:r>
            <a:r>
              <a:rPr lang="en-US" sz="2600" b="1" dirty="0" smtClean="0">
                <a:solidFill>
                  <a:srgbClr val="FF0000"/>
                </a:solidFill>
                <a:cs typeface="+mn-cs"/>
              </a:rPr>
              <a:t>] `</a:t>
            </a: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mai`alou</a:t>
            </a:r>
            <a:endParaRPr lang="en-US" sz="2600" b="1" dirty="0" smtClean="0">
              <a:solidFill>
                <a:srgbClr val="FF0000"/>
              </a:solidFill>
              <a:cs typeface="+mn-cs"/>
            </a:endParaRPr>
          </a:p>
          <a:p>
            <a:pPr marL="758952" lvl="1" indent="-45720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400" dirty="0" smtClean="0">
                <a:latin typeface="+mn-lt"/>
                <a:cs typeface="+mn-cs"/>
              </a:rPr>
              <a:t>We hate this boy.</a:t>
            </a:r>
          </a:p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7"/>
            </a:pP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Na`cnyou</a:t>
            </a:r>
            <a:r>
              <a:rPr lang="en-US" sz="2600" b="1" dirty="0" smtClean="0">
                <a:solidFill>
                  <a:srgbClr val="FF0000"/>
                </a:solidFill>
                <a:cs typeface="+mn-cs"/>
              </a:rPr>
              <a:t> </a:t>
            </a: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ce`areh</a:t>
            </a:r>
            <a:r>
              <a:rPr lang="en-US" sz="2600" b="1" dirty="0" smtClean="0">
                <a:solidFill>
                  <a:srgbClr val="FF0000"/>
                </a:solidFill>
                <a:cs typeface="+mn-cs"/>
              </a:rPr>
              <a:t> `</a:t>
            </a: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enouws</a:t>
            </a:r>
            <a:endParaRPr lang="en-US" sz="2600" b="1" dirty="0" smtClean="0">
              <a:solidFill>
                <a:srgbClr val="FF0000"/>
              </a:solidFill>
              <a:cs typeface="+mn-cs"/>
            </a:endParaRPr>
          </a:p>
          <a:p>
            <a:pPr marL="758952" lvl="1" indent="-45720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200" dirty="0" smtClean="0">
                <a:latin typeface="+mn-lt"/>
                <a:cs typeface="+mn-cs"/>
              </a:rPr>
              <a:t>My brothers study their lessons.</a:t>
            </a:r>
          </a:p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80000"/>
              <a:buFont typeface="+mj-lt"/>
              <a:buAutoNum type="arabicPeriod" startAt="8"/>
            </a:pPr>
            <a:r>
              <a:rPr lang="en-US" sz="2600" b="1" dirty="0" smtClean="0">
                <a:solidFill>
                  <a:srgbClr val="FF0000"/>
                </a:solidFill>
                <a:cs typeface="+mn-cs"/>
              </a:rPr>
              <a:t>`</a:t>
            </a: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cws</a:t>
            </a:r>
            <a:r>
              <a:rPr lang="en-US" sz="2600" b="1" dirty="0" smtClean="0">
                <a:solidFill>
                  <a:srgbClr val="FF0000"/>
                </a:solidFill>
                <a:cs typeface="+mn-cs"/>
              </a:rPr>
              <a:t> </a:t>
            </a: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ouoh</a:t>
            </a:r>
            <a:r>
              <a:rPr lang="en-US" sz="2600" b="1" dirty="0" smtClean="0">
                <a:solidFill>
                  <a:srgbClr val="FF0000"/>
                </a:solidFill>
                <a:cs typeface="+mn-cs"/>
              </a:rPr>
              <a:t> `</a:t>
            </a: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c`cqai</a:t>
            </a:r>
            <a:r>
              <a:rPr lang="en-US" sz="2600" b="1" dirty="0" smtClean="0">
                <a:solidFill>
                  <a:srgbClr val="FF0000"/>
                </a:solidFill>
                <a:cs typeface="+mn-cs"/>
              </a:rPr>
              <a:t> `</a:t>
            </a:r>
            <a:r>
              <a:rPr lang="en-US" sz="2600" b="1" dirty="0" err="1" smtClean="0">
                <a:solidFill>
                  <a:srgbClr val="FF0000"/>
                </a:solidFill>
                <a:cs typeface="+mn-cs"/>
              </a:rPr>
              <a:t>nnecws</a:t>
            </a:r>
            <a:endParaRPr lang="en-US" sz="2600" b="1" dirty="0" smtClean="0">
              <a:solidFill>
                <a:srgbClr val="FF0000"/>
              </a:solidFill>
              <a:cs typeface="+mn-cs"/>
            </a:endParaRPr>
          </a:p>
          <a:p>
            <a:pPr marL="758952" lvl="1" indent="-457200" algn="l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"/>
            </a:pPr>
            <a:r>
              <a:rPr lang="en-US" sz="2200" dirty="0" smtClean="0">
                <a:latin typeface="+mn-lt"/>
                <a:cs typeface="+mn-cs"/>
              </a:rPr>
              <a:t>She reads and writes her lessons.</a:t>
            </a:r>
          </a:p>
          <a:p>
            <a:pPr marL="182880" indent="-342900" algn="l">
              <a:lnSpc>
                <a:spcPct val="80000"/>
              </a:lnSpc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</a:pPr>
            <a:endParaRPr lang="en-US" sz="2900" b="1" dirty="0" smtClean="0">
              <a:solidFill>
                <a:srgbClr val="FFC000"/>
              </a:solidFill>
              <a:latin typeface="+mn-lt"/>
              <a:cs typeface="+mn-cs"/>
            </a:endParaRP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5"/>
            </a:pPr>
            <a:endParaRPr lang="en-US" sz="1800" b="1" dirty="0" err="1" smtClean="0">
              <a:solidFill>
                <a:schemeClr val="accent4">
                  <a:lumMod val="7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Announcement</a:t>
            </a:r>
          </a:p>
        </p:txBody>
      </p:sp>
      <p:sp>
        <p:nvSpPr>
          <p:cNvPr id="34823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en-US" sz="4000" dirty="0"/>
              <a:t> All slides are available at </a:t>
            </a:r>
            <a:br>
              <a:rPr lang="en-US" sz="4000" dirty="0"/>
            </a:br>
            <a:r>
              <a:rPr lang="en-US" dirty="0">
                <a:solidFill>
                  <a:srgbClr val="990033"/>
                </a:solidFill>
              </a:rPr>
              <a:t>http://</a:t>
            </a:r>
            <a:r>
              <a:rPr lang="en-US" dirty="0" smtClean="0">
                <a:solidFill>
                  <a:srgbClr val="990033"/>
                </a:solidFill>
              </a:rPr>
              <a:t>www.ekladious.com/coptic.html</a:t>
            </a:r>
            <a:endParaRPr lang="en-US" sz="4000" dirty="0">
              <a:solidFill>
                <a:srgbClr val="990033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sz="4000" dirty="0"/>
              <a:t> 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286000" y="4114800"/>
            <a:ext cx="4495800" cy="762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dirty="0" err="1" smtClean="0">
                <a:latin typeface="CS Avva Shenouda" pitchFamily="34" charset="0"/>
              </a:rPr>
              <a:t>O</a:t>
            </a:r>
            <a:r>
              <a:rPr lang="en-US" cap="none" dirty="0" err="1" smtClean="0">
                <a:latin typeface="CS Avva Shenouda" pitchFamily="34" charset="0"/>
              </a:rPr>
              <a:t>ujai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cap="none" dirty="0" err="1">
                <a:latin typeface="CS Avva Shenouda" pitchFamily="34" charset="0"/>
              </a:rPr>
              <a:t>qen</a:t>
            </a:r>
            <a:r>
              <a:rPr lang="en-US" dirty="0">
                <a:latin typeface="CS Avva Shenouda" pitchFamily="34" charset="0"/>
              </a:rPr>
              <a:t> `P</a:t>
            </a:r>
            <a:r>
              <a:rPr lang="en-US" cap="none" dirty="0">
                <a:latin typeface="CS Avva Shenouda" pitchFamily="34" charset="0"/>
              </a:rPr>
              <a:t>[</a:t>
            </a:r>
            <a:r>
              <a:rPr lang="en-US" cap="none" dirty="0" err="1">
                <a:latin typeface="CS Avva Shenouda" pitchFamily="34" charset="0"/>
              </a:rPr>
              <a:t>oic</a:t>
            </a:r>
            <a:endParaRPr lang="en-US" cap="none" dirty="0">
              <a:latin typeface="CS Avva Shenouda" pitchFamily="34" charset="0"/>
            </a:endParaRPr>
          </a:p>
        </p:txBody>
      </p:sp>
      <p:pic>
        <p:nvPicPr>
          <p:cNvPr id="21507" name="Picture 6" descr="Coptic Cross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33800" y="1981200"/>
            <a:ext cx="15430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Formal">
  <a:themeElements>
    <a:clrScheme name="Formal">
      <a:dk1>
        <a:srgbClr val="534239"/>
      </a:dk1>
      <a:lt1>
        <a:srgbClr val="FFFFFF"/>
      </a:lt1>
      <a:dk2>
        <a:srgbClr val="3D3A48"/>
      </a:dk2>
      <a:lt2>
        <a:srgbClr val="E1DFD1"/>
      </a:lt2>
      <a:accent1>
        <a:srgbClr val="907F76"/>
      </a:accent1>
      <a:accent2>
        <a:srgbClr val="A46645"/>
      </a:accent2>
      <a:accent3>
        <a:srgbClr val="CD9C47"/>
      </a:accent3>
      <a:accent4>
        <a:srgbClr val="9A92CD"/>
      </a:accent4>
      <a:accent5>
        <a:srgbClr val="7D639B"/>
      </a:accent5>
      <a:accent6>
        <a:srgbClr val="733678"/>
      </a:accent6>
      <a:hlink>
        <a:srgbClr val="A84914"/>
      </a:hlink>
      <a:folHlink>
        <a:srgbClr val="B25672"/>
      </a:folHlink>
    </a:clrScheme>
    <a:fontScheme name="Formal">
      <a:majorFont>
        <a:latin typeface="Garamond"/>
        <a:ea typeface=""/>
        <a:cs typeface=""/>
        <a:font script="Jpan" typeface="ヒラギノ明朝 Pro W3"/>
        <a:font script="Hans" typeface="宋体"/>
        <a:font script="Hant" typeface="新細明體"/>
      </a:majorFont>
      <a:minorFont>
        <a:latin typeface="Garamond"/>
        <a:ea typeface=""/>
        <a:cs typeface=""/>
        <a:font script="Jpan" typeface="ヒラギノ明朝 Pro W3"/>
        <a:font script="Hans" typeface="宋体"/>
        <a:font script="Hant" typeface="新細明體"/>
      </a:minorFont>
    </a:fontScheme>
    <a:fmtScheme name="Formal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0000"/>
                <a:satMod val="200000"/>
              </a:schemeClr>
              <a:schemeClr val="phClr">
                <a:shade val="90000"/>
                <a:satMod val="150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80000"/>
                <a:satMod val="135000"/>
              </a:schemeClr>
              <a:schemeClr val="phClr">
                <a:shade val="80000"/>
                <a:satMod val="150000"/>
              </a:schemeClr>
            </a:duotone>
          </a:blip>
          <a:tile tx="0" ty="0" sx="65000" sy="65000" flip="none" algn="tl"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>
              <a:shade val="90000"/>
              <a:alpha val="90000"/>
            </a:schemeClr>
          </a:solidFill>
          <a:prstDash val="solid"/>
          <a:miter/>
        </a:ln>
        <a:ln w="38100" cap="flat" cmpd="sng" algn="ctr">
          <a:solidFill>
            <a:schemeClr val="phClr">
              <a:shade val="85000"/>
              <a:alpha val="90000"/>
              <a:satMod val="125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88900" dist="38100" dir="5400000" sx="101000" sy="101000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morning" dir="t">
              <a:rot lat="0" lon="0" rev="6000000"/>
            </a:lightRig>
          </a:scene3d>
          <a:sp3d prstMaterial="metal">
            <a:bevelT w="25400" h="12700" prst="artDeco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3">
            <a:duotone>
              <a:schemeClr val="phClr">
                <a:tint val="50000"/>
                <a:satMod val="250000"/>
              </a:schemeClr>
              <a:schemeClr val="phClr">
                <a:shade val="80000"/>
                <a:satMod val="175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tint val="10000"/>
                <a:satMod val="260000"/>
                <a:lumMod val="115000"/>
              </a:schemeClr>
              <a:schemeClr val="phClr">
                <a:shade val="75000"/>
                <a:satMod val="175000"/>
                <a:lumMod val="105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Formal.thmx</Template>
  <TotalTime>3408</TotalTime>
  <Words>423</Words>
  <Application>Microsoft Macintosh PowerPoint</Application>
  <PresentationFormat>On-screen Show (4:3)</PresentationFormat>
  <Paragraphs>166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Formal</vt:lpstr>
      <vt:lpstr>   Coptic Lesson 17  Present Tense</vt:lpstr>
      <vt:lpstr>Coptic Alphabets</vt:lpstr>
      <vt:lpstr>Review Questions</vt:lpstr>
      <vt:lpstr>Review for Beginners</vt:lpstr>
      <vt:lpstr>Rule for the Kei &lt;: </vt:lpstr>
      <vt:lpstr>Vocabulary List</vt:lpstr>
      <vt:lpstr>Coptic Bible Verses – Part 3</vt:lpstr>
      <vt:lpstr>Beginner Vocabulary Review</vt:lpstr>
      <vt:lpstr>Simple Present Tense</vt:lpstr>
      <vt:lpstr>Present Tense Rule</vt:lpstr>
      <vt:lpstr>Exercise (Part 1)</vt:lpstr>
      <vt:lpstr>Exercise (Part 2)</vt:lpstr>
      <vt:lpstr>Announcement</vt:lpstr>
      <vt:lpstr>Oujai qen `P[oic</vt:lpstr>
    </vt:vector>
  </TitlesOfParts>
  <Company>HP-Ossama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Coptic Lesson</dc:title>
  <dc:creator>Ossama Ekladious</dc:creator>
  <cp:lastModifiedBy>Sam Ekladious</cp:lastModifiedBy>
  <cp:revision>530</cp:revision>
  <dcterms:created xsi:type="dcterms:W3CDTF">2014-03-29T18:43:12Z</dcterms:created>
  <dcterms:modified xsi:type="dcterms:W3CDTF">2022-08-24T01:41:54Z</dcterms:modified>
</cp:coreProperties>
</file>